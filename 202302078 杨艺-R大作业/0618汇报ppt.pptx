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diagrams/colors1.xml" ContentType="application/vnd.openxmlformats-officedocument.drawingml.diagramColors+xml"/>
  <Override PartName="/ppt/diagrams/data1.xml" ContentType="application/vnd.openxmlformats-officedocument.drawingml.diagramData+xml"/>
  <Override PartName="/ppt/diagrams/drawing1.xml" ContentType="application/vnd.ms-office.drawingml.diagramDrawing+xml"/>
  <Override PartName="/ppt/diagrams/layout1.xml" ContentType="application/vnd.openxmlformats-officedocument.drawingml.diagramLayout+xml"/>
  <Override PartName="/ppt/diagrams/quickStyle1.xml" ContentType="application/vnd.openxmlformats-officedocument.drawingml.diagramStyle+xml"/>
  <Override PartName="/ppt/ink/ink1.xml" ContentType="application/inkml+xml"/>
  <Override PartName="/ppt/ink/ink2.xml" ContentType="application/inkml+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3"/>
    <p:sldId id="326" r:id="rId5"/>
    <p:sldId id="263" r:id="rId6"/>
    <p:sldId id="347" r:id="rId7"/>
    <p:sldId id="545" r:id="rId8"/>
    <p:sldId id="483" r:id="rId9"/>
    <p:sldId id="500" r:id="rId10"/>
    <p:sldId id="546" r:id="rId11"/>
    <p:sldId id="534" r:id="rId12"/>
    <p:sldId id="331" r:id="rId13"/>
    <p:sldId id="547" r:id="rId14"/>
    <p:sldId id="548" r:id="rId15"/>
    <p:sldId id="549" r:id="rId16"/>
    <p:sldId id="533" r:id="rId17"/>
    <p:sldId id="562" r:id="rId18"/>
    <p:sldId id="561" r:id="rId19"/>
    <p:sldId id="563" r:id="rId20"/>
    <p:sldId id="551" r:id="rId21"/>
    <p:sldId id="556" r:id="rId22"/>
    <p:sldId id="557" r:id="rId23"/>
    <p:sldId id="552" r:id="rId24"/>
    <p:sldId id="558" r:id="rId25"/>
    <p:sldId id="553" r:id="rId26"/>
    <p:sldId id="482" r:id="rId27"/>
    <p:sldId id="470" r:id="rId28"/>
    <p:sldId id="564" r:id="rId29"/>
    <p:sldId id="559" r:id="rId30"/>
    <p:sldId id="281" r:id="rId31"/>
  </p:sldIdLst>
  <p:sldSz cx="12192000" cy="6858000"/>
  <p:notesSz cx="6858000" cy="9144000"/>
  <p:custDataLst>
    <p:tags r:id="rId36"/>
  </p:custDataLst>
  <p:defaultTextStyle>
    <a:defPPr>
      <a:defRPr lang="zh-CN"/>
    </a:defPPr>
    <a:lvl1pPr marL="0" lvl="0"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微软雅黑" panose="020B0503020204020204" pitchFamily="34" charset="-122"/>
        <a:cs typeface="+mn-cs"/>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微软雅黑" panose="020B0503020204020204" pitchFamily="34"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微软雅黑" panose="020B0503020204020204" pitchFamily="34"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微软雅黑" panose="020B0503020204020204" pitchFamily="34"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微软雅黑" panose="020B0503020204020204" pitchFamily="34" charset="-122"/>
        <a:cs typeface="+mn-cs"/>
      </a:defRPr>
    </a:lvl5pPr>
    <a:lvl6pPr marL="2286000" lvl="5"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微软雅黑" panose="020B0503020204020204" pitchFamily="34" charset="-122"/>
        <a:cs typeface="+mn-cs"/>
      </a:defRPr>
    </a:lvl6pPr>
    <a:lvl7pPr marL="2743200" lvl="6"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微软雅黑" panose="020B0503020204020204" pitchFamily="34" charset="-122"/>
        <a:cs typeface="+mn-cs"/>
      </a:defRPr>
    </a:lvl7pPr>
    <a:lvl8pPr marL="3200400" lvl="7"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微软雅黑" panose="020B0503020204020204" pitchFamily="34" charset="-122"/>
        <a:cs typeface="+mn-cs"/>
      </a:defRPr>
    </a:lvl8pPr>
    <a:lvl9pPr marL="3657600" lvl="8"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微软雅黑" panose="020B0503020204020204" pitchFamily="34" charset="-122"/>
        <a:cs typeface="+mn-cs"/>
      </a:defRPr>
    </a:lvl9pPr>
  </p:defaultTextStyle>
  <p:extLst>
    <p:ext uri="{EFAFB233-063F-42B5-8137-9DF3F51BA10A}">
      <p15:sldGuideLst xmlns:p15="http://schemas.microsoft.com/office/powerpoint/2012/main">
        <p15:guide id="1" orient="horz" pos="2218" userDrawn="1">
          <p15:clr>
            <a:srgbClr val="A4A3A4"/>
          </p15:clr>
        </p15:guide>
        <p15:guide id="2" pos="2952"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dell" initials="d" lastIdx="1"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ECEEF2"/>
    <a:srgbClr val="4B649F"/>
    <a:srgbClr val="5E80B0"/>
    <a:srgbClr val="7DB1C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015" autoAdjust="0"/>
    <p:restoredTop sz="72544" autoAdjust="0"/>
  </p:normalViewPr>
  <p:slideViewPr>
    <p:cSldViewPr snapToGrid="0" showGuides="1">
      <p:cViewPr>
        <p:scale>
          <a:sx n="90" d="100"/>
          <a:sy n="90" d="100"/>
        </p:scale>
        <p:origin x="1104" y="-90"/>
      </p:cViewPr>
      <p:guideLst>
        <p:guide orient="horz" pos="2218"/>
        <p:guide pos="2952"/>
      </p:guideLst>
    </p:cSldViewPr>
  </p:slideViewPr>
  <p:notesTextViewPr>
    <p:cViewPr>
      <p:scale>
        <a:sx n="1" d="1"/>
        <a:sy n="1" d="1"/>
      </p:scale>
      <p:origin x="0" y="0"/>
    </p:cViewPr>
  </p:notesTextViewPr>
  <p:sorterViewPr>
    <p:cViewPr>
      <p:scale>
        <a:sx n="100" d="100"/>
        <a:sy n="100" d="100"/>
      </p:scale>
      <p:origin x="0" y="0"/>
    </p:cViewPr>
  </p:sorterViewPr>
  <p:gridSpacing cx="72006" cy="72006"/>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6" Type="http://schemas.openxmlformats.org/officeDocument/2006/relationships/tags" Target="tags/tag1.xml"/><Relationship Id="rId35" Type="http://schemas.openxmlformats.org/officeDocument/2006/relationships/commentAuthors" Target="commentAuthors.xml"/><Relationship Id="rId34" Type="http://schemas.openxmlformats.org/officeDocument/2006/relationships/tableStyles" Target="tableStyles.xml"/><Relationship Id="rId33" Type="http://schemas.openxmlformats.org/officeDocument/2006/relationships/viewProps" Target="viewProps.xml"/><Relationship Id="rId32" Type="http://schemas.openxmlformats.org/officeDocument/2006/relationships/presProps" Target="presProps.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iagrams/colors1.xml><?xml version="1.0" encoding="utf-8"?>
<dgm:colorsDef xmlns:dgm="http://schemas.openxmlformats.org/drawingml/2006/diagram" xmlns:a="http://schemas.openxmlformats.org/drawingml/2006/main" uniqueId="urn:microsoft.com/office/officeart/2005/8/colors/accent6_2#2">
  <dgm:title val=""/>
  <dgm:desc val=""/>
  <dgm:catLst>
    <dgm:cat type="accent6" pri="11200"/>
  </dgm:catLst>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64E89A53-1CDB-49E6-B34C-BF4E29DF8823}" type="doc">
      <dgm:prSet loTypeId="urn:microsoft.com/office/officeart/2005/8/layout/vList3" loCatId="list" qsTypeId="urn:microsoft.com/office/officeart/2005/8/quickstyle/simple2#2" qsCatId="simple" csTypeId="urn:microsoft.com/office/officeart/2005/8/colors/accent6_2#2" csCatId="mainScheme" phldr="1"/>
      <dgm:spPr/>
    </dgm:pt>
    <dgm:pt modelId="{0E8267A5-4E23-41CF-9039-D697FEC576FE}">
      <dgm:prSet phldrT="[文本]" phldr="0" custT="1"/>
      <dgm:spPr/>
      <dgm:t>
        <a:bodyPr vert="horz" wrap="square"/>
        <a:p>
          <a:pPr algn="l">
            <a:lnSpc>
              <a:spcPct val="100000"/>
            </a:lnSpc>
            <a:spcBef>
              <a:spcPct val="0"/>
            </a:spcBef>
            <a:spcAft>
              <a:spcPct val="35000"/>
            </a:spcAft>
          </a:pPr>
          <a:r>
            <a:rPr lang="en-US" altLang="zh-CN" sz="3600" b="1">
              <a:latin typeface="Times New Roman" panose="02020603050405020304" pitchFamily="18" charset="0"/>
              <a:cs typeface="Times New Roman" panose="02020603050405020304" pitchFamily="18" charset="0"/>
            </a:rPr>
            <a:t>1. </a:t>
          </a:r>
          <a:r>
            <a:rPr lang="zh-CN" altLang="en-US" sz="3600" b="1">
              <a:latin typeface="Times New Roman" panose="02020603050405020304" pitchFamily="18" charset="0"/>
              <a:cs typeface="Times New Roman" panose="02020603050405020304" pitchFamily="18" charset="0"/>
            </a:rPr>
            <a:t>研究</a:t>
          </a:r>
          <a:r>
            <a:rPr lang="zh-CN" altLang="en-US" sz="3600" b="1">
              <a:latin typeface="Times New Roman" panose="02020603050405020304" pitchFamily="18" charset="0"/>
              <a:cs typeface="Times New Roman" panose="02020603050405020304" pitchFamily="18" charset="0"/>
            </a:rPr>
            <a:t>背景</a:t>
          </a:r>
          <a:r>
            <a:rPr lang="en-US" altLang="zh-CN" sz="3600" b="1">
              <a:latin typeface="Times New Roman" panose="02020603050405020304" pitchFamily="18" charset="0"/>
              <a:cs typeface="Times New Roman" panose="02020603050405020304" pitchFamily="18" charset="0"/>
            </a:rPr>
            <a:t> </a:t>
          </a:r>
          <a:r>
            <a:rPr lang="zh-CN" altLang="en-US" sz="3600" b="1" dirty="0">
              <a:latin typeface="Times New Roman" panose="02020603050405020304" pitchFamily="18" charset="0"/>
              <a:cs typeface="Times New Roman" panose="02020603050405020304" pitchFamily="18" charset="0"/>
            </a:rPr>
            <a:t/>
          </a:r>
          <a:endParaRPr lang="zh-CN" altLang="en-US" sz="3600" b="1" dirty="0">
            <a:latin typeface="Times New Roman" panose="02020603050405020304" pitchFamily="18" charset="0"/>
            <a:cs typeface="Times New Roman" panose="02020603050405020304" pitchFamily="18" charset="0"/>
          </a:endParaRPr>
        </a:p>
      </dgm:t>
    </dgm:pt>
    <dgm:pt modelId="{DC68D8BC-12ED-4FD1-8602-CB5305A48F3D}" cxnId="{0587DA06-D31B-437E-B0ED-3D2B0858FC4E}" type="parTrans">
      <dgm:prSet/>
      <dgm:spPr/>
      <dgm:t>
        <a:bodyPr/>
        <a:lstStyle/>
        <a:p>
          <a:endParaRPr lang="zh-CN" altLang="en-US"/>
        </a:p>
      </dgm:t>
    </dgm:pt>
    <dgm:pt modelId="{9F793EB4-7807-4075-8EAD-57BE31CEF656}" cxnId="{0587DA06-D31B-437E-B0ED-3D2B0858FC4E}" type="sibTrans">
      <dgm:prSet/>
      <dgm:spPr/>
      <dgm:t>
        <a:bodyPr/>
        <a:lstStyle/>
        <a:p>
          <a:endParaRPr lang="zh-CN" altLang="en-US"/>
        </a:p>
      </dgm:t>
    </dgm:pt>
    <dgm:pt modelId="{F678D21B-C7B5-4085-9AF1-D5B1D4C0A549}">
      <dgm:prSet phldr="0" custT="1"/>
      <dgm:spPr/>
      <dgm:t>
        <a:bodyPr vert="horz" wrap="square"/>
        <a:p>
          <a:pPr algn="l" defTabSz="1600200">
            <a:lnSpc>
              <a:spcPct val="100000"/>
            </a:lnSpc>
            <a:spcBef>
              <a:spcPct val="0"/>
            </a:spcBef>
            <a:spcAft>
              <a:spcPct val="35000"/>
            </a:spcAft>
          </a:pPr>
          <a:r>
            <a:rPr lang="en-US" altLang="zh-CN" sz="3600" b="1" kern="1200">
              <a:solidFill>
                <a:prstClr val="white"/>
              </a:solidFill>
              <a:latin typeface="Times New Roman" panose="02020603050405020304" pitchFamily="18" charset="0"/>
              <a:ea typeface="微软雅黑" panose="020B0503020204020204" pitchFamily="34" charset="-122"/>
              <a:cs typeface="Times New Roman" panose="02020603050405020304" pitchFamily="18" charset="0"/>
            </a:rPr>
            <a:t>2. </a:t>
          </a:r>
          <a:r>
            <a:rPr lang="zh-CN" altLang="en-US" sz="3600" b="1" kern="1200">
              <a:solidFill>
                <a:prstClr val="white"/>
              </a:solidFill>
              <a:latin typeface="Times New Roman" panose="02020603050405020304" pitchFamily="18" charset="0"/>
              <a:ea typeface="微软雅黑" panose="020B0503020204020204" pitchFamily="34" charset="-122"/>
              <a:cs typeface="Times New Roman" panose="02020603050405020304" pitchFamily="18" charset="0"/>
            </a:rPr>
            <a:t>方法</a:t>
          </a:r>
          <a:r>
            <a:rPr lang="zh-CN" altLang="en-US" sz="3600" b="1" kern="1200">
              <a:solidFill>
                <a:prstClr val="white"/>
              </a:solidFill>
              <a:latin typeface="Times New Roman" panose="02020603050405020304" pitchFamily="18" charset="0"/>
              <a:ea typeface="微软雅黑" panose="020B0503020204020204" pitchFamily="34" charset="-122"/>
              <a:cs typeface="Times New Roman" panose="02020603050405020304" pitchFamily="18" charset="0"/>
            </a:rPr>
            <a:t/>
          </a:r>
          <a:endParaRPr lang="zh-CN" altLang="en-US" sz="3600" b="1" kern="1200">
            <a:solidFill>
              <a:prstClr val="white"/>
            </a:solidFill>
            <a:latin typeface="Times New Roman" panose="02020603050405020304" pitchFamily="18" charset="0"/>
            <a:ea typeface="微软雅黑" panose="020B0503020204020204" pitchFamily="34" charset="-122"/>
            <a:cs typeface="Times New Roman" panose="02020603050405020304" pitchFamily="18" charset="0"/>
          </a:endParaRPr>
        </a:p>
      </dgm:t>
    </dgm:pt>
    <dgm:pt modelId="{0B4AEB47-EF29-4F5A-A241-E157849E5116}" cxnId="{B572925F-5EB1-42D2-8534-4D351F5AE502}" type="parTrans">
      <dgm:prSet/>
      <dgm:spPr/>
      <dgm:t>
        <a:bodyPr/>
        <a:lstStyle/>
        <a:p>
          <a:endParaRPr lang="zh-CN" altLang="en-US"/>
        </a:p>
      </dgm:t>
    </dgm:pt>
    <dgm:pt modelId="{4298DD4C-4B91-4408-96E9-A9773B065FFB}" cxnId="{B572925F-5EB1-42D2-8534-4D351F5AE502}" type="sibTrans">
      <dgm:prSet/>
      <dgm:spPr/>
      <dgm:t>
        <a:bodyPr/>
        <a:lstStyle/>
        <a:p>
          <a:endParaRPr lang="zh-CN" altLang="en-US"/>
        </a:p>
      </dgm:t>
    </dgm:pt>
    <dgm:pt modelId="{34170B80-3BD9-4014-8AD7-AAD0516B49BD}">
      <dgm:prSet phldr="0" custT="1"/>
      <dgm:spPr/>
      <dgm:t>
        <a:bodyPr vert="horz" wrap="square"/>
        <a:lstStyle/>
        <a:p>
          <a:pPr marL="0" lvl="0" indent="0" algn="l" defTabSz="1600200">
            <a:lnSpc>
              <a:spcPct val="100000"/>
            </a:lnSpc>
            <a:spcBef>
              <a:spcPct val="0"/>
            </a:spcBef>
            <a:spcAft>
              <a:spcPct val="35000"/>
            </a:spcAft>
            <a:buNone/>
          </a:pPr>
          <a:r>
            <a:rPr lang="en-US" altLang="zh-CN" sz="3600" b="1" kern="1200">
              <a:solidFill>
                <a:prstClr val="white"/>
              </a:solidFill>
              <a:latin typeface="Times New Roman" panose="02020603050405020304" pitchFamily="18" charset="0"/>
              <a:ea typeface="微软雅黑" panose="020B0503020204020204" pitchFamily="34" charset="-122"/>
              <a:cs typeface="Times New Roman" panose="02020603050405020304" pitchFamily="18" charset="0"/>
            </a:rPr>
            <a:t>3. 结果</a:t>
          </a:r>
          <a:endParaRPr lang="zh-CN" altLang="en-US" sz="3600" b="1" kern="1200" dirty="0">
            <a:solidFill>
              <a:prstClr val="white"/>
            </a:solidFill>
            <a:latin typeface="Times New Roman" panose="02020603050405020304" pitchFamily="18" charset="0"/>
            <a:ea typeface="微软雅黑" panose="020B0503020204020204" pitchFamily="34" charset="-122"/>
            <a:cs typeface="Times New Roman" panose="02020603050405020304" pitchFamily="18" charset="0"/>
          </a:endParaRPr>
        </a:p>
      </dgm:t>
    </dgm:pt>
    <dgm:pt modelId="{E9B2B4DB-06CD-4851-AA20-E07A02961F08}" cxnId="{C63EC977-98D4-45EE-9540-910096F71226}" type="parTrans">
      <dgm:prSet/>
      <dgm:spPr/>
      <dgm:t>
        <a:bodyPr/>
        <a:lstStyle/>
        <a:p>
          <a:endParaRPr lang="zh-CN" altLang="en-US"/>
        </a:p>
      </dgm:t>
    </dgm:pt>
    <dgm:pt modelId="{56630232-5A60-4FDE-9744-36C4880CABE2}" cxnId="{C63EC977-98D4-45EE-9540-910096F71226}" type="sibTrans">
      <dgm:prSet/>
      <dgm:spPr/>
      <dgm:t>
        <a:bodyPr/>
        <a:lstStyle/>
        <a:p>
          <a:endParaRPr lang="zh-CN" altLang="en-US"/>
        </a:p>
      </dgm:t>
    </dgm:pt>
    <dgm:pt modelId="{11765B98-E443-4ACE-8665-D60CD2866F4A}">
      <dgm:prSet phldr="0" custT="1"/>
      <dgm:spPr/>
      <dgm:t>
        <a:bodyPr vert="horz" wrap="square"/>
        <a:lstStyle/>
        <a:p>
          <a:pPr marL="0" lvl="0" indent="0" algn="l" defTabSz="1600200">
            <a:lnSpc>
              <a:spcPct val="100000"/>
            </a:lnSpc>
            <a:spcBef>
              <a:spcPct val="0"/>
            </a:spcBef>
            <a:spcAft>
              <a:spcPct val="35000"/>
            </a:spcAft>
            <a:buNone/>
          </a:pPr>
          <a:r>
            <a:rPr lang="en-US" altLang="zh-CN" sz="3600" b="1" kern="1200">
              <a:solidFill>
                <a:prstClr val="white"/>
              </a:solidFill>
              <a:latin typeface="Times New Roman" panose="02020603050405020304" pitchFamily="18" charset="0"/>
              <a:ea typeface="微软雅黑" panose="020B0503020204020204" pitchFamily="34" charset="-122"/>
              <a:cs typeface="Times New Roman" panose="02020603050405020304" pitchFamily="18" charset="0"/>
            </a:rPr>
            <a:t>4. 结论</a:t>
          </a:r>
          <a:endParaRPr lang="zh-CN" sz="3600" b="1" kern="1200" dirty="0">
            <a:solidFill>
              <a:prstClr val="white"/>
            </a:solidFill>
            <a:latin typeface="Times New Roman" panose="02020603050405020304" pitchFamily="18" charset="0"/>
            <a:ea typeface="微软雅黑" panose="020B0503020204020204" pitchFamily="34" charset="-122"/>
            <a:cs typeface="Times New Roman" panose="02020603050405020304" pitchFamily="18" charset="0"/>
          </a:endParaRPr>
        </a:p>
      </dgm:t>
    </dgm:pt>
    <dgm:pt modelId="{4E109D58-02CD-4C38-8730-9D0550B20AF2}" cxnId="{D5BE7DA5-B565-4301-BB54-899D6D965B0F}" type="parTrans">
      <dgm:prSet/>
      <dgm:spPr/>
      <dgm:t>
        <a:bodyPr/>
        <a:lstStyle/>
        <a:p>
          <a:endParaRPr lang="zh-CN" altLang="en-US"/>
        </a:p>
      </dgm:t>
    </dgm:pt>
    <dgm:pt modelId="{1D880E1E-69D0-4CCA-B69E-AB9B755A3FEA}" cxnId="{D5BE7DA5-B565-4301-BB54-899D6D965B0F}" type="sibTrans">
      <dgm:prSet/>
      <dgm:spPr/>
      <dgm:t>
        <a:bodyPr/>
        <a:lstStyle/>
        <a:p>
          <a:endParaRPr lang="zh-CN" altLang="en-US"/>
        </a:p>
      </dgm:t>
    </dgm:pt>
    <dgm:pt modelId="{353C98B6-69DF-4166-AC53-73544C22AE49}" type="pres">
      <dgm:prSet presAssocID="{64E89A53-1CDB-49E6-B34C-BF4E29DF8823}" presName="linearFlow" presStyleCnt="0">
        <dgm:presLayoutVars>
          <dgm:dir/>
          <dgm:resizeHandles val="exact"/>
        </dgm:presLayoutVars>
      </dgm:prSet>
      <dgm:spPr/>
    </dgm:pt>
    <dgm:pt modelId="{5FC66145-A83E-412D-A0D7-E483FA9E4910}" type="pres">
      <dgm:prSet presAssocID="{0E8267A5-4E23-41CF-9039-D697FEC576FE}" presName="composite" presStyleCnt="0"/>
      <dgm:spPr/>
    </dgm:pt>
    <dgm:pt modelId="{6DCF7317-EF8F-461A-8D65-7F1575D4AA31}" type="pres">
      <dgm:prSet presAssocID="{0E8267A5-4E23-41CF-9039-D697FEC576FE}" presName="imgShp" presStyleLbl="fgImgPlace1" presStyleIdx="0" presStyleCnt="4"/>
      <dgm:spPr/>
    </dgm:pt>
    <dgm:pt modelId="{30BF044C-50C5-4C54-A7D5-DE09586B0E84}" type="pres">
      <dgm:prSet presAssocID="{0E8267A5-4E23-41CF-9039-D697FEC576FE}" presName="txShp" presStyleLbl="node1" presStyleIdx="0" presStyleCnt="4">
        <dgm:presLayoutVars>
          <dgm:bulletEnabled val="1"/>
        </dgm:presLayoutVars>
      </dgm:prSet>
      <dgm:spPr/>
    </dgm:pt>
    <dgm:pt modelId="{56E15F77-53A6-434B-A190-9E7321675015}" type="pres">
      <dgm:prSet presAssocID="{9F793EB4-7807-4075-8EAD-57BE31CEF656}" presName="spacing" presStyleCnt="0"/>
      <dgm:spPr/>
    </dgm:pt>
    <dgm:pt modelId="{1DA1988C-52C9-4308-91AF-BE0D6E9FA765}" type="pres">
      <dgm:prSet presAssocID="{F678D21B-C7B5-4085-9AF1-D5B1D4C0A549}" presName="composite" presStyleCnt="0"/>
      <dgm:spPr/>
    </dgm:pt>
    <dgm:pt modelId="{176B54A4-0639-4617-87F7-1B8942C3B004}" type="pres">
      <dgm:prSet presAssocID="{F678D21B-C7B5-4085-9AF1-D5B1D4C0A549}" presName="imgShp" presStyleLbl="fgImgPlace1" presStyleIdx="1" presStyleCnt="4"/>
      <dgm:spPr/>
    </dgm:pt>
    <dgm:pt modelId="{FFEBD74D-2FD7-42D6-B17E-DBF284978987}" type="pres">
      <dgm:prSet presAssocID="{F678D21B-C7B5-4085-9AF1-D5B1D4C0A549}" presName="txShp" presStyleLbl="node1" presStyleIdx="1" presStyleCnt="4">
        <dgm:presLayoutVars>
          <dgm:bulletEnabled val="1"/>
        </dgm:presLayoutVars>
      </dgm:prSet>
      <dgm:spPr/>
    </dgm:pt>
    <dgm:pt modelId="{93EE2C0E-2399-40F1-9C4C-ABB5F1A19990}" type="pres">
      <dgm:prSet presAssocID="{4298DD4C-4B91-4408-96E9-A9773B065FFB}" presName="spacing" presStyleCnt="0"/>
      <dgm:spPr/>
    </dgm:pt>
    <dgm:pt modelId="{8F744BE5-6EC2-48EC-BB8B-D80FCC3BED96}" type="pres">
      <dgm:prSet presAssocID="{34170B80-3BD9-4014-8AD7-AAD0516B49BD}" presName="composite" presStyleCnt="0"/>
      <dgm:spPr/>
    </dgm:pt>
    <dgm:pt modelId="{9C5780C2-8007-4657-8F87-8EAC82F6C9A2}" type="pres">
      <dgm:prSet presAssocID="{34170B80-3BD9-4014-8AD7-AAD0516B49BD}" presName="imgShp" presStyleLbl="fgImgPlace1" presStyleIdx="2" presStyleCnt="4"/>
      <dgm:spPr/>
    </dgm:pt>
    <dgm:pt modelId="{FBE21182-E62A-40A4-97F2-C89FE342311D}" type="pres">
      <dgm:prSet presAssocID="{34170B80-3BD9-4014-8AD7-AAD0516B49BD}" presName="txShp" presStyleLbl="node1" presStyleIdx="2" presStyleCnt="4">
        <dgm:presLayoutVars>
          <dgm:bulletEnabled val="1"/>
        </dgm:presLayoutVars>
      </dgm:prSet>
      <dgm:spPr/>
    </dgm:pt>
    <dgm:pt modelId="{45AB10DC-4D41-4B30-842C-F9B4CE034C28}" type="pres">
      <dgm:prSet presAssocID="{56630232-5A60-4FDE-9744-36C4880CABE2}" presName="spacing" presStyleCnt="0"/>
      <dgm:spPr/>
    </dgm:pt>
    <dgm:pt modelId="{25BC17B5-4917-47C9-B33A-FF5AB4E5FC6A}" type="pres">
      <dgm:prSet presAssocID="{11765B98-E443-4ACE-8665-D60CD2866F4A}" presName="composite" presStyleCnt="0"/>
      <dgm:spPr/>
    </dgm:pt>
    <dgm:pt modelId="{706B342A-BF31-4247-8DDD-6F80F13010E4}" type="pres">
      <dgm:prSet presAssocID="{11765B98-E443-4ACE-8665-D60CD2866F4A}" presName="imgShp" presStyleLbl="fgImgPlace1" presStyleIdx="3" presStyleCnt="4"/>
      <dgm:spPr/>
    </dgm:pt>
    <dgm:pt modelId="{3A87919B-2442-4FDE-A326-640F7B6D92BB}" type="pres">
      <dgm:prSet presAssocID="{11765B98-E443-4ACE-8665-D60CD2866F4A}" presName="txShp" presStyleLbl="node1" presStyleIdx="3" presStyleCnt="4">
        <dgm:presLayoutVars>
          <dgm:bulletEnabled val="1"/>
        </dgm:presLayoutVars>
      </dgm:prSet>
      <dgm:spPr/>
    </dgm:pt>
  </dgm:ptLst>
  <dgm:cxnLst>
    <dgm:cxn modelId="{0587DA06-D31B-437E-B0ED-3D2B0858FC4E}" srcId="{64E89A53-1CDB-49E6-B34C-BF4E29DF8823}" destId="{0E8267A5-4E23-41CF-9039-D697FEC576FE}" srcOrd="0" destOrd="0" parTransId="{DC68D8BC-12ED-4FD1-8602-CB5305A48F3D}" sibTransId="{9F793EB4-7807-4075-8EAD-57BE31CEF656}"/>
    <dgm:cxn modelId="{B572925F-5EB1-42D2-8534-4D351F5AE502}" srcId="{64E89A53-1CDB-49E6-B34C-BF4E29DF8823}" destId="{F678D21B-C7B5-4085-9AF1-D5B1D4C0A549}" srcOrd="1" destOrd="0" parTransId="{0B4AEB47-EF29-4F5A-A241-E157849E5116}" sibTransId="{4298DD4C-4B91-4408-96E9-A9773B065FFB}"/>
    <dgm:cxn modelId="{C63EC977-98D4-45EE-9540-910096F71226}" srcId="{64E89A53-1CDB-49E6-B34C-BF4E29DF8823}" destId="{34170B80-3BD9-4014-8AD7-AAD0516B49BD}" srcOrd="2" destOrd="0" parTransId="{E9B2B4DB-06CD-4851-AA20-E07A02961F08}" sibTransId="{56630232-5A60-4FDE-9744-36C4880CABE2}"/>
    <dgm:cxn modelId="{D5BE7DA5-B565-4301-BB54-899D6D965B0F}" srcId="{64E89A53-1CDB-49E6-B34C-BF4E29DF8823}" destId="{11765B98-E443-4ACE-8665-D60CD2866F4A}" srcOrd="3" destOrd="0" parTransId="{4E109D58-02CD-4C38-8730-9D0550B20AF2}" sibTransId="{1D880E1E-69D0-4CCA-B69E-AB9B755A3FEA}"/>
    <dgm:cxn modelId="{6232B077-649C-46EE-AA67-18870F688F40}" type="presOf" srcId="{64E89A53-1CDB-49E6-B34C-BF4E29DF8823}" destId="{353C98B6-69DF-4166-AC53-73544C22AE49}" srcOrd="0" destOrd="0" presId="urn:microsoft.com/office/officeart/2005/8/layout/vList3"/>
    <dgm:cxn modelId="{226D51C8-A0DD-49AE-9487-F5FEE08F0C29}" type="presParOf" srcId="{353C98B6-69DF-4166-AC53-73544C22AE49}" destId="{5FC66145-A83E-412D-A0D7-E483FA9E4910}" srcOrd="0" destOrd="0" presId="urn:microsoft.com/office/officeart/2005/8/layout/vList3"/>
    <dgm:cxn modelId="{9E8A6126-7CDE-4C43-8A4D-62F03DEEB384}" type="presParOf" srcId="{5FC66145-A83E-412D-A0D7-E483FA9E4910}" destId="{6DCF7317-EF8F-461A-8D65-7F1575D4AA31}" srcOrd="0" destOrd="0" presId="urn:microsoft.com/office/officeart/2005/8/layout/vList3"/>
    <dgm:cxn modelId="{3B2CB315-8043-4303-9FE6-622AAC2E3E9D}" type="presParOf" srcId="{5FC66145-A83E-412D-A0D7-E483FA9E4910}" destId="{30BF044C-50C5-4C54-A7D5-DE09586B0E84}" srcOrd="1" destOrd="0" presId="urn:microsoft.com/office/officeart/2005/8/layout/vList3"/>
    <dgm:cxn modelId="{69299D83-A854-4BEF-929E-B16D8C45FD3B}" type="presOf" srcId="{0E8267A5-4E23-41CF-9039-D697FEC576FE}" destId="{30BF044C-50C5-4C54-A7D5-DE09586B0E84}" srcOrd="0" destOrd="0" presId="urn:microsoft.com/office/officeart/2005/8/layout/vList3"/>
    <dgm:cxn modelId="{4E4F68EB-C691-4ED7-B0A2-0527AE4CFB47}" type="presParOf" srcId="{353C98B6-69DF-4166-AC53-73544C22AE49}" destId="{56E15F77-53A6-434B-A190-9E7321675015}" srcOrd="1" destOrd="0" presId="urn:microsoft.com/office/officeart/2005/8/layout/vList3"/>
    <dgm:cxn modelId="{2807CB32-4069-4C1A-B13C-11EB1162095B}" type="presOf" srcId="{9F793EB4-7807-4075-8EAD-57BE31CEF656}" destId="{56E15F77-53A6-434B-A190-9E7321675015}" srcOrd="0" destOrd="0" presId="urn:microsoft.com/office/officeart/2005/8/layout/vList3"/>
    <dgm:cxn modelId="{0DA7609F-F652-4104-84E8-9F7AE5B851B8}" type="presParOf" srcId="{353C98B6-69DF-4166-AC53-73544C22AE49}" destId="{1DA1988C-52C9-4308-91AF-BE0D6E9FA765}" srcOrd="2" destOrd="0" presId="urn:microsoft.com/office/officeart/2005/8/layout/vList3"/>
    <dgm:cxn modelId="{5FD91E23-2DAC-40FA-9205-4550064ECEC8}" type="presParOf" srcId="{1DA1988C-52C9-4308-91AF-BE0D6E9FA765}" destId="{176B54A4-0639-4617-87F7-1B8942C3B004}" srcOrd="0" destOrd="2" presId="urn:microsoft.com/office/officeart/2005/8/layout/vList3"/>
    <dgm:cxn modelId="{7194D1E0-0299-4302-9906-7E9CDA9F48FE}" type="presParOf" srcId="{1DA1988C-52C9-4308-91AF-BE0D6E9FA765}" destId="{FFEBD74D-2FD7-42D6-B17E-DBF284978987}" srcOrd="1" destOrd="2" presId="urn:microsoft.com/office/officeart/2005/8/layout/vList3"/>
    <dgm:cxn modelId="{D621D7ED-7FFB-4556-9F25-FF20F8D62BD4}" type="presOf" srcId="{F678D21B-C7B5-4085-9AF1-D5B1D4C0A549}" destId="{FFEBD74D-2FD7-42D6-B17E-DBF284978987}" srcOrd="0" destOrd="0" presId="urn:microsoft.com/office/officeart/2005/8/layout/vList3"/>
    <dgm:cxn modelId="{CCBD80CF-3E55-409A-8FA0-E85D9195831A}" type="presParOf" srcId="{353C98B6-69DF-4166-AC53-73544C22AE49}" destId="{93EE2C0E-2399-40F1-9C4C-ABB5F1A19990}" srcOrd="3" destOrd="0" presId="urn:microsoft.com/office/officeart/2005/8/layout/vList3"/>
    <dgm:cxn modelId="{C8C132F9-F4A5-4C35-A26B-29BD046023C5}" type="presOf" srcId="{4298DD4C-4B91-4408-96E9-A9773B065FFB}" destId="{93EE2C0E-2399-40F1-9C4C-ABB5F1A19990}" srcOrd="0" destOrd="0" presId="urn:microsoft.com/office/officeart/2005/8/layout/vList3"/>
    <dgm:cxn modelId="{B3AC82C2-3A68-4978-A9C8-F0DD2E08E01B}" type="presParOf" srcId="{353C98B6-69DF-4166-AC53-73544C22AE49}" destId="{8F744BE5-6EC2-48EC-BB8B-D80FCC3BED96}" srcOrd="4" destOrd="0" presId="urn:microsoft.com/office/officeart/2005/8/layout/vList3"/>
    <dgm:cxn modelId="{23BE36F6-6A2B-4BF6-8643-B5EE2BDC04BC}" type="presParOf" srcId="{8F744BE5-6EC2-48EC-BB8B-D80FCC3BED96}" destId="{9C5780C2-8007-4657-8F87-8EAC82F6C9A2}" srcOrd="0" destOrd="4" presId="urn:microsoft.com/office/officeart/2005/8/layout/vList3"/>
    <dgm:cxn modelId="{0756E56F-B387-46C5-9833-5BAF320A467B}" type="presParOf" srcId="{8F744BE5-6EC2-48EC-BB8B-D80FCC3BED96}" destId="{FBE21182-E62A-40A4-97F2-C89FE342311D}" srcOrd="1" destOrd="4" presId="urn:microsoft.com/office/officeart/2005/8/layout/vList3"/>
    <dgm:cxn modelId="{D60B6EA2-0C98-4BE9-B8AE-8319B162DD40}" type="presOf" srcId="{34170B80-3BD9-4014-8AD7-AAD0516B49BD}" destId="{FBE21182-E62A-40A4-97F2-C89FE342311D}" srcOrd="0" destOrd="0" presId="urn:microsoft.com/office/officeart/2005/8/layout/vList3"/>
    <dgm:cxn modelId="{696AAAA6-7F11-41C4-9D32-DC48E40A5E9C}" type="presParOf" srcId="{353C98B6-69DF-4166-AC53-73544C22AE49}" destId="{45AB10DC-4D41-4B30-842C-F9B4CE034C28}" srcOrd="5" destOrd="0" presId="urn:microsoft.com/office/officeart/2005/8/layout/vList3"/>
    <dgm:cxn modelId="{6CDD58D5-D73D-49CE-A62A-DAAF80673A5D}" type="presOf" srcId="{56630232-5A60-4FDE-9744-36C4880CABE2}" destId="{45AB10DC-4D41-4B30-842C-F9B4CE034C28}" srcOrd="0" destOrd="0" presId="urn:microsoft.com/office/officeart/2005/8/layout/vList3"/>
    <dgm:cxn modelId="{726C0DC0-C08C-4DDC-87F6-D9187EC3A0C0}" type="presParOf" srcId="{353C98B6-69DF-4166-AC53-73544C22AE49}" destId="{25BC17B5-4917-47C9-B33A-FF5AB4E5FC6A}" srcOrd="6" destOrd="0" presId="urn:microsoft.com/office/officeart/2005/8/layout/vList3"/>
    <dgm:cxn modelId="{89AF3FE2-083B-42AB-B31A-23EE98C89DD1}" type="presParOf" srcId="{25BC17B5-4917-47C9-B33A-FF5AB4E5FC6A}" destId="{706B342A-BF31-4247-8DDD-6F80F13010E4}" srcOrd="0" destOrd="6" presId="urn:microsoft.com/office/officeart/2005/8/layout/vList3"/>
    <dgm:cxn modelId="{F7279702-9F44-4CBB-8065-0550B002301F}" type="presParOf" srcId="{25BC17B5-4917-47C9-B33A-FF5AB4E5FC6A}" destId="{3A87919B-2442-4FDE-A326-640F7B6D92BB}" srcOrd="1" destOrd="6" presId="urn:microsoft.com/office/officeart/2005/8/layout/vList3"/>
    <dgm:cxn modelId="{5DFAE614-FE14-468A-B661-8B0854B1827C}" type="presOf" srcId="{11765B98-E443-4ACE-8665-D60CD2866F4A}" destId="{3A87919B-2442-4FDE-A326-640F7B6D92BB}" srcOrd="0" destOrd="0" presId="urn:microsoft.com/office/officeart/2005/8/layout/vList3"/>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13216890" cy="4451985"/>
        <a:chOff x="0" y="0"/>
        <a:chExt cx="13216890" cy="4451985"/>
      </a:xfrm>
    </dsp:grpSpPr>
    <dsp:sp modelId="{30BF044C-50C5-4C54-A7D5-DE09586B0E84}">
      <dsp:nvSpPr>
        <dsp:cNvPr id="4" name="五边形 3"/>
        <dsp:cNvSpPr/>
      </dsp:nvSpPr>
      <dsp:spPr bwMode="white">
        <a:xfrm rot="10800000">
          <a:off x="2448144" y="0"/>
          <a:ext cx="8789232" cy="937260"/>
        </a:xfrm>
        <a:prstGeom prst="homePlate">
          <a:avLst/>
        </a:prstGeom>
      </dsp:spPr>
      <dsp:style>
        <a:lnRef idx="3">
          <a:schemeClr val="lt1"/>
        </a:lnRef>
        <a:fillRef idx="1">
          <a:schemeClr val="accent6"/>
        </a:fillRef>
        <a:effectRef idx="1">
          <a:scrgbClr r="0" g="0" b="0"/>
        </a:effectRef>
        <a:fontRef idx="minor">
          <a:schemeClr val="lt1"/>
        </a:fontRef>
      </dsp:style>
      <dsp:txBody>
        <a:bodyPr rot="10800000" vert="horz" wrap="square" lIns="413305" tIns="137160" rIns="256032" bIns="13716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gn="l">
            <a:lnSpc>
              <a:spcPct val="100000"/>
            </a:lnSpc>
            <a:spcBef>
              <a:spcPct val="0"/>
            </a:spcBef>
            <a:spcAft>
              <a:spcPct val="35000"/>
            </a:spcAft>
          </a:pPr>
          <a:r>
            <a:rPr lang="en-US" altLang="zh-CN" sz="3600" b="1">
              <a:latin typeface="Times New Roman" panose="02020603050405020304" pitchFamily="18" charset="0"/>
              <a:cs typeface="Times New Roman" panose="02020603050405020304" pitchFamily="18" charset="0"/>
            </a:rPr>
            <a:t>1. </a:t>
          </a:r>
          <a:r>
            <a:rPr lang="zh-CN" altLang="en-US" sz="3600" b="1">
              <a:latin typeface="Times New Roman" panose="02020603050405020304" pitchFamily="18" charset="0"/>
              <a:cs typeface="Times New Roman" panose="02020603050405020304" pitchFamily="18" charset="0"/>
            </a:rPr>
            <a:t>研究</a:t>
          </a:r>
          <a:r>
            <a:rPr lang="zh-CN" altLang="en-US" sz="3600" b="1">
              <a:latin typeface="Times New Roman" panose="02020603050405020304" pitchFamily="18" charset="0"/>
              <a:cs typeface="Times New Roman" panose="02020603050405020304" pitchFamily="18" charset="0"/>
            </a:rPr>
            <a:t>背景</a:t>
          </a:r>
          <a:r>
            <a:rPr lang="en-US" altLang="zh-CN" sz="3600" b="1">
              <a:latin typeface="Times New Roman" panose="02020603050405020304" pitchFamily="18" charset="0"/>
              <a:cs typeface="Times New Roman" panose="02020603050405020304" pitchFamily="18" charset="0"/>
            </a:rPr>
            <a:t> </a:t>
          </a:r>
          <a:endParaRPr lang="zh-CN" altLang="en-US" sz="3600" b="1" dirty="0">
            <a:latin typeface="Times New Roman" panose="02020603050405020304" pitchFamily="18" charset="0"/>
            <a:cs typeface="Times New Roman" panose="02020603050405020304" pitchFamily="18" charset="0"/>
          </a:endParaRPr>
        </a:p>
      </dsp:txBody>
      <dsp:txXfrm rot="10800000">
        <a:off x="2448144" y="0"/>
        <a:ext cx="8789232" cy="937260"/>
      </dsp:txXfrm>
    </dsp:sp>
    <dsp:sp modelId="{6DCF7317-EF8F-461A-8D65-7F1575D4AA31}">
      <dsp:nvSpPr>
        <dsp:cNvPr id="3" name="椭圆 2"/>
        <dsp:cNvSpPr/>
      </dsp:nvSpPr>
      <dsp:spPr bwMode="white">
        <a:xfrm>
          <a:off x="1979514" y="0"/>
          <a:ext cx="937260" cy="937260"/>
        </a:xfrm>
        <a:prstGeom prst="ellipse">
          <a:avLst/>
        </a:prstGeom>
      </dsp:spPr>
      <dsp:style>
        <a:lnRef idx="3">
          <a:schemeClr val="lt1"/>
        </a:lnRef>
        <a:fillRef idx="1">
          <a:schemeClr val="accent6">
            <a:tint val="50000"/>
          </a:schemeClr>
        </a:fillRef>
        <a:effectRef idx="1">
          <a:scrgbClr r="0" g="0" b="0"/>
        </a:effectRef>
        <a:fontRef idx="minor"/>
      </dsp:style>
      <dsp:txXfrm>
        <a:off x="1979514" y="0"/>
        <a:ext cx="937260" cy="937260"/>
      </dsp:txXfrm>
    </dsp:sp>
    <dsp:sp modelId="{FFEBD74D-2FD7-42D6-B17E-DBF284978987}">
      <dsp:nvSpPr>
        <dsp:cNvPr id="6" name="五边形 5"/>
        <dsp:cNvSpPr/>
      </dsp:nvSpPr>
      <dsp:spPr bwMode="white">
        <a:xfrm rot="10800000">
          <a:off x="2448144" y="1171575"/>
          <a:ext cx="8789232" cy="937260"/>
        </a:xfrm>
        <a:prstGeom prst="homePlate">
          <a:avLst/>
        </a:prstGeom>
      </dsp:spPr>
      <dsp:style>
        <a:lnRef idx="3">
          <a:schemeClr val="lt1"/>
        </a:lnRef>
        <a:fillRef idx="1">
          <a:schemeClr val="accent6"/>
        </a:fillRef>
        <a:effectRef idx="1">
          <a:scrgbClr r="0" g="0" b="0"/>
        </a:effectRef>
        <a:fontRef idx="minor">
          <a:schemeClr val="lt1"/>
        </a:fontRef>
      </dsp:style>
      <dsp:txBody>
        <a:bodyPr rot="10800000" vert="horz" wrap="square" lIns="413305" tIns="137160" rIns="256032" bIns="13716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gn="l" defTabSz="1600200">
            <a:lnSpc>
              <a:spcPct val="100000"/>
            </a:lnSpc>
            <a:spcBef>
              <a:spcPct val="0"/>
            </a:spcBef>
            <a:spcAft>
              <a:spcPct val="35000"/>
            </a:spcAft>
          </a:pPr>
          <a:r>
            <a:rPr lang="en-US" altLang="zh-CN" sz="3600" b="1" kern="1200">
              <a:solidFill>
                <a:prstClr val="white"/>
              </a:solidFill>
              <a:latin typeface="Times New Roman" panose="02020603050405020304" pitchFamily="18" charset="0"/>
              <a:ea typeface="微软雅黑" panose="020B0503020204020204" pitchFamily="34" charset="-122"/>
              <a:cs typeface="Times New Roman" panose="02020603050405020304" pitchFamily="18" charset="0"/>
            </a:rPr>
            <a:t>2. </a:t>
          </a:r>
          <a:r>
            <a:rPr lang="zh-CN" altLang="en-US" sz="3600" b="1" kern="1200">
              <a:solidFill>
                <a:prstClr val="white"/>
              </a:solidFill>
              <a:latin typeface="Times New Roman" panose="02020603050405020304" pitchFamily="18" charset="0"/>
              <a:ea typeface="微软雅黑" panose="020B0503020204020204" pitchFamily="34" charset="-122"/>
              <a:cs typeface="Times New Roman" panose="02020603050405020304" pitchFamily="18" charset="0"/>
            </a:rPr>
            <a:t>方法</a:t>
          </a:r>
          <a:endParaRPr lang="zh-CN" altLang="en-US" sz="3600" b="1" kern="1200">
            <a:solidFill>
              <a:prstClr val="white"/>
            </a:solidFill>
            <a:latin typeface="Times New Roman" panose="02020603050405020304" pitchFamily="18" charset="0"/>
            <a:ea typeface="微软雅黑" panose="020B0503020204020204" pitchFamily="34" charset="-122"/>
            <a:cs typeface="Times New Roman" panose="02020603050405020304" pitchFamily="18" charset="0"/>
          </a:endParaRPr>
        </a:p>
      </dsp:txBody>
      <dsp:txXfrm rot="10800000">
        <a:off x="2448144" y="1171575"/>
        <a:ext cx="8789232" cy="937260"/>
      </dsp:txXfrm>
    </dsp:sp>
    <dsp:sp modelId="{176B54A4-0639-4617-87F7-1B8942C3B004}">
      <dsp:nvSpPr>
        <dsp:cNvPr id="5" name="椭圆 4"/>
        <dsp:cNvSpPr/>
      </dsp:nvSpPr>
      <dsp:spPr bwMode="white">
        <a:xfrm>
          <a:off x="1979514" y="1171575"/>
          <a:ext cx="937260" cy="937260"/>
        </a:xfrm>
        <a:prstGeom prst="ellipse">
          <a:avLst/>
        </a:prstGeom>
      </dsp:spPr>
      <dsp:style>
        <a:lnRef idx="3">
          <a:schemeClr val="lt1"/>
        </a:lnRef>
        <a:fillRef idx="1">
          <a:schemeClr val="accent6">
            <a:tint val="50000"/>
          </a:schemeClr>
        </a:fillRef>
        <a:effectRef idx="1">
          <a:scrgbClr r="0" g="0" b="0"/>
        </a:effectRef>
        <a:fontRef idx="minor"/>
      </dsp:style>
      <dsp:txXfrm>
        <a:off x="1979514" y="1171575"/>
        <a:ext cx="937260" cy="937260"/>
      </dsp:txXfrm>
    </dsp:sp>
    <dsp:sp modelId="{FBE21182-E62A-40A4-97F2-C89FE342311D}">
      <dsp:nvSpPr>
        <dsp:cNvPr id="8" name="五边形 7"/>
        <dsp:cNvSpPr/>
      </dsp:nvSpPr>
      <dsp:spPr bwMode="white">
        <a:xfrm rot="10800000">
          <a:off x="2448144" y="2343150"/>
          <a:ext cx="8789232" cy="937260"/>
        </a:xfrm>
        <a:prstGeom prst="homePlate">
          <a:avLst/>
        </a:prstGeom>
      </dsp:spPr>
      <dsp:style>
        <a:lnRef idx="3">
          <a:schemeClr val="lt1"/>
        </a:lnRef>
        <a:fillRef idx="1">
          <a:schemeClr val="accent6"/>
        </a:fillRef>
        <a:effectRef idx="1">
          <a:scrgbClr r="0" g="0" b="0"/>
        </a:effectRef>
        <a:fontRef idx="minor">
          <a:schemeClr val="lt1"/>
        </a:fontRef>
      </dsp:style>
      <dsp:txBody>
        <a:bodyPr rot="10800000" vert="horz" wrap="square" lIns="413305" tIns="137160" rIns="256032" bIns="13716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marL="0" lvl="0" indent="0" algn="l" defTabSz="1600200">
            <a:lnSpc>
              <a:spcPct val="100000"/>
            </a:lnSpc>
            <a:spcBef>
              <a:spcPct val="0"/>
            </a:spcBef>
            <a:spcAft>
              <a:spcPct val="35000"/>
            </a:spcAft>
            <a:buNone/>
          </a:pPr>
          <a:r>
            <a:rPr lang="en-US" altLang="zh-CN" sz="3600" b="1" kern="1200">
              <a:solidFill>
                <a:prstClr val="white"/>
              </a:solidFill>
              <a:latin typeface="Times New Roman" panose="02020603050405020304" pitchFamily="18" charset="0"/>
              <a:ea typeface="微软雅黑" panose="020B0503020204020204" pitchFamily="34" charset="-122"/>
              <a:cs typeface="Times New Roman" panose="02020603050405020304" pitchFamily="18" charset="0"/>
            </a:rPr>
            <a:t>3. 结果</a:t>
          </a:r>
          <a:endParaRPr lang="zh-CN" altLang="en-US" sz="3600" b="1" kern="1200" dirty="0">
            <a:solidFill>
              <a:prstClr val="white"/>
            </a:solidFill>
            <a:latin typeface="Times New Roman" panose="02020603050405020304" pitchFamily="18" charset="0"/>
            <a:ea typeface="微软雅黑" panose="020B0503020204020204" pitchFamily="34" charset="-122"/>
            <a:cs typeface="Times New Roman" panose="02020603050405020304" pitchFamily="18" charset="0"/>
          </a:endParaRPr>
        </a:p>
      </dsp:txBody>
      <dsp:txXfrm rot="10800000">
        <a:off x="2448144" y="2343150"/>
        <a:ext cx="8789232" cy="937260"/>
      </dsp:txXfrm>
    </dsp:sp>
    <dsp:sp modelId="{9C5780C2-8007-4657-8F87-8EAC82F6C9A2}">
      <dsp:nvSpPr>
        <dsp:cNvPr id="7" name="椭圆 6"/>
        <dsp:cNvSpPr/>
      </dsp:nvSpPr>
      <dsp:spPr bwMode="white">
        <a:xfrm>
          <a:off x="1979514" y="2343150"/>
          <a:ext cx="937260" cy="937260"/>
        </a:xfrm>
        <a:prstGeom prst="ellipse">
          <a:avLst/>
        </a:prstGeom>
      </dsp:spPr>
      <dsp:style>
        <a:lnRef idx="3">
          <a:schemeClr val="lt1"/>
        </a:lnRef>
        <a:fillRef idx="1">
          <a:schemeClr val="accent6">
            <a:tint val="50000"/>
          </a:schemeClr>
        </a:fillRef>
        <a:effectRef idx="1">
          <a:scrgbClr r="0" g="0" b="0"/>
        </a:effectRef>
        <a:fontRef idx="minor"/>
      </dsp:style>
      <dsp:txXfrm>
        <a:off x="1979514" y="2343150"/>
        <a:ext cx="937260" cy="937260"/>
      </dsp:txXfrm>
    </dsp:sp>
    <dsp:sp modelId="{3A87919B-2442-4FDE-A326-640F7B6D92BB}">
      <dsp:nvSpPr>
        <dsp:cNvPr id="10" name="五边形 9"/>
        <dsp:cNvSpPr/>
      </dsp:nvSpPr>
      <dsp:spPr bwMode="white">
        <a:xfrm rot="10800000">
          <a:off x="2448144" y="3514725"/>
          <a:ext cx="8789232" cy="937260"/>
        </a:xfrm>
        <a:prstGeom prst="homePlate">
          <a:avLst/>
        </a:prstGeom>
      </dsp:spPr>
      <dsp:style>
        <a:lnRef idx="3">
          <a:schemeClr val="lt1"/>
        </a:lnRef>
        <a:fillRef idx="1">
          <a:schemeClr val="accent6"/>
        </a:fillRef>
        <a:effectRef idx="1">
          <a:scrgbClr r="0" g="0" b="0"/>
        </a:effectRef>
        <a:fontRef idx="minor">
          <a:schemeClr val="lt1"/>
        </a:fontRef>
      </dsp:style>
      <dsp:txBody>
        <a:bodyPr rot="10800000" vert="horz" wrap="square" lIns="413305" tIns="137160" rIns="256032" bIns="13716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marL="0" lvl="0" indent="0" algn="l" defTabSz="1600200">
            <a:lnSpc>
              <a:spcPct val="100000"/>
            </a:lnSpc>
            <a:spcBef>
              <a:spcPct val="0"/>
            </a:spcBef>
            <a:spcAft>
              <a:spcPct val="35000"/>
            </a:spcAft>
            <a:buNone/>
          </a:pPr>
          <a:r>
            <a:rPr lang="en-US" altLang="zh-CN" sz="3600" b="1" kern="1200">
              <a:solidFill>
                <a:prstClr val="white"/>
              </a:solidFill>
              <a:latin typeface="Times New Roman" panose="02020603050405020304" pitchFamily="18" charset="0"/>
              <a:ea typeface="微软雅黑" panose="020B0503020204020204" pitchFamily="34" charset="-122"/>
              <a:cs typeface="Times New Roman" panose="02020603050405020304" pitchFamily="18" charset="0"/>
            </a:rPr>
            <a:t>4. 结论</a:t>
          </a:r>
          <a:endParaRPr lang="zh-CN" sz="3600" b="1" kern="1200" dirty="0">
            <a:solidFill>
              <a:prstClr val="white"/>
            </a:solidFill>
            <a:latin typeface="Times New Roman" panose="02020603050405020304" pitchFamily="18" charset="0"/>
            <a:ea typeface="微软雅黑" panose="020B0503020204020204" pitchFamily="34" charset="-122"/>
            <a:cs typeface="Times New Roman" panose="02020603050405020304" pitchFamily="18" charset="0"/>
          </a:endParaRPr>
        </a:p>
      </dsp:txBody>
      <dsp:txXfrm rot="10800000">
        <a:off x="2448144" y="3514725"/>
        <a:ext cx="8789232" cy="937260"/>
      </dsp:txXfrm>
    </dsp:sp>
    <dsp:sp modelId="{706B342A-BF31-4247-8DDD-6F80F13010E4}">
      <dsp:nvSpPr>
        <dsp:cNvPr id="9" name="椭圆 8"/>
        <dsp:cNvSpPr/>
      </dsp:nvSpPr>
      <dsp:spPr bwMode="white">
        <a:xfrm>
          <a:off x="1979514" y="3514725"/>
          <a:ext cx="937260" cy="937260"/>
        </a:xfrm>
        <a:prstGeom prst="ellipse">
          <a:avLst/>
        </a:prstGeom>
      </dsp:spPr>
      <dsp:style>
        <a:lnRef idx="3">
          <a:schemeClr val="lt1"/>
        </a:lnRef>
        <a:fillRef idx="1">
          <a:schemeClr val="accent6">
            <a:tint val="50000"/>
          </a:schemeClr>
        </a:fillRef>
        <a:effectRef idx="1">
          <a:scrgbClr r="0" g="0" b="0"/>
        </a:effectRef>
        <a:fontRef idx="minor"/>
      </dsp:style>
      <dsp:txXfrm>
        <a:off x="1979514" y="3514725"/>
        <a:ext cx="937260" cy="937260"/>
      </dsp:txXfrm>
    </dsp:sp>
  </dsp:spTree>
</dsp:drawing>
</file>

<file path=ppt/diagrams/layout1.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rSet qsTypeId="urn:microsoft.com/office/officeart/2005/8/quickstyle/simple5"/>
        </dgm:pt>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type="homePlate" r:blip="" rot="180"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2#2">
  <dgm:title val=""/>
  <dgm:desc val=""/>
  <dgm:catLst>
    <dgm:cat type="simple" pri="102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3">
        <a:scrgbClr r="0" g="0" b="0"/>
      </a:lnRef>
      <a:fillRef idx="1">
        <a:scrgbClr r="0" g="0" b="0"/>
      </a:fillRef>
      <a:effectRef idx="1">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1">
        <a:scrgbClr r="0" g="0" b="0"/>
      </a:effectRef>
      <a:fontRef idx="minor">
        <a:schemeClr val="lt1"/>
      </a:fontRef>
    </dgm:style>
  </dgm:styleLbl>
  <dgm:styleLbl name="asst0">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3">
        <a:scrgbClr r="0" g="0" b="0"/>
      </a:lnRef>
      <a:fillRef idx="1">
        <a:scrgbClr r="0" g="0" b="0"/>
      </a:fillRef>
      <a:effectRef idx="1">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1">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1">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3">
        <a:scrgbClr r="0" g="0" b="0"/>
      </a:lnRef>
      <a:fillRef idx="1">
        <a:scrgbClr r="0" g="0" b="0"/>
      </a:fillRef>
      <a:effectRef idx="1">
        <a:scrgbClr r="0" g="0" b="0"/>
      </a:effectRef>
      <a:fontRef idx="minor"/>
    </dgm:style>
  </dgm:styleLbl>
  <dgm:styleLbl name="fgShp">
    <dgm:scene3d>
      <a:camera prst="orthographicFront"/>
      <a:lightRig rig="threePt" dir="t"/>
    </dgm:scene3d>
    <dgm:txPr/>
    <dgm:style>
      <a:lnRef idx="3">
        <a:scrgbClr r="0" g="0" b="0"/>
      </a:lnRef>
      <a:fillRef idx="1">
        <a:scrgbClr r="0" g="0" b="0"/>
      </a:fillRef>
      <a:effectRef idx="1">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node0">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1">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3">
        <a:scrgbClr r="0" g="0" b="0"/>
      </a:lnRef>
      <a:fillRef idx="1">
        <a:scrgbClr r="0" g="0" b="0"/>
      </a:fillRef>
      <a:effectRef idx="0">
        <a:scrgbClr r="0" g="0" b="0"/>
      </a:effectRef>
      <a:fontRef idx="minor">
        <a:schemeClr val="tx1"/>
      </a:fontRef>
    </dgm:style>
  </dgm:styleLbl>
</dgm:styleDef>
</file>

<file path=ppt/ink/ink1.xml><?xml version="1.0" encoding="utf-8"?>
<inkml:ink xmlns:inkml="http://www.w3.org/2003/InkML">
  <inkml:definitions>
    <inkml:context xml:id="ctx0">
      <inkml:inkSource xml:id="inkSrc0">
        <inkml:traceFormat>
          <inkml:channel name="X" type="integer" max="2147480000" min="-2147480000" units="cm"/>
          <inkml:channel name="Y" type="integer" max="2147480000" min="-2147480000"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17T06:52:58"/>
    </inkml:context>
    <inkml:brush xml:id="br0">
      <inkml:brushProperty name="width" value="0.35" units="cm"/>
      <inkml:brushProperty name="height" value="0.35" units="cm"/>
      <inkml:brushProperty name="color" value="#ffffff"/>
    </inkml:brush>
  </inkml:definitions>
  <inkml:trace contextRef="#ctx0" brushRef="#br0">1.000 330.000 24575,'2711.000'0.000'0,"-2330.000"25.000"0,-24.000 1.000 0,-313.000-28.000 0,-32.000 1.000 0,-1.000 0.000 0,1.000 1.000 0,-1.000 0.000 0,0.000 0.000 0,1.000 2.000 0,-1.000-1.000 0,0.000 1.000 0,17.000 6.000 0,-27.000-8.000 0,-1.000 0.000 0,0.000 0.000 0,1.000 0.000 0,-1.000 0.000 0,0.000 0.000 0,1.000 0.000 0,-1.000 0.000 0,0.000 0.000 0,0.000 1.000 0,1.000-1.000 0,-1.000 0.000 0,0.000 0.000 0,1.000 0.000 0,-1.000 0.000 0,0.000 1.000 0,0.000-1.000 0,1.000 0.000 0,-1.000 0.000 0,0.000 0.000 0,0.000 1.000 0,0.000-1.000 0,1.000 0.000 0,-1.000 0.000 0,0.000 1.000 0,0.000-1.000 0,0.000 0.000 0,0.000 1.000 0,0.000-1.000 0,0.000 0.000 0,1.000 0.000 0,-1.000 1.000 0,0.000-1.000 0,0.000 0.000 0,0.000 1.000 0,0.000-1.000 0,0.000 0.000 0,0.000 1.000 0,0.000-1.000 0,0.000 0.000 0,0.000 1.000 0,0.000-1.000 0,-1.000 0.000 0,1.000 0.000 0,0.000 1.000 0,0.000-1.000 0,-17.000 9.000 0,-25.000 1.000 0,-383.000 15.000 0,268.000-21.000 0,-1635.000 30.000 0,1647.000-45.000 0,41.000 1.000 0,51.000 5.000 0,1.000-3.000 0,-1.000-1.000 0,1.000-3.000 0,1.000-2.000 0,-81.000-35.000 0,125.000 47.000 0,1.000-1.000 0,0.000 0.000 0,-1.000 0.000 0,1.000 0.000 0,1.000-1.000 0,-1.000 0.000 0,0.000 0.000 0,1.000-1.000 0,0.000 1.000 0,-6.000-7.000 0,10.000 9.000 0,0.000 1.000 0,1.000-1.000 0,-1.000 1.000 0,0.000-1.000 0,0.000 1.000 0,1.000-1.000 0,-1.000 1.000 0,1.000-1.000 0,-1.000 0.000 0,1.000 1.000 0,0.000-1.000 0,0.000 1.000 0,0.000-1.000 0,0.000 0.000 0,0.000 1.000 0,0.000-1.000 0,1.000-3.000 0,0.000 2.000 0,0.000 0.000 0,0.000 1.000 0,0.000-1.000 0,1.000 0.000 0,0.000 1.000 0,-1.000-1.000 0,1.000 1.000 0,0.000-1.000 0,0.000 1.000 0,0.000 0.000 0,0.000 0.000 0,1.000 0.000 0,2.000-2.000 0,17.000-11.000 0,0.000 1.000 0,1.000 1.000 0,0.000 2.000 0,1.000 0.000 0,0.000 1.000 0,49.000-13.000 0,160.000-22.000 0,86.000-4.000 0,382.000-9.000 0,340.000 57.000 0,-460.000 4.000 0,-560.000-3.000 0,336.000 5.000 0,-246.000 2.000 0,134.000 26.000 0,-241.000-33.000 0,54.000 12.000 0,114.000 7.000 0,-132.000-19.000 0,-17.000-1.000 0,0.000 1.000 0,0.000 2.000 0,36.000 6.000 0,-57.000-8.000 0,-1.000 0.000 0,1.000 1.000 0,-1.000-1.000 0,0.000 0.000 0,1.000 1.000 0,-1.000-1.000 0,1.000 1.000 0,-1.000 0.000 0,0.000-1.000 0,1.000 1.000 0,-1.000 0.000 0,0.000 0.000 0,0.000-1.000 0,0.000 1.000 0,0.000 0.000 0,0.000 0.000 0,0.000 0.000 0,0.000 1.000 0,2.000 1.000 0,-3.000-2.000 0,0.000 0.000 0,0.000 0.000 0,0.000 0.000 0,0.000 0.000 0,0.000 0.000 0,0.000-1.000 0,-1.000 1.000 0,1.000 0.000 0,0.000 0.000 0,0.000 0.000 0,-1.000 0.000 0,1.000 0.000 0,0.000 0.000 0,-1.000-1.000 0,1.000 1.000 0,-1.000 0.000 0,1.000 0.000 0,-1.000-1.000 0,0.000 1.000 0,1.000 0.000 0,-1.000-1.000 0,-1.000 2.000 0,-6.000 4.000 0,1.000 0.000 0,-1.000-1.000 0,-1.000 1.000 0,-16.000 6.000 0,-33.000 10.000 0,0.000-3.000 0,-1.000-2.000 0,-102.000 14.000 0,-2.000 1.000 0,18.000-6.000 0,0.000-6.000 0,-196.000 3.000 0,113.000-11.000 0,150.000-3.000 0,65.000-4.000 0,51.000-2.000 0,353.000-23.000 0,-118.000 3.000 0,275.000-26.000 0,121.000-4.000 0,-56.000 51.000-1365</inkml:trace>
</inkml:ink>
</file>

<file path=ppt/ink/ink2.xml><?xml version="1.0" encoding="utf-8"?>
<inkml:ink xmlns:inkml="http://www.w3.org/2003/InkML">
  <inkml:definitions>
    <inkml:context xml:id="ctx0">
      <inkml:inkSource xml:id="inkSrc0">
        <inkml:traceFormat>
          <inkml:channel name="X" type="integer" max="2147480000" min="-2147480000" units="cm"/>
          <inkml:channel name="Y" type="integer" max="2147480000" min="-2147480000"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17T06:53:02"/>
    </inkml:context>
    <inkml:brush xml:id="br0">
      <inkml:brushProperty name="width" value="0.35" units="cm"/>
      <inkml:brushProperty name="height" value="0.35" units="cm"/>
      <inkml:brushProperty name="color" value="#ffffff"/>
    </inkml:brush>
  </inkml:definitions>
  <inkml:trace contextRef="#ctx0" brushRef="#br0">1.000 0.000 24575</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15D8C10-F76C-4A1E-98F0-185AA213A711}"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en-US" altLang="zh-CN" sz="1200" b="0" i="0" kern="1200">
              <a:solidFill>
                <a:schemeClr val="tx1"/>
              </a:solidFill>
              <a:effectLst/>
              <a:latin typeface="+mn-lt"/>
              <a:ea typeface="+mn-ea"/>
              <a:cs typeface="+mn-cs"/>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en-US" altLang="zh-C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en-US" altLang="zh-CN"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en-US" altLang="zh-CN"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en-US" altLang="zh-CN"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t>为直观考察执行功能的个体差异在不同奖赏条件下对转换代价的影响，本研究依据被试的斯特鲁普反应时损耗（即执行功能水平）进行中位数分组，并分析两组被试在不同奖赏试次组下以反应时为指标的任务转换代价（见图 2</a:t>
            </a:r>
            <a:r>
              <a:rPr lang="en-US" altLang="zh-CN" dirty="0"/>
              <a:t>A）。</a:t>
            </a:r>
            <a:r>
              <a:rPr lang="zh-CN" altLang="en-US" dirty="0"/>
              <a:t>结果显示，高执行功能组（斯特鲁普反应时损耗更低）对奖赏操纵不敏感；而低执行功能组（斯特鲁普反应时损耗更高）则会明显受到奖赏影响。换言之，提升奖赏激励能够降低任务转换代价（该指标代表认知努力投入增加），但这一效应仅存在于认知能力有限的个体当中。图 2</a:t>
            </a:r>
            <a:r>
              <a:rPr lang="en-US" altLang="zh-CN" dirty="0"/>
              <a:t>B </a:t>
            </a:r>
            <a:r>
              <a:rPr lang="zh-CN" altLang="en-US" dirty="0"/>
              <a:t>呈现了全体被试样本中，执行功能个体差异与奖赏引发的转换代价变化之间的关联。分析未发现试次类型与奖赏存在显著交互，说明奖赏对转换代价的削弱作用依赖于个体的执行功能水平；试次类型与斯特鲁普反应时损耗也无显著交互，表明执行功能本身无法预测整体转换代价水平。</a:t>
            </a:r>
            <a:endParaRPr lang="zh-CN" altLang="en-US"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sym typeface="+mn-ea"/>
              </a:rPr>
              <a:t>本研究将执行功能作为连续变量纳入混合效应回归模型，结果发现：斯特鲁普反应时损耗、奖赏条件与试次类型（转换试次 / 重复试次）三者存在显著交互作用，完整模型详见表 2。</a:t>
            </a:r>
            <a:endParaRPr lang="zh-CN" altLang="en-US" dirty="0"/>
          </a:p>
          <a:p>
            <a:endParaRPr lang="zh-CN" altLang="en-US"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en-US" altLang="zh-CN"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t>以奖励阶段和认知需求（</a:t>
            </a:r>
            <a:r>
              <a:rPr lang="en-US" altLang="zh-CN" dirty="0"/>
              <a:t>NFC）</a:t>
            </a:r>
            <a:r>
              <a:rPr lang="zh-CN" altLang="en-US" dirty="0"/>
              <a:t>得分中位数为分组依据绘制任务转换代价图（见图 3</a:t>
            </a:r>
            <a:r>
              <a:rPr lang="en-US" altLang="zh-CN" dirty="0"/>
              <a:t>A）</a:t>
            </a:r>
            <a:r>
              <a:rPr lang="zh-CN" altLang="en-US" dirty="0"/>
              <a:t>后发现：低认知需求人群在奖励作用下，任务转换代价有所降低；而出人意料的是，高认知需求人群的任务转换代价反而上升。</a:t>
            </a:r>
            <a:endParaRPr lang="zh-CN" altLang="en-US" dirty="0"/>
          </a:p>
          <a:p>
            <a:r>
              <a:rPr lang="zh-CN" altLang="en-US" dirty="0"/>
              <a:t>简言之，高额奖励会促使低认知需求者投入更多认知努力，却会让高认知需求者减少认知努力。基于全体被试的连续型认知需求得分开展回归分析后证实，认知需求得分与奖励引发的任务转换代价变化之间存在显著关联（结果见表 3，效应可视化见图 3</a:t>
            </a:r>
            <a:r>
              <a:rPr lang="en-US" altLang="zh-CN" dirty="0"/>
              <a:t>B）。</a:t>
            </a:r>
            <a:endParaRPr lang="en-US" altLang="zh-CN"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en-US" altLang="zh-CN" sz="1200" b="0" i="0" kern="1200">
              <a:solidFill>
                <a:schemeClr val="tx1"/>
              </a:solidFill>
              <a:effectLst/>
              <a:latin typeface="+mn-lt"/>
              <a:ea typeface="+mn-ea"/>
              <a:cs typeface="+mn-cs"/>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en-US" altLang="zh-CN" sz="1200" b="0" i="0" kern="1200">
              <a:solidFill>
                <a:schemeClr val="tx1"/>
              </a:solidFill>
              <a:effectLst/>
              <a:latin typeface="+mn-lt"/>
              <a:ea typeface="+mn-ea"/>
              <a:cs typeface="+mn-cs"/>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en-US" altLang="zh-CN" sz="1200" b="0" i="0" kern="1200">
              <a:solidFill>
                <a:schemeClr val="tx1"/>
              </a:solidFill>
              <a:effectLst/>
              <a:latin typeface="+mn-lt"/>
              <a:ea typeface="+mn-ea"/>
              <a:cs typeface="+mn-cs"/>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noProof="1"/>
              <a:t>单击此处编辑母版标题样式</a:t>
            </a:r>
            <a:endParaRPr lang="zh-CN" altLang="en-US" noProof="1"/>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noProof="1"/>
              <a:t>单击此处编辑母版副标题样式</a:t>
            </a:r>
            <a:endParaRPr lang="zh-CN" altLang="en-US" noProof="1"/>
          </a:p>
        </p:txBody>
      </p:sp>
      <p:sp>
        <p:nvSpPr>
          <p:cNvPr id="4" name="日期占位符 3"/>
          <p:cNvSpPr>
            <a:spLocks noGrp="1"/>
          </p:cNvSpPr>
          <p:nvPr>
            <p:ph type="dt" sz="half" idx="10"/>
          </p:nvPr>
        </p:nvSpPr>
        <p:spPr/>
        <p:txBody>
          <a:bodyPr/>
          <a:lstStyle/>
          <a:p>
            <a:pPr marL="0" marR="0" lvl="0" indent="0" algn="l" defTabSz="914400" rtl="0" eaLnBrk="1" fontAlgn="auto" latinLnBrk="0" hangingPunct="1">
              <a:lnSpc>
                <a:spcPct val="100000"/>
              </a:lnSpc>
              <a:spcBef>
                <a:spcPct val="0"/>
              </a:spcBef>
              <a:spcAft>
                <a:spcPct val="0"/>
              </a:spcAft>
              <a:buClrTx/>
              <a:buSzTx/>
              <a:buFontTx/>
              <a:buNone/>
              <a:defRPr/>
            </a:pPr>
            <a:fld id="{EA35D8CA-0BF3-4FB4-81DB-9D153400B8C1}" type="datetimeFigureOut">
              <a:rPr kumimoji="0" lang="zh-CN" altLang="en-US" sz="1200" b="0" i="0" u="none" strike="noStrike" kern="1200" cap="none" spc="0" normalizeH="0" baseline="0" noProof="1">
                <a:ln>
                  <a:noFill/>
                </a:ln>
                <a:solidFill>
                  <a:schemeClr val="tx1">
                    <a:tint val="75000"/>
                  </a:schemeClr>
                </a:solidFill>
                <a:effectLst/>
                <a:uLnTx/>
                <a:uFillTx/>
                <a:latin typeface="+mn-lt"/>
                <a:ea typeface="+mn-ea"/>
                <a:cs typeface="+mn-cs"/>
              </a:rPr>
            </a:fld>
            <a:endParaRPr kumimoji="0" lang="zh-CN" altLang="en-US" sz="1200" b="0" i="0" u="none" strike="noStrike" kern="1200" cap="none" spc="0" normalizeH="0" baseline="0" noProof="1">
              <a:ln>
                <a:noFill/>
              </a:ln>
              <a:solidFill>
                <a:schemeClr val="tx1">
                  <a:tint val="75000"/>
                </a:schemeClr>
              </a:solidFill>
              <a:effectLst/>
              <a:uLnTx/>
              <a:uFillTx/>
              <a:latin typeface="+mn-lt"/>
              <a:ea typeface="+mn-ea"/>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tx1">
                  <a:tint val="75000"/>
                </a:schemeClr>
              </a:solidFill>
              <a:effectLst/>
              <a:uLnTx/>
              <a:uFillTx/>
              <a:latin typeface="Arial" panose="020B0604020202020204" pitchFamily="34" charset="0"/>
              <a:ea typeface="微软雅黑" panose="020B0503020204020204" pitchFamily="34"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9A0F3353-2E0D-4401-A8A8-7B176D3407B0}" type="slidenum">
              <a:rPr kumimoji="0" lang="zh-CN" altLang="en-US" sz="1200" b="0" i="0" u="none" strike="noStrike" kern="1200" cap="none" spc="0" normalizeH="0" baseline="0" noProof="0" smtClean="0">
                <a:ln>
                  <a:noFill/>
                </a:ln>
                <a:solidFill>
                  <a:srgbClr val="898989"/>
                </a:solidFill>
                <a:effectLst/>
                <a:uLnTx/>
                <a:uFillTx/>
                <a:latin typeface="Arial" panose="020B0604020202020204" pitchFamily="34" charset="0"/>
                <a:ea typeface="微软雅黑" panose="020B0503020204020204" pitchFamily="34" charset="-122"/>
                <a:cs typeface="+mn-cs"/>
              </a:rPr>
            </a:fld>
            <a:endParaRPr kumimoji="0" lang="zh-CN" altLang="en-US" sz="1200" b="0" i="0" u="none" strike="noStrike" kern="1200" cap="none" spc="0" normalizeH="0" baseline="0" noProof="0">
              <a:ln>
                <a:noFill/>
              </a:ln>
              <a:solidFill>
                <a:srgbClr val="898989"/>
              </a:solidFill>
              <a:effectLst/>
              <a:uLnTx/>
              <a:uFillTx/>
              <a:latin typeface="Arial" panose="020B0604020202020204" pitchFamily="34" charset="0"/>
              <a:ea typeface="微软雅黑" panose="020B0503020204020204" pitchFamily="34" charset="-122"/>
              <a:cs typeface="+mn-cs"/>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内容占位符 2"/>
          <p:cNvSpPr>
            <a:spLocks noGrp="1"/>
          </p:cNvSpPr>
          <p:nvPr>
            <p:ph idx="1"/>
          </p:nvPr>
        </p:nvSpPr>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日期占位符 3"/>
          <p:cNvSpPr>
            <a:spLocks noGrp="1"/>
          </p:cNvSpPr>
          <p:nvPr>
            <p:ph type="dt" sz="half" idx="10"/>
          </p:nvPr>
        </p:nvSpPr>
        <p:spPr/>
        <p:txBody>
          <a:bodyPr/>
          <a:lstStyle/>
          <a:p>
            <a:pPr marL="0" marR="0" lvl="0" indent="0" algn="l" defTabSz="914400" rtl="0" eaLnBrk="1" fontAlgn="auto" latinLnBrk="0" hangingPunct="1">
              <a:lnSpc>
                <a:spcPct val="100000"/>
              </a:lnSpc>
              <a:spcBef>
                <a:spcPct val="0"/>
              </a:spcBef>
              <a:spcAft>
                <a:spcPct val="0"/>
              </a:spcAft>
              <a:buClrTx/>
              <a:buSzTx/>
              <a:buFontTx/>
              <a:buNone/>
              <a:defRPr/>
            </a:pPr>
            <a:fld id="{EA35D8CA-0BF3-4FB4-81DB-9D153400B8C1}" type="datetimeFigureOut">
              <a:rPr kumimoji="0" lang="zh-CN" altLang="en-US" sz="1200" b="0" i="0" u="none" strike="noStrike" kern="1200" cap="none" spc="0" normalizeH="0" baseline="0" noProof="1">
                <a:ln>
                  <a:noFill/>
                </a:ln>
                <a:solidFill>
                  <a:schemeClr val="tx1">
                    <a:tint val="75000"/>
                  </a:schemeClr>
                </a:solidFill>
                <a:effectLst/>
                <a:uLnTx/>
                <a:uFillTx/>
                <a:latin typeface="+mn-lt"/>
                <a:ea typeface="+mn-ea"/>
                <a:cs typeface="+mn-cs"/>
              </a:rPr>
            </a:fld>
            <a:endParaRPr kumimoji="0" lang="zh-CN" altLang="en-US" sz="1200" b="0" i="0" u="none" strike="noStrike" kern="1200" cap="none" spc="0" normalizeH="0" baseline="0" noProof="1">
              <a:ln>
                <a:noFill/>
              </a:ln>
              <a:solidFill>
                <a:schemeClr val="tx1">
                  <a:tint val="75000"/>
                </a:schemeClr>
              </a:solidFill>
              <a:effectLst/>
              <a:uLnTx/>
              <a:uFillTx/>
              <a:latin typeface="+mn-lt"/>
              <a:ea typeface="+mn-ea"/>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tx1">
                  <a:tint val="75000"/>
                </a:schemeClr>
              </a:solidFill>
              <a:effectLst/>
              <a:uLnTx/>
              <a:uFillTx/>
              <a:latin typeface="Arial" panose="020B0604020202020204" pitchFamily="34" charset="0"/>
              <a:ea typeface="微软雅黑" panose="020B0503020204020204" pitchFamily="34"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9A0F3353-2E0D-4401-A8A8-7B176D3407B0}" type="slidenum">
              <a:rPr kumimoji="0" lang="zh-CN" altLang="en-US" sz="1200" b="0" i="0" u="none" strike="noStrike" kern="1200" cap="none" spc="0" normalizeH="0" baseline="0" noProof="0" smtClean="0">
                <a:ln>
                  <a:noFill/>
                </a:ln>
                <a:solidFill>
                  <a:srgbClr val="898989"/>
                </a:solidFill>
                <a:effectLst/>
                <a:uLnTx/>
                <a:uFillTx/>
                <a:latin typeface="Arial" panose="020B0604020202020204" pitchFamily="34" charset="0"/>
                <a:ea typeface="微软雅黑" panose="020B0503020204020204" pitchFamily="34" charset="-122"/>
                <a:cs typeface="+mn-cs"/>
              </a:rPr>
            </a:fld>
            <a:endParaRPr kumimoji="0" lang="zh-CN" altLang="en-US" sz="1200" b="0" i="0" u="none" strike="noStrike" kern="1200" cap="none" spc="0" normalizeH="0" baseline="0" noProof="0">
              <a:ln>
                <a:noFill/>
              </a:ln>
              <a:solidFill>
                <a:srgbClr val="898989"/>
              </a:solidFill>
              <a:effectLst/>
              <a:uLnTx/>
              <a:uFillTx/>
              <a:latin typeface="Arial" panose="020B0604020202020204" pitchFamily="34" charset="0"/>
              <a:ea typeface="微软雅黑" panose="020B0503020204020204" pitchFamily="34" charset="-122"/>
              <a:cs typeface="+mn-c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noProof="1"/>
              <a:t>单击此处编辑母版标题样式</a:t>
            </a:r>
            <a:endParaRPr lang="zh-CN" altLang="en-US" noProof="1"/>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noProof="1"/>
              <a:t>单击此处编辑母版文本样式</a:t>
            </a:r>
            <a:endParaRPr lang="zh-CN" altLang="en-US" noProof="1"/>
          </a:p>
        </p:txBody>
      </p:sp>
      <p:sp>
        <p:nvSpPr>
          <p:cNvPr id="4" name="日期占位符 3"/>
          <p:cNvSpPr>
            <a:spLocks noGrp="1"/>
          </p:cNvSpPr>
          <p:nvPr>
            <p:ph type="dt" sz="half" idx="10"/>
          </p:nvPr>
        </p:nvSpPr>
        <p:spPr/>
        <p:txBody>
          <a:bodyPr/>
          <a:lstStyle/>
          <a:p>
            <a:pPr marL="0" marR="0" lvl="0" indent="0" algn="l" defTabSz="914400" rtl="0" eaLnBrk="1" fontAlgn="auto" latinLnBrk="0" hangingPunct="1">
              <a:lnSpc>
                <a:spcPct val="100000"/>
              </a:lnSpc>
              <a:spcBef>
                <a:spcPct val="0"/>
              </a:spcBef>
              <a:spcAft>
                <a:spcPct val="0"/>
              </a:spcAft>
              <a:buClrTx/>
              <a:buSzTx/>
              <a:buFontTx/>
              <a:buNone/>
              <a:defRPr/>
            </a:pPr>
            <a:fld id="{EA35D8CA-0BF3-4FB4-81DB-9D153400B8C1}" type="datetimeFigureOut">
              <a:rPr kumimoji="0" lang="zh-CN" altLang="en-US" sz="1200" b="0" i="0" u="none" strike="noStrike" kern="1200" cap="none" spc="0" normalizeH="0" baseline="0" noProof="1">
                <a:ln>
                  <a:noFill/>
                </a:ln>
                <a:solidFill>
                  <a:schemeClr val="tx1">
                    <a:tint val="75000"/>
                  </a:schemeClr>
                </a:solidFill>
                <a:effectLst/>
                <a:uLnTx/>
                <a:uFillTx/>
                <a:latin typeface="+mn-lt"/>
                <a:ea typeface="+mn-ea"/>
                <a:cs typeface="+mn-cs"/>
              </a:rPr>
            </a:fld>
            <a:endParaRPr kumimoji="0" lang="zh-CN" altLang="en-US" sz="1200" b="0" i="0" u="none" strike="noStrike" kern="1200" cap="none" spc="0" normalizeH="0" baseline="0" noProof="1">
              <a:ln>
                <a:noFill/>
              </a:ln>
              <a:solidFill>
                <a:schemeClr val="tx1">
                  <a:tint val="75000"/>
                </a:schemeClr>
              </a:solidFill>
              <a:effectLst/>
              <a:uLnTx/>
              <a:uFillTx/>
              <a:latin typeface="+mn-lt"/>
              <a:ea typeface="+mn-ea"/>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tx1">
                  <a:tint val="75000"/>
                </a:schemeClr>
              </a:solidFill>
              <a:effectLst/>
              <a:uLnTx/>
              <a:uFillTx/>
              <a:latin typeface="Arial" panose="020B0604020202020204" pitchFamily="34" charset="0"/>
              <a:ea typeface="微软雅黑" panose="020B0503020204020204" pitchFamily="34"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9A0F3353-2E0D-4401-A8A8-7B176D3407B0}" type="slidenum">
              <a:rPr kumimoji="0" lang="zh-CN" altLang="en-US" sz="1200" b="0" i="0" u="none" strike="noStrike" kern="1200" cap="none" spc="0" normalizeH="0" baseline="0" noProof="0" smtClean="0">
                <a:ln>
                  <a:noFill/>
                </a:ln>
                <a:solidFill>
                  <a:srgbClr val="898989"/>
                </a:solidFill>
                <a:effectLst/>
                <a:uLnTx/>
                <a:uFillTx/>
                <a:latin typeface="Arial" panose="020B0604020202020204" pitchFamily="34" charset="0"/>
                <a:ea typeface="微软雅黑" panose="020B0503020204020204" pitchFamily="34" charset="-122"/>
                <a:cs typeface="+mn-cs"/>
              </a:rPr>
            </a:fld>
            <a:endParaRPr kumimoji="0" lang="zh-CN" altLang="en-US" sz="1200" b="0" i="0" u="none" strike="noStrike" kern="1200" cap="none" spc="0" normalizeH="0" baseline="0" noProof="0">
              <a:ln>
                <a:noFill/>
              </a:ln>
              <a:solidFill>
                <a:srgbClr val="898989"/>
              </a:solidFill>
              <a:effectLst/>
              <a:uLnTx/>
              <a:uFillTx/>
              <a:latin typeface="Arial" panose="020B0604020202020204" pitchFamily="34" charset="0"/>
              <a:ea typeface="微软雅黑" panose="020B0503020204020204" pitchFamily="34" charset="-122"/>
              <a:cs typeface="+mn-c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内容占位符 2"/>
          <p:cNvSpPr>
            <a:spLocks noGrp="1"/>
          </p:cNvSpPr>
          <p:nvPr>
            <p:ph sz="half" idx="1"/>
          </p:nvPr>
        </p:nvSpPr>
        <p:spPr>
          <a:xfrm>
            <a:off x="838200" y="1825625"/>
            <a:ext cx="5181600" cy="4351338"/>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内容占位符 3"/>
          <p:cNvSpPr>
            <a:spLocks noGrp="1"/>
          </p:cNvSpPr>
          <p:nvPr>
            <p:ph sz="half" idx="2"/>
          </p:nvPr>
        </p:nvSpPr>
        <p:spPr>
          <a:xfrm>
            <a:off x="6172200" y="1825625"/>
            <a:ext cx="5181600" cy="4351338"/>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日期占位符 4"/>
          <p:cNvSpPr>
            <a:spLocks noGrp="1"/>
          </p:cNvSpPr>
          <p:nvPr>
            <p:ph type="dt" sz="half" idx="10"/>
          </p:nvPr>
        </p:nvSpPr>
        <p:spPr/>
        <p:txBody>
          <a:bodyPr/>
          <a:lstStyle/>
          <a:p>
            <a:pPr marL="0" marR="0" lvl="0" indent="0" algn="l" defTabSz="914400" rtl="0" eaLnBrk="1" fontAlgn="auto" latinLnBrk="0" hangingPunct="1">
              <a:lnSpc>
                <a:spcPct val="100000"/>
              </a:lnSpc>
              <a:spcBef>
                <a:spcPct val="0"/>
              </a:spcBef>
              <a:spcAft>
                <a:spcPct val="0"/>
              </a:spcAft>
              <a:buClrTx/>
              <a:buSzTx/>
              <a:buFontTx/>
              <a:buNone/>
              <a:defRPr/>
            </a:pPr>
            <a:fld id="{EA35D8CA-0BF3-4FB4-81DB-9D153400B8C1}" type="datetimeFigureOut">
              <a:rPr kumimoji="0" lang="zh-CN" altLang="en-US" sz="1200" b="0" i="0" u="none" strike="noStrike" kern="1200" cap="none" spc="0" normalizeH="0" baseline="0" noProof="1">
                <a:ln>
                  <a:noFill/>
                </a:ln>
                <a:solidFill>
                  <a:schemeClr val="tx1">
                    <a:tint val="75000"/>
                  </a:schemeClr>
                </a:solidFill>
                <a:effectLst/>
                <a:uLnTx/>
                <a:uFillTx/>
                <a:latin typeface="+mn-lt"/>
                <a:ea typeface="+mn-ea"/>
                <a:cs typeface="+mn-cs"/>
              </a:rPr>
            </a:fld>
            <a:endParaRPr kumimoji="0" lang="zh-CN" altLang="en-US" sz="1200" b="0" i="0" u="none" strike="noStrike" kern="1200" cap="none" spc="0" normalizeH="0" baseline="0" noProof="1">
              <a:ln>
                <a:noFill/>
              </a:ln>
              <a:solidFill>
                <a:schemeClr val="tx1">
                  <a:tint val="75000"/>
                </a:schemeClr>
              </a:solidFill>
              <a:effectLst/>
              <a:uLnTx/>
              <a:uFillTx/>
              <a:latin typeface="+mn-lt"/>
              <a:ea typeface="+mn-ea"/>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tx1">
                  <a:tint val="75000"/>
                </a:schemeClr>
              </a:solidFill>
              <a:effectLst/>
              <a:uLnTx/>
              <a:uFillTx/>
              <a:latin typeface="Arial" panose="020B0604020202020204" pitchFamily="34" charset="0"/>
              <a:ea typeface="微软雅黑" panose="020B0503020204020204" pitchFamily="34"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9A0F3353-2E0D-4401-A8A8-7B176D3407B0}" type="slidenum">
              <a:rPr kumimoji="0" lang="zh-CN" altLang="en-US" sz="1200" b="0" i="0" u="none" strike="noStrike" kern="1200" cap="none" spc="0" normalizeH="0" baseline="0" noProof="0" smtClean="0">
                <a:ln>
                  <a:noFill/>
                </a:ln>
                <a:solidFill>
                  <a:srgbClr val="898989"/>
                </a:solidFill>
                <a:effectLst/>
                <a:uLnTx/>
                <a:uFillTx/>
                <a:latin typeface="Arial" panose="020B0604020202020204" pitchFamily="34" charset="0"/>
                <a:ea typeface="微软雅黑" panose="020B0503020204020204" pitchFamily="34" charset="-122"/>
                <a:cs typeface="+mn-cs"/>
              </a:rPr>
            </a:fld>
            <a:endParaRPr kumimoji="0" lang="zh-CN" altLang="en-US" sz="1200" b="0" i="0" u="none" strike="noStrike" kern="1200" cap="none" spc="0" normalizeH="0" baseline="0" noProof="0">
              <a:ln>
                <a:noFill/>
              </a:ln>
              <a:solidFill>
                <a:srgbClr val="898989"/>
              </a:solidFill>
              <a:effectLst/>
              <a:uLnTx/>
              <a:uFillTx/>
              <a:latin typeface="Arial" panose="020B0604020202020204" pitchFamily="34" charset="0"/>
              <a:ea typeface="微软雅黑" panose="020B0503020204020204" pitchFamily="34" charset="-122"/>
              <a:cs typeface="+mn-c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noProof="1"/>
              <a:t>单击此处编辑母版标题样式</a:t>
            </a:r>
            <a:endParaRPr lang="zh-CN" altLang="en-US" noProof="1"/>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endParaRPr lang="zh-CN" altLang="en-US" noProof="1"/>
          </a:p>
        </p:txBody>
      </p:sp>
      <p:sp>
        <p:nvSpPr>
          <p:cNvPr id="4" name="内容占位符 3"/>
          <p:cNvSpPr>
            <a:spLocks noGrp="1"/>
          </p:cNvSpPr>
          <p:nvPr>
            <p:ph sz="half" idx="2"/>
          </p:nvPr>
        </p:nvSpPr>
        <p:spPr>
          <a:xfrm>
            <a:off x="839788" y="2505075"/>
            <a:ext cx="5157787" cy="3684588"/>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endParaRPr lang="zh-CN" altLang="en-US" noProof="1"/>
          </a:p>
        </p:txBody>
      </p:sp>
      <p:sp>
        <p:nvSpPr>
          <p:cNvPr id="6" name="内容占位符 5"/>
          <p:cNvSpPr>
            <a:spLocks noGrp="1"/>
          </p:cNvSpPr>
          <p:nvPr>
            <p:ph sz="quarter" idx="4"/>
          </p:nvPr>
        </p:nvSpPr>
        <p:spPr>
          <a:xfrm>
            <a:off x="6172200" y="2505075"/>
            <a:ext cx="5183188" cy="3684588"/>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7" name="日期占位符 6"/>
          <p:cNvSpPr>
            <a:spLocks noGrp="1"/>
          </p:cNvSpPr>
          <p:nvPr>
            <p:ph type="dt" sz="half" idx="10"/>
          </p:nvPr>
        </p:nvSpPr>
        <p:spPr/>
        <p:txBody>
          <a:bodyPr/>
          <a:lstStyle/>
          <a:p>
            <a:pPr marL="0" marR="0" lvl="0" indent="0" algn="l" defTabSz="914400" rtl="0" eaLnBrk="1" fontAlgn="auto" latinLnBrk="0" hangingPunct="1">
              <a:lnSpc>
                <a:spcPct val="100000"/>
              </a:lnSpc>
              <a:spcBef>
                <a:spcPct val="0"/>
              </a:spcBef>
              <a:spcAft>
                <a:spcPct val="0"/>
              </a:spcAft>
              <a:buClrTx/>
              <a:buSzTx/>
              <a:buFontTx/>
              <a:buNone/>
              <a:defRPr/>
            </a:pPr>
            <a:fld id="{EA35D8CA-0BF3-4FB4-81DB-9D153400B8C1}" type="datetimeFigureOut">
              <a:rPr kumimoji="0" lang="zh-CN" altLang="en-US" sz="1200" b="0" i="0" u="none" strike="noStrike" kern="1200" cap="none" spc="0" normalizeH="0" baseline="0" noProof="1">
                <a:ln>
                  <a:noFill/>
                </a:ln>
                <a:solidFill>
                  <a:schemeClr val="tx1">
                    <a:tint val="75000"/>
                  </a:schemeClr>
                </a:solidFill>
                <a:effectLst/>
                <a:uLnTx/>
                <a:uFillTx/>
                <a:latin typeface="+mn-lt"/>
                <a:ea typeface="+mn-ea"/>
                <a:cs typeface="+mn-cs"/>
              </a:rPr>
            </a:fld>
            <a:endParaRPr kumimoji="0" lang="zh-CN" altLang="en-US" sz="1200" b="0" i="0" u="none" strike="noStrike" kern="1200" cap="none" spc="0" normalizeH="0" baseline="0" noProof="1">
              <a:ln>
                <a:noFill/>
              </a:ln>
              <a:solidFill>
                <a:schemeClr val="tx1">
                  <a:tint val="75000"/>
                </a:schemeClr>
              </a:solidFill>
              <a:effectLst/>
              <a:uLnTx/>
              <a:uFillTx/>
              <a:latin typeface="+mn-lt"/>
              <a:ea typeface="+mn-ea"/>
              <a:cs typeface="+mn-cs"/>
            </a:endParaRPr>
          </a:p>
        </p:txBody>
      </p:sp>
      <p:sp>
        <p:nvSpPr>
          <p:cNvPr id="8" name="页脚占位符 7"/>
          <p:cNvSpPr>
            <a:spLocks noGrp="1"/>
          </p:cNvSpPr>
          <p:nvPr>
            <p:ph type="ftr" sz="quarter" idx="11"/>
          </p:nvPr>
        </p:nvSpPr>
        <p:spPr/>
        <p:txBody>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tx1">
                  <a:tint val="75000"/>
                </a:schemeClr>
              </a:solidFill>
              <a:effectLst/>
              <a:uLnTx/>
              <a:uFillTx/>
              <a:latin typeface="Arial" panose="020B0604020202020204" pitchFamily="34" charset="0"/>
              <a:ea typeface="微软雅黑" panose="020B0503020204020204" pitchFamily="34" charset="-122"/>
              <a:cs typeface="+mn-cs"/>
            </a:endParaRPr>
          </a:p>
        </p:txBody>
      </p:sp>
      <p:sp>
        <p:nvSpPr>
          <p:cNvPr id="9" name="灯片编号占位符 8"/>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9A0F3353-2E0D-4401-A8A8-7B176D3407B0}" type="slidenum">
              <a:rPr kumimoji="0" lang="zh-CN" altLang="en-US" sz="1200" b="0" i="0" u="none" strike="noStrike" kern="1200" cap="none" spc="0" normalizeH="0" baseline="0" noProof="0" smtClean="0">
                <a:ln>
                  <a:noFill/>
                </a:ln>
                <a:solidFill>
                  <a:srgbClr val="898989"/>
                </a:solidFill>
                <a:effectLst/>
                <a:uLnTx/>
                <a:uFillTx/>
                <a:latin typeface="Arial" panose="020B0604020202020204" pitchFamily="34" charset="0"/>
                <a:ea typeface="微软雅黑" panose="020B0503020204020204" pitchFamily="34" charset="-122"/>
                <a:cs typeface="+mn-cs"/>
              </a:rPr>
            </a:fld>
            <a:endParaRPr kumimoji="0" lang="zh-CN" altLang="en-US" sz="1200" b="0" i="0" u="none" strike="noStrike" kern="1200" cap="none" spc="0" normalizeH="0" baseline="0" noProof="0">
              <a:ln>
                <a:noFill/>
              </a:ln>
              <a:solidFill>
                <a:srgbClr val="898989"/>
              </a:solidFill>
              <a:effectLst/>
              <a:uLnTx/>
              <a:uFillTx/>
              <a:latin typeface="Arial" panose="020B0604020202020204" pitchFamily="34" charset="0"/>
              <a:ea typeface="微软雅黑" panose="020B0503020204020204" pitchFamily="34" charset="-122"/>
              <a:cs typeface="+mn-c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日期占位符 2"/>
          <p:cNvSpPr>
            <a:spLocks noGrp="1"/>
          </p:cNvSpPr>
          <p:nvPr>
            <p:ph type="dt" sz="half" idx="10"/>
          </p:nvPr>
        </p:nvSpPr>
        <p:spPr/>
        <p:txBody>
          <a:bodyPr/>
          <a:lstStyle/>
          <a:p>
            <a:pPr marL="0" marR="0" lvl="0" indent="0" algn="l" defTabSz="914400" rtl="0" eaLnBrk="1" fontAlgn="auto" latinLnBrk="0" hangingPunct="1">
              <a:lnSpc>
                <a:spcPct val="100000"/>
              </a:lnSpc>
              <a:spcBef>
                <a:spcPct val="0"/>
              </a:spcBef>
              <a:spcAft>
                <a:spcPct val="0"/>
              </a:spcAft>
              <a:buClrTx/>
              <a:buSzTx/>
              <a:buFontTx/>
              <a:buNone/>
              <a:defRPr/>
            </a:pPr>
            <a:fld id="{EA35D8CA-0BF3-4FB4-81DB-9D153400B8C1}" type="datetimeFigureOut">
              <a:rPr kumimoji="0" lang="zh-CN" altLang="en-US" sz="1200" b="0" i="0" u="none" strike="noStrike" kern="1200" cap="none" spc="0" normalizeH="0" baseline="0" noProof="1">
                <a:ln>
                  <a:noFill/>
                </a:ln>
                <a:solidFill>
                  <a:schemeClr val="tx1">
                    <a:tint val="75000"/>
                  </a:schemeClr>
                </a:solidFill>
                <a:effectLst/>
                <a:uLnTx/>
                <a:uFillTx/>
                <a:latin typeface="+mn-lt"/>
                <a:ea typeface="+mn-ea"/>
                <a:cs typeface="+mn-cs"/>
              </a:rPr>
            </a:fld>
            <a:endParaRPr kumimoji="0" lang="zh-CN" altLang="en-US" sz="1200" b="0" i="0" u="none" strike="noStrike" kern="1200" cap="none" spc="0" normalizeH="0" baseline="0" noProof="1">
              <a:ln>
                <a:noFill/>
              </a:ln>
              <a:solidFill>
                <a:schemeClr val="tx1">
                  <a:tint val="75000"/>
                </a:schemeClr>
              </a:solidFill>
              <a:effectLst/>
              <a:uLnTx/>
              <a:uFillTx/>
              <a:latin typeface="+mn-lt"/>
              <a:ea typeface="+mn-ea"/>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tx1">
                  <a:tint val="75000"/>
                </a:schemeClr>
              </a:solidFill>
              <a:effectLst/>
              <a:uLnTx/>
              <a:uFillTx/>
              <a:latin typeface="Arial" panose="020B0604020202020204" pitchFamily="34" charset="0"/>
              <a:ea typeface="微软雅黑" panose="020B0503020204020204" pitchFamily="34" charset="-122"/>
              <a:cs typeface="+mn-cs"/>
            </a:endParaRPr>
          </a:p>
        </p:txBody>
      </p:sp>
      <p:sp>
        <p:nvSpPr>
          <p:cNvPr id="5" name="灯片编号占位符 4"/>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9A0F3353-2E0D-4401-A8A8-7B176D3407B0}" type="slidenum">
              <a:rPr kumimoji="0" lang="zh-CN" altLang="en-US" sz="1200" b="0" i="0" u="none" strike="noStrike" kern="1200" cap="none" spc="0" normalizeH="0" baseline="0" noProof="0" smtClean="0">
                <a:ln>
                  <a:noFill/>
                </a:ln>
                <a:solidFill>
                  <a:srgbClr val="898989"/>
                </a:solidFill>
                <a:effectLst/>
                <a:uLnTx/>
                <a:uFillTx/>
                <a:latin typeface="Arial" panose="020B0604020202020204" pitchFamily="34" charset="0"/>
                <a:ea typeface="微软雅黑" panose="020B0503020204020204" pitchFamily="34" charset="-122"/>
                <a:cs typeface="+mn-cs"/>
              </a:rPr>
            </a:fld>
            <a:endParaRPr kumimoji="0" lang="zh-CN" altLang="en-US" sz="1200" b="0" i="0" u="none" strike="noStrike" kern="1200" cap="none" spc="0" normalizeH="0" baseline="0" noProof="0">
              <a:ln>
                <a:noFill/>
              </a:ln>
              <a:solidFill>
                <a:srgbClr val="898989"/>
              </a:solidFill>
              <a:effectLst/>
              <a:uLnTx/>
              <a:uFillTx/>
              <a:latin typeface="Arial" panose="020B0604020202020204" pitchFamily="34" charset="0"/>
              <a:ea typeface="微软雅黑" panose="020B0503020204020204" pitchFamily="34" charset="-122"/>
              <a:cs typeface="+mn-cs"/>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auto" latinLnBrk="0" hangingPunct="1">
              <a:lnSpc>
                <a:spcPct val="100000"/>
              </a:lnSpc>
              <a:spcBef>
                <a:spcPct val="0"/>
              </a:spcBef>
              <a:spcAft>
                <a:spcPct val="0"/>
              </a:spcAft>
              <a:buClrTx/>
              <a:buSzTx/>
              <a:buFontTx/>
              <a:buNone/>
              <a:defRPr/>
            </a:pPr>
            <a:fld id="{EA35D8CA-0BF3-4FB4-81DB-9D153400B8C1}" type="datetimeFigureOut">
              <a:rPr kumimoji="0" lang="zh-CN" altLang="en-US" sz="1200" b="0" i="0" u="none" strike="noStrike" kern="1200" cap="none" spc="0" normalizeH="0" baseline="0" noProof="1">
                <a:ln>
                  <a:noFill/>
                </a:ln>
                <a:solidFill>
                  <a:schemeClr val="tx1">
                    <a:tint val="75000"/>
                  </a:schemeClr>
                </a:solidFill>
                <a:effectLst/>
                <a:uLnTx/>
                <a:uFillTx/>
                <a:latin typeface="+mn-lt"/>
                <a:ea typeface="+mn-ea"/>
                <a:cs typeface="+mn-cs"/>
              </a:rPr>
            </a:fld>
            <a:endParaRPr kumimoji="0" lang="zh-CN" altLang="en-US" sz="1200" b="0" i="0" u="none" strike="noStrike" kern="1200" cap="none" spc="0" normalizeH="0" baseline="0" noProof="1">
              <a:ln>
                <a:noFill/>
              </a:ln>
              <a:solidFill>
                <a:schemeClr val="tx1">
                  <a:tint val="75000"/>
                </a:schemeClr>
              </a:solidFill>
              <a:effectLst/>
              <a:uLnTx/>
              <a:uFillTx/>
              <a:latin typeface="+mn-lt"/>
              <a:ea typeface="+mn-ea"/>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tx1">
                  <a:tint val="75000"/>
                </a:schemeClr>
              </a:solidFill>
              <a:effectLst/>
              <a:uLnTx/>
              <a:uFillTx/>
              <a:latin typeface="Arial" panose="020B0604020202020204" pitchFamily="34" charset="0"/>
              <a:ea typeface="微软雅黑" panose="020B0503020204020204" pitchFamily="34" charset="-122"/>
              <a:cs typeface="+mn-cs"/>
            </a:endParaRPr>
          </a:p>
        </p:txBody>
      </p:sp>
      <p:sp>
        <p:nvSpPr>
          <p:cNvPr id="4" name="灯片编号占位符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9A0F3353-2E0D-4401-A8A8-7B176D3407B0}" type="slidenum">
              <a:rPr kumimoji="0" lang="zh-CN" altLang="en-US" sz="1200" b="0" i="0" u="none" strike="noStrike" kern="1200" cap="none" spc="0" normalizeH="0" baseline="0" noProof="0" smtClean="0">
                <a:ln>
                  <a:noFill/>
                </a:ln>
                <a:solidFill>
                  <a:srgbClr val="898989"/>
                </a:solidFill>
                <a:effectLst/>
                <a:uLnTx/>
                <a:uFillTx/>
                <a:latin typeface="Arial" panose="020B0604020202020204" pitchFamily="34" charset="0"/>
                <a:ea typeface="微软雅黑" panose="020B0503020204020204" pitchFamily="34" charset="-122"/>
                <a:cs typeface="+mn-cs"/>
              </a:rPr>
            </a:fld>
            <a:endParaRPr kumimoji="0" lang="zh-CN" altLang="en-US" sz="1200" b="0" i="0" u="none" strike="noStrike" kern="1200" cap="none" spc="0" normalizeH="0" baseline="0" noProof="0">
              <a:ln>
                <a:noFill/>
              </a:ln>
              <a:solidFill>
                <a:srgbClr val="898989"/>
              </a:solidFill>
              <a:effectLst/>
              <a:uLnTx/>
              <a:uFillTx/>
              <a:latin typeface="Arial" panose="020B0604020202020204" pitchFamily="34" charset="0"/>
              <a:ea typeface="微软雅黑" panose="020B0503020204020204" pitchFamily="34" charset="-122"/>
              <a:cs typeface="+mn-cs"/>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内容与标题">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auto" latinLnBrk="0" hangingPunct="1">
              <a:lnSpc>
                <a:spcPct val="100000"/>
              </a:lnSpc>
              <a:spcBef>
                <a:spcPct val="0"/>
              </a:spcBef>
              <a:spcAft>
                <a:spcPct val="0"/>
              </a:spcAft>
              <a:buClrTx/>
              <a:buSzTx/>
              <a:buFontTx/>
              <a:buNone/>
              <a:defRPr/>
            </a:pPr>
            <a:fld id="{EA35D8CA-0BF3-4FB4-81DB-9D153400B8C1}" type="datetimeFigureOut">
              <a:rPr kumimoji="0" lang="zh-CN" altLang="en-US" sz="1200" b="0" i="0" u="none" strike="noStrike" kern="1200" cap="none" spc="0" normalizeH="0" baseline="0" noProof="1">
                <a:ln>
                  <a:noFill/>
                </a:ln>
                <a:solidFill>
                  <a:schemeClr val="tx1">
                    <a:tint val="75000"/>
                  </a:schemeClr>
                </a:solidFill>
                <a:effectLst/>
                <a:uLnTx/>
                <a:uFillTx/>
                <a:latin typeface="+mn-lt"/>
                <a:ea typeface="+mn-ea"/>
                <a:cs typeface="+mn-cs"/>
              </a:rPr>
            </a:fld>
            <a:endParaRPr kumimoji="0" lang="zh-CN" altLang="en-US" sz="1200" b="0" i="0" u="none" strike="noStrike" kern="1200" cap="none" spc="0" normalizeH="0" baseline="0" noProof="1">
              <a:ln>
                <a:noFill/>
              </a:ln>
              <a:solidFill>
                <a:schemeClr val="tx1">
                  <a:tint val="75000"/>
                </a:schemeClr>
              </a:solidFill>
              <a:effectLst/>
              <a:uLnTx/>
              <a:uFillTx/>
              <a:latin typeface="+mn-lt"/>
              <a:ea typeface="+mn-ea"/>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tx1">
                  <a:tint val="75000"/>
                </a:schemeClr>
              </a:solidFill>
              <a:effectLst/>
              <a:uLnTx/>
              <a:uFillTx/>
              <a:latin typeface="Arial" panose="020B0604020202020204" pitchFamily="34" charset="0"/>
              <a:ea typeface="微软雅黑" panose="020B0503020204020204" pitchFamily="34" charset="-122"/>
              <a:cs typeface="+mn-cs"/>
            </a:endParaRPr>
          </a:p>
        </p:txBody>
      </p:sp>
      <p:sp>
        <p:nvSpPr>
          <p:cNvPr id="4" name="灯片编号占位符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9A0F3353-2E0D-4401-A8A8-7B176D3407B0}" type="slidenum">
              <a:rPr kumimoji="0" lang="zh-CN" altLang="en-US" sz="1200" b="0" i="0" u="none" strike="noStrike" kern="1200" cap="none" spc="0" normalizeH="0" baseline="0" noProof="0" smtClean="0">
                <a:ln>
                  <a:noFill/>
                </a:ln>
                <a:solidFill>
                  <a:srgbClr val="898989"/>
                </a:solidFill>
                <a:effectLst/>
                <a:uLnTx/>
                <a:uFillTx/>
                <a:latin typeface="Arial" panose="020B0604020202020204" pitchFamily="34" charset="0"/>
                <a:ea typeface="微软雅黑" panose="020B0503020204020204" pitchFamily="34" charset="-122"/>
                <a:cs typeface="+mn-cs"/>
              </a:rPr>
            </a:fld>
            <a:endParaRPr kumimoji="0" lang="zh-CN" altLang="en-US" sz="1200" b="0" i="0" u="none" strike="noStrike" kern="1200" cap="none" spc="0" normalizeH="0" baseline="0" noProof="0">
              <a:ln>
                <a:noFill/>
              </a:ln>
              <a:solidFill>
                <a:srgbClr val="898989"/>
              </a:solidFill>
              <a:effectLst/>
              <a:uLnTx/>
              <a:uFillTx/>
              <a:latin typeface="Arial" panose="020B0604020202020204" pitchFamily="34" charset="0"/>
              <a:ea typeface="微软雅黑" panose="020B0503020204020204" pitchFamily="34" charset="-122"/>
              <a:cs typeface="+mn-cs"/>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auto" latinLnBrk="0" hangingPunct="1">
              <a:lnSpc>
                <a:spcPct val="100000"/>
              </a:lnSpc>
              <a:spcBef>
                <a:spcPct val="0"/>
              </a:spcBef>
              <a:spcAft>
                <a:spcPct val="0"/>
              </a:spcAft>
              <a:buClrTx/>
              <a:buSzTx/>
              <a:buFontTx/>
              <a:buNone/>
              <a:defRPr/>
            </a:pPr>
            <a:fld id="{EA35D8CA-0BF3-4FB4-81DB-9D153400B8C1}" type="datetimeFigureOut">
              <a:rPr kumimoji="0" lang="zh-CN" altLang="en-US" sz="1200" b="0" i="0" u="none" strike="noStrike" kern="1200" cap="none" spc="0" normalizeH="0" baseline="0" noProof="1">
                <a:ln>
                  <a:noFill/>
                </a:ln>
                <a:solidFill>
                  <a:schemeClr val="tx1">
                    <a:tint val="75000"/>
                  </a:schemeClr>
                </a:solidFill>
                <a:effectLst/>
                <a:uLnTx/>
                <a:uFillTx/>
                <a:latin typeface="+mn-lt"/>
                <a:ea typeface="+mn-ea"/>
                <a:cs typeface="+mn-cs"/>
              </a:rPr>
            </a:fld>
            <a:endParaRPr kumimoji="0" lang="zh-CN" altLang="en-US" sz="1200" b="0" i="0" u="none" strike="noStrike" kern="1200" cap="none" spc="0" normalizeH="0" baseline="0" noProof="1">
              <a:ln>
                <a:noFill/>
              </a:ln>
              <a:solidFill>
                <a:schemeClr val="tx1">
                  <a:tint val="75000"/>
                </a:schemeClr>
              </a:solidFill>
              <a:effectLst/>
              <a:uLnTx/>
              <a:uFillTx/>
              <a:latin typeface="+mn-lt"/>
              <a:ea typeface="+mn-ea"/>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tx1">
                  <a:tint val="75000"/>
                </a:schemeClr>
              </a:solidFill>
              <a:effectLst/>
              <a:uLnTx/>
              <a:uFillTx/>
              <a:latin typeface="Arial" panose="020B0604020202020204" pitchFamily="34" charset="0"/>
              <a:ea typeface="微软雅黑" panose="020B0503020204020204" pitchFamily="34" charset="-122"/>
              <a:cs typeface="+mn-cs"/>
            </a:endParaRPr>
          </a:p>
        </p:txBody>
      </p:sp>
      <p:sp>
        <p:nvSpPr>
          <p:cNvPr id="4" name="灯片编号占位符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9A0F3353-2E0D-4401-A8A8-7B176D3407B0}" type="slidenum">
              <a:rPr kumimoji="0" lang="zh-CN" altLang="en-US" sz="1200" b="0" i="0" u="none" strike="noStrike" kern="1200" cap="none" spc="0" normalizeH="0" baseline="0" noProof="0" smtClean="0">
                <a:ln>
                  <a:noFill/>
                </a:ln>
                <a:solidFill>
                  <a:srgbClr val="898989"/>
                </a:solidFill>
                <a:effectLst/>
                <a:uLnTx/>
                <a:uFillTx/>
                <a:latin typeface="Arial" panose="020B0604020202020204" pitchFamily="34" charset="0"/>
                <a:ea typeface="微软雅黑" panose="020B0503020204020204" pitchFamily="34" charset="-122"/>
                <a:cs typeface="+mn-cs"/>
              </a:rPr>
            </a:fld>
            <a:endParaRPr kumimoji="0" lang="zh-CN" altLang="en-US" sz="1200" b="0" i="0" u="none" strike="noStrike" kern="1200" cap="none" spc="0" normalizeH="0" baseline="0" noProof="0">
              <a:ln>
                <a:noFill/>
              </a:ln>
              <a:solidFill>
                <a:srgbClr val="898989"/>
              </a:solidFill>
              <a:effectLst/>
              <a:uLnTx/>
              <a:uFillTx/>
              <a:latin typeface="Arial" panose="020B0604020202020204" pitchFamily="34" charset="0"/>
              <a:ea typeface="微软雅黑" panose="020B0503020204020204" pitchFamily="34" charset="-122"/>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标题和竖排文字">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auto" latinLnBrk="0" hangingPunct="1">
              <a:lnSpc>
                <a:spcPct val="100000"/>
              </a:lnSpc>
              <a:spcBef>
                <a:spcPct val="0"/>
              </a:spcBef>
              <a:spcAft>
                <a:spcPct val="0"/>
              </a:spcAft>
              <a:buClrTx/>
              <a:buSzTx/>
              <a:buFontTx/>
              <a:buNone/>
              <a:defRPr/>
            </a:pPr>
            <a:fld id="{EA35D8CA-0BF3-4FB4-81DB-9D153400B8C1}" type="datetimeFigureOut">
              <a:rPr kumimoji="0" lang="zh-CN" altLang="en-US" sz="1200" b="0" i="0" u="none" strike="noStrike" kern="1200" cap="none" spc="0" normalizeH="0" baseline="0" noProof="1">
                <a:ln>
                  <a:noFill/>
                </a:ln>
                <a:solidFill>
                  <a:schemeClr val="tx1">
                    <a:tint val="75000"/>
                  </a:schemeClr>
                </a:solidFill>
                <a:effectLst/>
                <a:uLnTx/>
                <a:uFillTx/>
                <a:latin typeface="+mn-lt"/>
                <a:ea typeface="+mn-ea"/>
                <a:cs typeface="+mn-cs"/>
              </a:rPr>
            </a:fld>
            <a:endParaRPr kumimoji="0" lang="zh-CN" altLang="en-US" sz="1200" b="0" i="0" u="none" strike="noStrike" kern="1200" cap="none" spc="0" normalizeH="0" baseline="0" noProof="1">
              <a:ln>
                <a:noFill/>
              </a:ln>
              <a:solidFill>
                <a:schemeClr val="tx1">
                  <a:tint val="75000"/>
                </a:schemeClr>
              </a:solidFill>
              <a:effectLst/>
              <a:uLnTx/>
              <a:uFillTx/>
              <a:latin typeface="+mn-lt"/>
              <a:ea typeface="+mn-ea"/>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tx1">
                  <a:tint val="75000"/>
                </a:schemeClr>
              </a:solidFill>
              <a:effectLst/>
              <a:uLnTx/>
              <a:uFillTx/>
              <a:latin typeface="Arial" panose="020B0604020202020204" pitchFamily="34" charset="0"/>
              <a:ea typeface="微软雅黑" panose="020B0503020204020204" pitchFamily="34" charset="-122"/>
              <a:cs typeface="+mn-cs"/>
            </a:endParaRPr>
          </a:p>
        </p:txBody>
      </p:sp>
      <p:sp>
        <p:nvSpPr>
          <p:cNvPr id="4" name="灯片编号占位符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9A0F3353-2E0D-4401-A8A8-7B176D3407B0}" type="slidenum">
              <a:rPr kumimoji="0" lang="zh-CN" altLang="en-US" sz="1200" b="0" i="0" u="none" strike="noStrike" kern="1200" cap="none" spc="0" normalizeH="0" baseline="0" noProof="0" smtClean="0">
                <a:ln>
                  <a:noFill/>
                </a:ln>
                <a:solidFill>
                  <a:srgbClr val="898989"/>
                </a:solidFill>
                <a:effectLst/>
                <a:uLnTx/>
                <a:uFillTx/>
                <a:latin typeface="Arial" panose="020B0604020202020204" pitchFamily="34" charset="0"/>
                <a:ea typeface="微软雅黑" panose="020B0503020204020204" pitchFamily="34" charset="-122"/>
                <a:cs typeface="+mn-cs"/>
              </a:rPr>
            </a:fld>
            <a:endParaRPr kumimoji="0" lang="zh-CN" altLang="en-US" sz="1200" b="0" i="0" u="none" strike="noStrike" kern="1200" cap="none" spc="0" normalizeH="0" baseline="0" noProof="0">
              <a:ln>
                <a:noFill/>
              </a:ln>
              <a:solidFill>
                <a:srgbClr val="898989"/>
              </a:solidFill>
              <a:effectLst/>
              <a:uLnTx/>
              <a:uFillTx/>
              <a:latin typeface="Arial" panose="020B0604020202020204" pitchFamily="34" charset="0"/>
              <a:ea typeface="微软雅黑" panose="020B0503020204020204" pitchFamily="34" charset="-122"/>
              <a:cs typeface="+mn-cs"/>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垂直排列标题与&#10;文本">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auto" latinLnBrk="0" hangingPunct="1">
              <a:lnSpc>
                <a:spcPct val="100000"/>
              </a:lnSpc>
              <a:spcBef>
                <a:spcPct val="0"/>
              </a:spcBef>
              <a:spcAft>
                <a:spcPct val="0"/>
              </a:spcAft>
              <a:buClrTx/>
              <a:buSzTx/>
              <a:buFontTx/>
              <a:buNone/>
              <a:defRPr/>
            </a:pPr>
            <a:fld id="{EA35D8CA-0BF3-4FB4-81DB-9D153400B8C1}" type="datetimeFigureOut">
              <a:rPr kumimoji="0" lang="zh-CN" altLang="en-US" sz="1200" b="0" i="0" u="none" strike="noStrike" kern="1200" cap="none" spc="0" normalizeH="0" baseline="0" noProof="1">
                <a:ln>
                  <a:noFill/>
                </a:ln>
                <a:solidFill>
                  <a:schemeClr val="tx1">
                    <a:tint val="75000"/>
                  </a:schemeClr>
                </a:solidFill>
                <a:effectLst/>
                <a:uLnTx/>
                <a:uFillTx/>
                <a:latin typeface="+mn-lt"/>
                <a:ea typeface="+mn-ea"/>
                <a:cs typeface="+mn-cs"/>
              </a:rPr>
            </a:fld>
            <a:endParaRPr kumimoji="0" lang="zh-CN" altLang="en-US" sz="1200" b="0" i="0" u="none" strike="noStrike" kern="1200" cap="none" spc="0" normalizeH="0" baseline="0" noProof="1">
              <a:ln>
                <a:noFill/>
              </a:ln>
              <a:solidFill>
                <a:schemeClr val="tx1">
                  <a:tint val="75000"/>
                </a:schemeClr>
              </a:solidFill>
              <a:effectLst/>
              <a:uLnTx/>
              <a:uFillTx/>
              <a:latin typeface="+mn-lt"/>
              <a:ea typeface="+mn-ea"/>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tx1">
                  <a:tint val="75000"/>
                </a:schemeClr>
              </a:solidFill>
              <a:effectLst/>
              <a:uLnTx/>
              <a:uFillTx/>
              <a:latin typeface="Arial" panose="020B0604020202020204" pitchFamily="34" charset="0"/>
              <a:ea typeface="微软雅黑" panose="020B0503020204020204" pitchFamily="34" charset="-122"/>
              <a:cs typeface="+mn-cs"/>
            </a:endParaRPr>
          </a:p>
        </p:txBody>
      </p:sp>
      <p:sp>
        <p:nvSpPr>
          <p:cNvPr id="4" name="灯片编号占位符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9A0F3353-2E0D-4401-A8A8-7B176D3407B0}" type="slidenum">
              <a:rPr kumimoji="0" lang="zh-CN" altLang="en-US" sz="1200" b="0" i="0" u="none" strike="noStrike" kern="1200" cap="none" spc="0" normalizeH="0" baseline="0" noProof="0" smtClean="0">
                <a:ln>
                  <a:noFill/>
                </a:ln>
                <a:solidFill>
                  <a:srgbClr val="898989"/>
                </a:solidFill>
                <a:effectLst/>
                <a:uLnTx/>
                <a:uFillTx/>
                <a:latin typeface="Arial" panose="020B0604020202020204" pitchFamily="34" charset="0"/>
                <a:ea typeface="微软雅黑" panose="020B0503020204020204" pitchFamily="34" charset="-122"/>
                <a:cs typeface="+mn-cs"/>
              </a:rPr>
            </a:fld>
            <a:endParaRPr kumimoji="0" lang="zh-CN" altLang="en-US" sz="1200" b="0" i="0" u="none" strike="noStrike" kern="1200" cap="none" spc="0" normalizeH="0" baseline="0" noProof="0">
              <a:ln>
                <a:noFill/>
              </a:ln>
              <a:solidFill>
                <a:srgbClr val="898989"/>
              </a:solidFill>
              <a:effectLst/>
              <a:uLnTx/>
              <a:uFillTx/>
              <a:latin typeface="Arial" panose="020B0604020202020204" pitchFamily="34" charset="0"/>
              <a:ea typeface="微软雅黑" panose="020B0503020204020204" pitchFamily="34" charset="-122"/>
              <a:cs typeface="+mn-cs"/>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标题占位符 1"/>
          <p:cNvSpPr>
            <a:spLocks noGrp="1"/>
          </p:cNvSpPr>
          <p:nvPr>
            <p:ph type="title"/>
          </p:nvPr>
        </p:nvSpPr>
        <p:spPr>
          <a:xfrm>
            <a:off x="838200" y="365125"/>
            <a:ext cx="10515600" cy="1325563"/>
          </a:xfrm>
          <a:prstGeom prst="rect">
            <a:avLst/>
          </a:prstGeom>
          <a:noFill/>
          <a:ln w="9525">
            <a:noFill/>
          </a:ln>
        </p:spPr>
        <p:txBody>
          <a:bodyPr anchor="ctr" anchorCtr="0"/>
          <a:lstStyle/>
          <a:p>
            <a:pPr lvl="0"/>
            <a:r>
              <a:rPr lang="zh-CN" altLang="en-US" dirty="0"/>
              <a:t>单击此处编辑母版标题样式</a:t>
            </a:r>
            <a:endParaRPr lang="zh-CN" altLang="en-US" dirty="0"/>
          </a:p>
        </p:txBody>
      </p:sp>
      <p:sp>
        <p:nvSpPr>
          <p:cNvPr id="1027" name="文本占位符 2"/>
          <p:cNvSpPr>
            <a:spLocks noGrp="1"/>
          </p:cNvSpPr>
          <p:nvPr>
            <p:ph type="body"/>
          </p:nvPr>
        </p:nvSpPr>
        <p:spPr>
          <a:xfrm>
            <a:off x="838200" y="1825625"/>
            <a:ext cx="10515600" cy="4351338"/>
          </a:xfrm>
          <a:prstGeom prst="rect">
            <a:avLst/>
          </a:prstGeom>
          <a:noFill/>
          <a:ln w="9525">
            <a:noFill/>
          </a:ln>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fontAlgn="auto">
              <a:defRPr sz="1200" noProof="1" smtClean="0">
                <a:solidFill>
                  <a:schemeClr val="tx1">
                    <a:tint val="75000"/>
                  </a:schemeClr>
                </a:solidFill>
                <a:latin typeface="+mn-lt"/>
                <a:ea typeface="+mn-ea"/>
              </a:defRPr>
            </a:lvl1pPr>
          </a:lstStyle>
          <a:p>
            <a:pPr marL="0" marR="0" lvl="0" indent="0" algn="l" defTabSz="914400" rtl="0" eaLnBrk="1" fontAlgn="auto" latinLnBrk="0" hangingPunct="1">
              <a:lnSpc>
                <a:spcPct val="100000"/>
              </a:lnSpc>
              <a:spcBef>
                <a:spcPct val="0"/>
              </a:spcBef>
              <a:spcAft>
                <a:spcPct val="0"/>
              </a:spcAft>
              <a:buClrTx/>
              <a:buSzTx/>
              <a:buFontTx/>
              <a:buNone/>
              <a:defRPr/>
            </a:pPr>
            <a:fld id="{EA35D8CA-0BF3-4FB4-81DB-9D153400B8C1}" type="datetimeFigureOut">
              <a:rPr kumimoji="0" lang="zh-CN" altLang="en-US" sz="1200" b="0" i="0" u="none" strike="noStrike" kern="1200" cap="none" spc="0" normalizeH="0" baseline="0" noProof="1">
                <a:ln>
                  <a:noFill/>
                </a:ln>
                <a:solidFill>
                  <a:schemeClr val="tx1">
                    <a:tint val="75000"/>
                  </a:schemeClr>
                </a:solidFill>
                <a:effectLst/>
                <a:uLnTx/>
                <a:uFillTx/>
                <a:latin typeface="+mn-lt"/>
                <a:ea typeface="+mn-ea"/>
                <a:cs typeface="+mn-cs"/>
              </a:rPr>
            </a:fld>
            <a:endParaRPr kumimoji="0" lang="zh-CN" altLang="en-US" sz="1200" b="0" i="0" u="none" strike="noStrike" kern="1200" cap="none" spc="0" normalizeH="0" baseline="0" noProof="1">
              <a:ln>
                <a:noFill/>
              </a:ln>
              <a:solidFill>
                <a:schemeClr val="tx1">
                  <a:tint val="75000"/>
                </a:schemeClr>
              </a:solidFill>
              <a:effectLst/>
              <a:uLnTx/>
              <a:uFillTx/>
              <a:latin typeface="+mn-lt"/>
              <a:ea typeface="+mn-ea"/>
              <a:cs typeface="+mn-cs"/>
            </a:endParaRPr>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fontAlgn="auto">
              <a:defRPr sz="1200" noProof="1">
                <a:solidFill>
                  <a:schemeClr val="tx1">
                    <a:tint val="75000"/>
                  </a:schemeClr>
                </a:solidFill>
              </a:defRPr>
            </a:lvl1p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tx1">
                  <a:tint val="75000"/>
                </a:schemeClr>
              </a:solidFill>
              <a:effectLst/>
              <a:uLnTx/>
              <a:uFillTx/>
              <a:latin typeface="Arial" panose="020B0604020202020204" pitchFamily="34" charset="0"/>
              <a:ea typeface="微软雅黑" panose="020B0503020204020204" pitchFamily="34" charset="-122"/>
              <a:cs typeface="+mn-cs"/>
            </a:endParaRPr>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wrap="square" lIns="91440" tIns="45720" rIns="91440" bIns="45720" numCol="1" anchor="ctr" anchorCtr="0" compatLnSpc="1"/>
          <a:lstStyle>
            <a:lvl1pPr algn="r">
              <a:defRPr sz="1200">
                <a:solidFill>
                  <a:srgbClr val="898989"/>
                </a:solidFill>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9A0F3353-2E0D-4401-A8A8-7B176D3407B0}" type="slidenum">
              <a:rPr kumimoji="0" lang="zh-CN" altLang="en-US" sz="1200" b="0" i="0" u="none" strike="noStrike" kern="1200" cap="none" spc="0" normalizeH="0" baseline="0" noProof="0" smtClean="0">
                <a:ln>
                  <a:noFill/>
                </a:ln>
                <a:solidFill>
                  <a:srgbClr val="898989"/>
                </a:solidFill>
                <a:effectLst/>
                <a:uLnTx/>
                <a:uFillTx/>
                <a:latin typeface="Arial" panose="020B0604020202020204" pitchFamily="34" charset="0"/>
                <a:ea typeface="微软雅黑" panose="020B0503020204020204" pitchFamily="34" charset="-122"/>
                <a:cs typeface="+mn-cs"/>
              </a:rPr>
            </a:fld>
            <a:endParaRPr kumimoji="0" lang="zh-CN" altLang="en-US" sz="1200" b="0" i="0" u="none" strike="noStrike" kern="1200" cap="none" spc="0" normalizeH="0" baseline="0" noProof="0">
              <a:ln>
                <a:noFill/>
              </a:ln>
              <a:solidFill>
                <a:srgbClr val="898989"/>
              </a:solidFill>
              <a:effectLst/>
              <a:uLnTx/>
              <a:uFillTx/>
              <a:latin typeface="Arial" panose="020B0604020202020204" pitchFamily="34" charset="0"/>
              <a:ea typeface="微软雅黑" panose="020B0503020204020204" pitchFamily="34" charset="-122"/>
              <a:cs typeface="+mn-cs"/>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Arial" panose="020B0604020202020204" pitchFamily="34" charset="0"/>
          <a:ea typeface="微软雅黑" panose="020B0503020204020204" pitchFamily="34" charset="-122"/>
        </a:defRPr>
      </a:lvl2pPr>
      <a:lvl3pPr algn="l" rtl="0" eaLnBrk="0" fontAlgn="base" hangingPunct="0">
        <a:lnSpc>
          <a:spcPct val="90000"/>
        </a:lnSpc>
        <a:spcBef>
          <a:spcPct val="0"/>
        </a:spcBef>
        <a:spcAft>
          <a:spcPct val="0"/>
        </a:spcAft>
        <a:defRPr sz="4400">
          <a:solidFill>
            <a:schemeClr val="tx1"/>
          </a:solidFill>
          <a:latin typeface="Arial" panose="020B0604020202020204" pitchFamily="34" charset="0"/>
          <a:ea typeface="微软雅黑" panose="020B0503020204020204" pitchFamily="34" charset="-122"/>
        </a:defRPr>
      </a:lvl3pPr>
      <a:lvl4pPr algn="l" rtl="0" eaLnBrk="0" fontAlgn="base" hangingPunct="0">
        <a:lnSpc>
          <a:spcPct val="90000"/>
        </a:lnSpc>
        <a:spcBef>
          <a:spcPct val="0"/>
        </a:spcBef>
        <a:spcAft>
          <a:spcPct val="0"/>
        </a:spcAft>
        <a:defRPr sz="4400">
          <a:solidFill>
            <a:schemeClr val="tx1"/>
          </a:solidFill>
          <a:latin typeface="Arial" panose="020B0604020202020204" pitchFamily="34" charset="0"/>
          <a:ea typeface="微软雅黑" panose="020B0503020204020204" pitchFamily="34" charset="-122"/>
        </a:defRPr>
      </a:lvl4pPr>
      <a:lvl5pPr algn="l" rtl="0" eaLnBrk="0" fontAlgn="base" hangingPunct="0">
        <a:lnSpc>
          <a:spcPct val="90000"/>
        </a:lnSpc>
        <a:spcBef>
          <a:spcPct val="0"/>
        </a:spcBef>
        <a:spcAft>
          <a:spcPct val="0"/>
        </a:spcAft>
        <a:defRPr sz="4400">
          <a:solidFill>
            <a:schemeClr val="tx1"/>
          </a:solidFill>
          <a:latin typeface="Arial" panose="020B0604020202020204" pitchFamily="34" charset="0"/>
          <a:ea typeface="微软雅黑" panose="020B0503020204020204" pitchFamily="34" charset="-122"/>
        </a:defRPr>
      </a:lvl5pPr>
      <a:lvl6pPr marL="457200" algn="l" rtl="0" fontAlgn="base">
        <a:lnSpc>
          <a:spcPct val="90000"/>
        </a:lnSpc>
        <a:spcBef>
          <a:spcPct val="0"/>
        </a:spcBef>
        <a:spcAft>
          <a:spcPct val="0"/>
        </a:spcAft>
        <a:defRPr sz="4400">
          <a:solidFill>
            <a:schemeClr val="tx1"/>
          </a:solidFill>
          <a:latin typeface="Arial" panose="020B0604020202020204" pitchFamily="34" charset="0"/>
          <a:ea typeface="微软雅黑" panose="020B0503020204020204" pitchFamily="34" charset="-122"/>
        </a:defRPr>
      </a:lvl6pPr>
      <a:lvl7pPr marL="914400" algn="l" rtl="0" fontAlgn="base">
        <a:lnSpc>
          <a:spcPct val="90000"/>
        </a:lnSpc>
        <a:spcBef>
          <a:spcPct val="0"/>
        </a:spcBef>
        <a:spcAft>
          <a:spcPct val="0"/>
        </a:spcAft>
        <a:defRPr sz="4400">
          <a:solidFill>
            <a:schemeClr val="tx1"/>
          </a:solidFill>
          <a:latin typeface="Arial" panose="020B0604020202020204" pitchFamily="34" charset="0"/>
          <a:ea typeface="微软雅黑" panose="020B0503020204020204" pitchFamily="34" charset="-122"/>
        </a:defRPr>
      </a:lvl7pPr>
      <a:lvl8pPr marL="1371600" algn="l" rtl="0" fontAlgn="base">
        <a:lnSpc>
          <a:spcPct val="90000"/>
        </a:lnSpc>
        <a:spcBef>
          <a:spcPct val="0"/>
        </a:spcBef>
        <a:spcAft>
          <a:spcPct val="0"/>
        </a:spcAft>
        <a:defRPr sz="4400">
          <a:solidFill>
            <a:schemeClr val="tx1"/>
          </a:solidFill>
          <a:latin typeface="Arial" panose="020B0604020202020204" pitchFamily="34" charset="0"/>
          <a:ea typeface="微软雅黑" panose="020B0503020204020204" pitchFamily="34" charset="-122"/>
        </a:defRPr>
      </a:lvl8pPr>
      <a:lvl9pPr marL="1828800" algn="l" rtl="0" fontAlgn="base">
        <a:lnSpc>
          <a:spcPct val="90000"/>
        </a:lnSpc>
        <a:spcBef>
          <a:spcPct val="0"/>
        </a:spcBef>
        <a:spcAft>
          <a:spcPct val="0"/>
        </a:spcAft>
        <a:defRPr sz="4400">
          <a:solidFill>
            <a:schemeClr val="tx1"/>
          </a:solidFill>
          <a:latin typeface="Arial" panose="020B0604020202020204" pitchFamily="34" charset="0"/>
          <a:ea typeface="微软雅黑" panose="020B0503020204020204" pitchFamily="34" charset="-122"/>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7" Type="http://schemas.openxmlformats.org/officeDocument/2006/relationships/notesSlide" Target="../notesSlides/notesSlide1.xml"/><Relationship Id="rId6"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 Id="rId3" Type="http://schemas.openxmlformats.org/officeDocument/2006/relationships/customXml" Target="../ink/ink2.xml"/><Relationship Id="rId2" Type="http://schemas.openxmlformats.org/officeDocument/2006/relationships/image" Target="../media/image1.png"/><Relationship Id="rId1" Type="http://schemas.openxmlformats.org/officeDocument/2006/relationships/customXml" Target="../ink/ink1.xml"/></Relationships>
</file>

<file path=ppt/slides/_rels/slide2.xml.rels><?xml version="1.0" encoding="UTF-8" standalone="yes"?>
<Relationships xmlns="http://schemas.openxmlformats.org/package/2006/relationships"><Relationship Id="rId7" Type="http://schemas.openxmlformats.org/officeDocument/2006/relationships/notesSlide" Target="../notesSlides/notesSlide2.xml"/><Relationship Id="rId6" Type="http://schemas.openxmlformats.org/officeDocument/2006/relationships/slideLayout" Target="../slideLayouts/slideLayout2.xml"/><Relationship Id="rId5" Type="http://schemas.microsoft.com/office/2007/relationships/diagramDrawing" Target="../diagrams/drawing1.xml"/><Relationship Id="rId4" Type="http://schemas.openxmlformats.org/officeDocument/2006/relationships/diagramColors" Target="../diagrams/colors1.xml"/><Relationship Id="rId3" Type="http://schemas.openxmlformats.org/officeDocument/2006/relationships/diagramQuickStyle" Target="../diagrams/quickStyle1.xml"/><Relationship Id="rId2" Type="http://schemas.openxmlformats.org/officeDocument/2006/relationships/diagramLayout" Target="../diagrams/layout1.xml"/><Relationship Id="rId1" Type="http://schemas.openxmlformats.org/officeDocument/2006/relationships/diagramData" Target="../diagrams/data1.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5.png"/><Relationship Id="rId1"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7.xml"/><Relationship Id="rId1" Type="http://schemas.openxmlformats.org/officeDocument/2006/relationships/image" Target="../media/image6.png"/></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7.xml"/><Relationship Id="rId2" Type="http://schemas.openxmlformats.org/officeDocument/2006/relationships/image" Target="../media/image7.png"/><Relationship Id="rId1"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5.png"/><Relationship Id="rId1" Type="http://schemas.openxmlformats.org/officeDocument/2006/relationships/image" Target="../media/image4.png"/></Relationships>
</file>

<file path=ppt/slides/_rels/slide7.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7.xml"/><Relationship Id="rId2" Type="http://schemas.openxmlformats.org/officeDocument/2006/relationships/image" Target="../media/image8.png"/><Relationship Id="rId1" Type="http://schemas.openxmlformats.org/officeDocument/2006/relationships/image" Target="../media/image6.png"/></Relationships>
</file>

<file path=ppt/slides/_rels/slide8.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7.xml"/><Relationship Id="rId2" Type="http://schemas.openxmlformats.org/officeDocument/2006/relationships/image" Target="../media/image9.png"/><Relationship Id="rId1" Type="http://schemas.openxmlformats.org/officeDocument/2006/relationships/image" Target="../media/image6.png"/></Relationships>
</file>

<file path=ppt/slides/_rels/slide9.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7.xml"/><Relationship Id="rId2" Type="http://schemas.openxmlformats.org/officeDocument/2006/relationships/image" Target="../media/image10.png"/><Relationship Id="rId1" Type="http://schemas.openxmlformats.org/officeDocument/2006/relationships/image" Target="../media/image6.png"/></Relationships>
</file>

<file path=ppt/slides/_rels/slide10.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7.xml"/><Relationship Id="rId2" Type="http://schemas.openxmlformats.org/officeDocument/2006/relationships/image" Target="../media/image5.png"/><Relationship Id="rId1" Type="http://schemas.openxmlformats.org/officeDocument/2006/relationships/image" Target="../media/image4.png"/></Relationships>
</file>

<file path=ppt/slides/_rels/slide11.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7.xml"/><Relationship Id="rId2" Type="http://schemas.openxmlformats.org/officeDocument/2006/relationships/image" Target="../media/image11.png"/><Relationship Id="rId1" Type="http://schemas.openxmlformats.org/officeDocument/2006/relationships/image" Target="../media/image6.png"/></Relationships>
</file>

<file path=ppt/slides/_rels/slide12.xml.rels><?xml version="1.0" encoding="UTF-8" standalone="yes"?>
<Relationships xmlns="http://schemas.openxmlformats.org/package/2006/relationships"><Relationship Id="rId5" Type="http://schemas.openxmlformats.org/officeDocument/2006/relationships/notesSlide" Target="../notesSlides/notesSlide10.xml"/><Relationship Id="rId4" Type="http://schemas.openxmlformats.org/officeDocument/2006/relationships/slideLayout" Target="../slideLayouts/slideLayout7.xml"/><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image" Target="../media/image6.png"/></Relationships>
</file>

<file path=ppt/slides/_rels/slide13.xml.rels><?xml version="1.0" encoding="UTF-8" standalone="yes"?>
<Relationships xmlns="http://schemas.openxmlformats.org/package/2006/relationships"><Relationship Id="rId4" Type="http://schemas.openxmlformats.org/officeDocument/2006/relationships/notesSlide" Target="../notesSlides/notesSlide11.xml"/><Relationship Id="rId3" Type="http://schemas.openxmlformats.org/officeDocument/2006/relationships/slideLayout" Target="../slideLayouts/slideLayout7.xml"/><Relationship Id="rId2" Type="http://schemas.openxmlformats.org/officeDocument/2006/relationships/image" Target="../media/image14.png"/><Relationship Id="rId1" Type="http://schemas.openxmlformats.org/officeDocument/2006/relationships/image" Target="../media/image6.png"/></Relationships>
</file>

<file path=ppt/slides/_rels/slide14.xml.rels><?xml version="1.0" encoding="UTF-8" standalone="yes"?>
<Relationships xmlns="http://schemas.openxmlformats.org/package/2006/relationships"><Relationship Id="rId5" Type="http://schemas.openxmlformats.org/officeDocument/2006/relationships/notesSlide" Target="../notesSlides/notesSlide12.xml"/><Relationship Id="rId4" Type="http://schemas.openxmlformats.org/officeDocument/2006/relationships/slideLayout" Target="../slideLayouts/slideLayout7.xml"/><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image" Target="../media/image6.png"/></Relationships>
</file>

<file path=ppt/slides/_rels/slide15.xml.rels><?xml version="1.0" encoding="UTF-8" standalone="yes"?>
<Relationships xmlns="http://schemas.openxmlformats.org/package/2006/relationships"><Relationship Id="rId4" Type="http://schemas.openxmlformats.org/officeDocument/2006/relationships/notesSlide" Target="../notesSlides/notesSlide13.xml"/><Relationship Id="rId3" Type="http://schemas.openxmlformats.org/officeDocument/2006/relationships/slideLayout" Target="../slideLayouts/slideLayout7.xml"/><Relationship Id="rId2" Type="http://schemas.openxmlformats.org/officeDocument/2006/relationships/image" Target="../media/image6.png"/><Relationship Id="rId1" Type="http://schemas.openxmlformats.org/officeDocument/2006/relationships/image" Target="../media/image17.png"/></Relationships>
</file>

<file path=ppt/slides/_rels/slide16.xml.rels><?xml version="1.0" encoding="UTF-8" standalone="yes"?>
<Relationships xmlns="http://schemas.openxmlformats.org/package/2006/relationships"><Relationship Id="rId7" Type="http://schemas.openxmlformats.org/officeDocument/2006/relationships/notesSlide" Target="../notesSlides/notesSlide14.xml"/><Relationship Id="rId6" Type="http://schemas.openxmlformats.org/officeDocument/2006/relationships/slideLayout" Target="../slideLayouts/slideLayout7.xml"/><Relationship Id="rId5" Type="http://schemas.openxmlformats.org/officeDocument/2006/relationships/image" Target="../media/image21.png"/><Relationship Id="rId4" Type="http://schemas.openxmlformats.org/officeDocument/2006/relationships/image" Target="../media/image20.png"/><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image" Target="../media/image6.png"/></Relationships>
</file>

<file path=ppt/slides/_rels/slide17.xml.rels><?xml version="1.0" encoding="UTF-8" standalone="yes"?>
<Relationships xmlns="http://schemas.openxmlformats.org/package/2006/relationships"><Relationship Id="rId5" Type="http://schemas.openxmlformats.org/officeDocument/2006/relationships/notesSlide" Target="../notesSlides/notesSlide15.xml"/><Relationship Id="rId4" Type="http://schemas.openxmlformats.org/officeDocument/2006/relationships/slideLayout" Target="../slideLayouts/slideLayout7.xml"/><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image" Target="../media/image6.png"/></Relationships>
</file>

<file path=ppt/slides/_rels/slide18.xml.rels><?xml version="1.0" encoding="UTF-8" standalone="yes"?>
<Relationships xmlns="http://schemas.openxmlformats.org/package/2006/relationships"><Relationship Id="rId6" Type="http://schemas.openxmlformats.org/officeDocument/2006/relationships/notesSlide" Target="../notesSlides/notesSlide16.xml"/><Relationship Id="rId5" Type="http://schemas.openxmlformats.org/officeDocument/2006/relationships/slideLayout" Target="../slideLayouts/slideLayout7.xml"/><Relationship Id="rId4" Type="http://schemas.openxmlformats.org/officeDocument/2006/relationships/image" Target="../media/image26.png"/><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image" Target="../media/image6.png"/></Relationships>
</file>

<file path=ppt/slides/_rels/slide19.xml.rels><?xml version="1.0" encoding="UTF-8" standalone="yes"?>
<Relationships xmlns="http://schemas.openxmlformats.org/package/2006/relationships"><Relationship Id="rId4" Type="http://schemas.openxmlformats.org/officeDocument/2006/relationships/notesSlide" Target="../notesSlides/notesSlide17.xml"/><Relationship Id="rId3" Type="http://schemas.openxmlformats.org/officeDocument/2006/relationships/slideLayout" Target="../slideLayouts/slideLayout7.xml"/><Relationship Id="rId2" Type="http://schemas.openxmlformats.org/officeDocument/2006/relationships/image" Target="../media/image27.png"/><Relationship Id="rId1" Type="http://schemas.openxmlformats.org/officeDocument/2006/relationships/image" Target="../media/image6.png"/></Relationships>
</file>

<file path=ppt/slides/_rels/slide20.xml.rels><?xml version="1.0" encoding="UTF-8" standalone="yes"?>
<Relationships xmlns="http://schemas.openxmlformats.org/package/2006/relationships"><Relationship Id="rId5" Type="http://schemas.openxmlformats.org/officeDocument/2006/relationships/notesSlide" Target="../notesSlides/notesSlide18.xml"/><Relationship Id="rId4" Type="http://schemas.openxmlformats.org/officeDocument/2006/relationships/slideLayout" Target="../slideLayouts/slideLayout7.xml"/><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image" Target="../media/image6.png"/></Relationships>
</file>

<file path=ppt/slides/_rels/slide21.xml.rels><?xml version="1.0" encoding="UTF-8" standalone="yes"?>
<Relationships xmlns="http://schemas.openxmlformats.org/package/2006/relationships"><Relationship Id="rId4" Type="http://schemas.openxmlformats.org/officeDocument/2006/relationships/notesSlide" Target="../notesSlides/notesSlide19.xml"/><Relationship Id="rId3" Type="http://schemas.openxmlformats.org/officeDocument/2006/relationships/slideLayout" Target="../slideLayouts/slideLayout7.xml"/><Relationship Id="rId2" Type="http://schemas.openxmlformats.org/officeDocument/2006/relationships/image" Target="../media/image22.png"/><Relationship Id="rId1" Type="http://schemas.openxmlformats.org/officeDocument/2006/relationships/image" Target="../media/image6.png"/></Relationships>
</file>

<file path=ppt/slides/_rels/slide22.xml.rels><?xml version="1.0" encoding="UTF-8" standalone="yes"?>
<Relationships xmlns="http://schemas.openxmlformats.org/package/2006/relationships"><Relationship Id="rId6" Type="http://schemas.openxmlformats.org/officeDocument/2006/relationships/notesSlide" Target="../notesSlides/notesSlide20.xml"/><Relationship Id="rId5" Type="http://schemas.openxmlformats.org/officeDocument/2006/relationships/slideLayout" Target="../slideLayouts/slideLayout7.xml"/><Relationship Id="rId4" Type="http://schemas.openxmlformats.org/officeDocument/2006/relationships/image" Target="../media/image32.png"/><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image" Target="../media/image6.png"/></Relationships>
</file>

<file path=ppt/slides/_rels/slide23.xml.rels><?xml version="1.0" encoding="UTF-8" standalone="yes"?>
<Relationships xmlns="http://schemas.openxmlformats.org/package/2006/relationships"><Relationship Id="rId6" Type="http://schemas.openxmlformats.org/officeDocument/2006/relationships/notesSlide" Target="../notesSlides/notesSlide21.xml"/><Relationship Id="rId5" Type="http://schemas.openxmlformats.org/officeDocument/2006/relationships/slideLayout" Target="../slideLayouts/slideLayout7.xml"/><Relationship Id="rId4" Type="http://schemas.openxmlformats.org/officeDocument/2006/relationships/image" Target="../media/image35.png"/><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image" Target="../media/image6.png"/></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5.png"/><Relationship Id="rId1" Type="http://schemas.openxmlformats.org/officeDocument/2006/relationships/image" Target="../media/image4.png"/></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7.xml"/><Relationship Id="rId1" Type="http://schemas.openxmlformats.org/officeDocument/2006/relationships/image" Target="../media/image6.png"/></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7.xml"/><Relationship Id="rId1" Type="http://schemas.openxmlformats.org/officeDocument/2006/relationships/image" Target="../media/image6.png"/></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7.xml"/><Relationship Id="rId1" Type="http://schemas.openxmlformats.org/officeDocument/2006/relationships/image" Target="../media/image6.png"/></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 name="矩形 117"/>
          <p:cNvSpPr/>
          <p:nvPr/>
        </p:nvSpPr>
        <p:spPr>
          <a:xfrm>
            <a:off x="778191" y="1222718"/>
            <a:ext cx="474663" cy="474663"/>
          </a:xfrm>
          <a:prstGeom prst="rect">
            <a:avLst/>
          </a:prstGeom>
          <a:solidFill>
            <a:srgbClr val="4B649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1">
              <a:ln>
                <a:noFill/>
              </a:ln>
              <a:solidFill>
                <a:schemeClr val="lt1"/>
              </a:solidFill>
              <a:effectLst/>
              <a:uLnTx/>
              <a:uFillTx/>
              <a:latin typeface="+mn-lt"/>
              <a:ea typeface="+mn-ea"/>
              <a:cs typeface="+mn-cs"/>
            </a:endParaRPr>
          </a:p>
        </p:txBody>
      </p:sp>
      <p:sp>
        <p:nvSpPr>
          <p:cNvPr id="119" name="矩形 118"/>
          <p:cNvSpPr/>
          <p:nvPr/>
        </p:nvSpPr>
        <p:spPr>
          <a:xfrm>
            <a:off x="1057339" y="1402279"/>
            <a:ext cx="474663" cy="474663"/>
          </a:xfrm>
          <a:prstGeom prst="rect">
            <a:avLst/>
          </a:prstGeom>
          <a:solidFill>
            <a:srgbClr val="4B649F">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1">
              <a:ln>
                <a:noFill/>
              </a:ln>
              <a:solidFill>
                <a:schemeClr val="lt1"/>
              </a:solidFill>
              <a:effectLst/>
              <a:uLnTx/>
              <a:uFillTx/>
              <a:latin typeface="+mn-lt"/>
              <a:ea typeface="+mn-ea"/>
              <a:cs typeface="+mn-cs"/>
            </a:endParaRPr>
          </a:p>
        </p:txBody>
      </p:sp>
      <p:sp>
        <p:nvSpPr>
          <p:cNvPr id="2057" name="文本框 1027"/>
          <p:cNvSpPr txBox="1"/>
          <p:nvPr/>
        </p:nvSpPr>
        <p:spPr>
          <a:xfrm>
            <a:off x="8756967" y="5288017"/>
            <a:ext cx="3221255" cy="506730"/>
          </a:xfrm>
          <a:prstGeom prst="rect">
            <a:avLst/>
          </a:prstGeom>
          <a:noFill/>
          <a:ln w="9525">
            <a:noFill/>
          </a:ln>
        </p:spPr>
        <p:txBody>
          <a:bodyPr wrap="square">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50000"/>
              </a:lnSpc>
              <a:spcBef>
                <a:spcPct val="0"/>
              </a:spcBef>
              <a:buFontTx/>
              <a:buNone/>
            </a:pPr>
            <a:r>
              <a:rPr lang="zh-CN" altLang="en-US" sz="1800"/>
              <a:t>汇报者</a:t>
            </a:r>
            <a:r>
              <a:rPr lang="en-US" altLang="zh-CN" sz="1800"/>
              <a:t>:</a:t>
            </a:r>
            <a:r>
              <a:rPr lang="zh-CN" altLang="en-US" sz="1800"/>
              <a:t> </a:t>
            </a:r>
            <a:r>
              <a:rPr lang="zh-CN" altLang="en-US" sz="1800"/>
              <a:t>杨艺</a:t>
            </a:r>
            <a:endParaRPr lang="zh-CN" altLang="en-US" sz="1800"/>
          </a:p>
        </p:txBody>
      </p:sp>
      <p:sp>
        <p:nvSpPr>
          <p:cNvPr id="1069" name="矩形 1068"/>
          <p:cNvSpPr/>
          <p:nvPr/>
        </p:nvSpPr>
        <p:spPr>
          <a:xfrm>
            <a:off x="11012190" y="4560752"/>
            <a:ext cx="476250" cy="476250"/>
          </a:xfrm>
          <a:prstGeom prst="rect">
            <a:avLst/>
          </a:prstGeom>
          <a:solidFill>
            <a:srgbClr val="4B649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1">
              <a:ln>
                <a:noFill/>
              </a:ln>
              <a:solidFill>
                <a:schemeClr val="lt1"/>
              </a:solidFill>
              <a:effectLst/>
              <a:uLnTx/>
              <a:uFillTx/>
              <a:latin typeface="+mn-lt"/>
              <a:ea typeface="+mn-ea"/>
              <a:cs typeface="+mn-cs"/>
            </a:endParaRPr>
          </a:p>
        </p:txBody>
      </p:sp>
      <p:sp>
        <p:nvSpPr>
          <p:cNvPr id="117" name="矩形 116"/>
          <p:cNvSpPr/>
          <p:nvPr/>
        </p:nvSpPr>
        <p:spPr>
          <a:xfrm>
            <a:off x="10677228" y="4327707"/>
            <a:ext cx="474663" cy="474663"/>
          </a:xfrm>
          <a:prstGeom prst="rect">
            <a:avLst/>
          </a:prstGeom>
          <a:solidFill>
            <a:srgbClr val="4B649F">
              <a:alpha val="6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1">
              <a:ln>
                <a:noFill/>
              </a:ln>
              <a:solidFill>
                <a:schemeClr val="lt1"/>
              </a:solidFill>
              <a:effectLst/>
              <a:uLnTx/>
              <a:uFillTx/>
              <a:latin typeface="+mn-lt"/>
              <a:ea typeface="+mn-ea"/>
              <a:cs typeface="+mn-cs"/>
            </a:endParaRPr>
          </a:p>
        </p:txBody>
      </p:sp>
      <p:grpSp>
        <p:nvGrpSpPr>
          <p:cNvPr id="15" name="组合 1026"/>
          <p:cNvGrpSpPr/>
          <p:nvPr/>
        </p:nvGrpSpPr>
        <p:grpSpPr>
          <a:xfrm>
            <a:off x="8389911" y="5435796"/>
            <a:ext cx="270000" cy="252000"/>
            <a:chOff x="2724480" y="3856218"/>
            <a:chExt cx="317004" cy="317004"/>
          </a:xfrm>
        </p:grpSpPr>
        <p:sp>
          <p:nvSpPr>
            <p:cNvPr id="16" name="椭圆 15"/>
            <p:cNvSpPr/>
            <p:nvPr/>
          </p:nvSpPr>
          <p:spPr>
            <a:xfrm>
              <a:off x="2724480" y="3856218"/>
              <a:ext cx="317004" cy="317004"/>
            </a:xfrm>
            <a:prstGeom prst="ellipse">
              <a:avLst/>
            </a:prstGeom>
            <a:solidFill>
              <a:srgbClr val="4B649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1">
                <a:ln>
                  <a:noFill/>
                </a:ln>
                <a:solidFill>
                  <a:schemeClr val="lt1"/>
                </a:solidFill>
                <a:effectLst/>
                <a:uLnTx/>
                <a:uFillTx/>
                <a:latin typeface="+mn-lt"/>
                <a:ea typeface="+mn-ea"/>
                <a:cs typeface="+mn-cs"/>
              </a:endParaRPr>
            </a:p>
          </p:txBody>
        </p:sp>
        <p:sp>
          <p:nvSpPr>
            <p:cNvPr id="17" name="KSO_Shape"/>
            <p:cNvSpPr/>
            <p:nvPr/>
          </p:nvSpPr>
          <p:spPr bwMode="auto">
            <a:xfrm>
              <a:off x="2799351" y="3908524"/>
              <a:ext cx="167263" cy="212393"/>
            </a:xfrm>
            <a:custGeom>
              <a:avLst/>
              <a:gdLst>
                <a:gd name="T0" fmla="*/ 646796 w 5367"/>
                <a:gd name="T1" fmla="*/ 843536 h 6897"/>
                <a:gd name="T2" fmla="*/ 520861 w 5367"/>
                <a:gd name="T3" fmla="*/ 880824 h 6897"/>
                <a:gd name="T4" fmla="*/ 403764 w 5367"/>
                <a:gd name="T5" fmla="*/ 946285 h 6897"/>
                <a:gd name="T6" fmla="*/ 297714 w 5367"/>
                <a:gd name="T7" fmla="*/ 1036605 h 6897"/>
                <a:gd name="T8" fmla="*/ 204644 w 5367"/>
                <a:gd name="T9" fmla="*/ 1149850 h 6897"/>
                <a:gd name="T10" fmla="*/ 126487 w 5367"/>
                <a:gd name="T11" fmla="*/ 1282429 h 6897"/>
                <a:gd name="T12" fmla="*/ 65729 w 5367"/>
                <a:gd name="T13" fmla="*/ 1432134 h 6897"/>
                <a:gd name="T14" fmla="*/ 23475 w 5367"/>
                <a:gd name="T15" fmla="*/ 1595648 h 6897"/>
                <a:gd name="T16" fmla="*/ 2209 w 5367"/>
                <a:gd name="T17" fmla="*/ 1771316 h 6897"/>
                <a:gd name="T18" fmla="*/ 1481389 w 5367"/>
                <a:gd name="T19" fmla="*/ 1905000 h 6897"/>
                <a:gd name="T20" fmla="*/ 1480009 w 5367"/>
                <a:gd name="T21" fmla="*/ 1771316 h 6897"/>
                <a:gd name="T22" fmla="*/ 1459020 w 5367"/>
                <a:gd name="T23" fmla="*/ 1595648 h 6897"/>
                <a:gd name="T24" fmla="*/ 1417041 w 5367"/>
                <a:gd name="T25" fmla="*/ 1432134 h 6897"/>
                <a:gd name="T26" fmla="*/ 1355731 w 5367"/>
                <a:gd name="T27" fmla="*/ 1282429 h 6897"/>
                <a:gd name="T28" fmla="*/ 1277850 w 5367"/>
                <a:gd name="T29" fmla="*/ 1149850 h 6897"/>
                <a:gd name="T30" fmla="*/ 1184780 w 5367"/>
                <a:gd name="T31" fmla="*/ 1036605 h 6897"/>
                <a:gd name="T32" fmla="*/ 1078730 w 5367"/>
                <a:gd name="T33" fmla="*/ 946285 h 6897"/>
                <a:gd name="T34" fmla="*/ 961633 w 5367"/>
                <a:gd name="T35" fmla="*/ 880824 h 6897"/>
                <a:gd name="T36" fmla="*/ 835422 w 5367"/>
                <a:gd name="T37" fmla="*/ 843536 h 6897"/>
                <a:gd name="T38" fmla="*/ 747875 w 5367"/>
                <a:gd name="T39" fmla="*/ 731120 h 6897"/>
                <a:gd name="T40" fmla="*/ 805043 w 5367"/>
                <a:gd name="T41" fmla="*/ 726701 h 6897"/>
                <a:gd name="T42" fmla="*/ 868286 w 5367"/>
                <a:gd name="T43" fmla="*/ 711786 h 6897"/>
                <a:gd name="T44" fmla="*/ 926559 w 5367"/>
                <a:gd name="T45" fmla="*/ 686927 h 6897"/>
                <a:gd name="T46" fmla="*/ 979032 w 5367"/>
                <a:gd name="T47" fmla="*/ 653230 h 6897"/>
                <a:gd name="T48" fmla="*/ 1024876 w 5367"/>
                <a:gd name="T49" fmla="*/ 611246 h 6897"/>
                <a:gd name="T50" fmla="*/ 1063264 w 5367"/>
                <a:gd name="T51" fmla="*/ 562358 h 6897"/>
                <a:gd name="T52" fmla="*/ 1092815 w 5367"/>
                <a:gd name="T53" fmla="*/ 507945 h 6897"/>
                <a:gd name="T54" fmla="*/ 1112699 w 5367"/>
                <a:gd name="T55" fmla="*/ 448008 h 6897"/>
                <a:gd name="T56" fmla="*/ 1121813 w 5367"/>
                <a:gd name="T57" fmla="*/ 384204 h 6897"/>
                <a:gd name="T58" fmla="*/ 1120432 w 5367"/>
                <a:gd name="T59" fmla="*/ 328134 h 6897"/>
                <a:gd name="T60" fmla="*/ 1108004 w 5367"/>
                <a:gd name="T61" fmla="*/ 265711 h 6897"/>
                <a:gd name="T62" fmla="*/ 1085358 w 5367"/>
                <a:gd name="T63" fmla="*/ 207155 h 6897"/>
                <a:gd name="T64" fmla="*/ 1053322 w 5367"/>
                <a:gd name="T65" fmla="*/ 153847 h 6897"/>
                <a:gd name="T66" fmla="*/ 1012725 w 5367"/>
                <a:gd name="T67" fmla="*/ 107168 h 6897"/>
                <a:gd name="T68" fmla="*/ 964671 w 5367"/>
                <a:gd name="T69" fmla="*/ 67395 h 6897"/>
                <a:gd name="T70" fmla="*/ 910541 w 5367"/>
                <a:gd name="T71" fmla="*/ 36183 h 6897"/>
                <a:gd name="T72" fmla="*/ 850335 w 5367"/>
                <a:gd name="T73" fmla="*/ 14087 h 6897"/>
                <a:gd name="T74" fmla="*/ 786263 w 5367"/>
                <a:gd name="T75" fmla="*/ 1933 h 6897"/>
                <a:gd name="T76" fmla="*/ 728819 w 5367"/>
                <a:gd name="T77" fmla="*/ 276 h 6897"/>
                <a:gd name="T78" fmla="*/ 663366 w 5367"/>
                <a:gd name="T79" fmla="*/ 9391 h 6897"/>
                <a:gd name="T80" fmla="*/ 602332 w 5367"/>
                <a:gd name="T81" fmla="*/ 28726 h 6897"/>
                <a:gd name="T82" fmla="*/ 546545 w 5367"/>
                <a:gd name="T83" fmla="*/ 57451 h 6897"/>
                <a:gd name="T84" fmla="*/ 496282 w 5367"/>
                <a:gd name="T85" fmla="*/ 95015 h 6897"/>
                <a:gd name="T86" fmla="*/ 453751 w 5367"/>
                <a:gd name="T87" fmla="*/ 139761 h 6897"/>
                <a:gd name="T88" fmla="*/ 418954 w 5367"/>
                <a:gd name="T89" fmla="*/ 191411 h 6897"/>
                <a:gd name="T90" fmla="*/ 393546 w 5367"/>
                <a:gd name="T91" fmla="*/ 248310 h 6897"/>
                <a:gd name="T92" fmla="*/ 378356 w 5367"/>
                <a:gd name="T93" fmla="*/ 309628 h 6897"/>
                <a:gd name="T94" fmla="*/ 373938 w 5367"/>
                <a:gd name="T95" fmla="*/ 365698 h 6897"/>
                <a:gd name="T96" fmla="*/ 380013 w 5367"/>
                <a:gd name="T97" fmla="*/ 430054 h 6897"/>
                <a:gd name="T98" fmla="*/ 396584 w 5367"/>
                <a:gd name="T99" fmla="*/ 491096 h 6897"/>
                <a:gd name="T100" fmla="*/ 423372 w 5367"/>
                <a:gd name="T101" fmla="*/ 547719 h 6897"/>
                <a:gd name="T102" fmla="*/ 459551 w 5367"/>
                <a:gd name="T103" fmla="*/ 597988 h 6897"/>
                <a:gd name="T104" fmla="*/ 503186 w 5367"/>
                <a:gd name="T105" fmla="*/ 641905 h 6897"/>
                <a:gd name="T106" fmla="*/ 554278 w 5367"/>
                <a:gd name="T107" fmla="*/ 678088 h 6897"/>
                <a:gd name="T108" fmla="*/ 610894 w 5367"/>
                <a:gd name="T109" fmla="*/ 705709 h 6897"/>
                <a:gd name="T110" fmla="*/ 672756 w 5367"/>
                <a:gd name="T111" fmla="*/ 723662 h 6897"/>
                <a:gd name="T112" fmla="*/ 738209 w 5367"/>
                <a:gd name="T113" fmla="*/ 730844 h 6897"/>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0" t="0" r="r" b="b"/>
              <a:pathLst>
                <a:path w="5367" h="6897">
                  <a:moveTo>
                    <a:pt x="2684" y="3025"/>
                  </a:moveTo>
                  <a:lnTo>
                    <a:pt x="2684" y="3025"/>
                  </a:lnTo>
                  <a:lnTo>
                    <a:pt x="2615" y="3026"/>
                  </a:lnTo>
                  <a:lnTo>
                    <a:pt x="2545" y="3029"/>
                  </a:lnTo>
                  <a:lnTo>
                    <a:pt x="2478" y="3035"/>
                  </a:lnTo>
                  <a:lnTo>
                    <a:pt x="2409" y="3043"/>
                  </a:lnTo>
                  <a:lnTo>
                    <a:pt x="2342" y="3054"/>
                  </a:lnTo>
                  <a:lnTo>
                    <a:pt x="2275" y="3066"/>
                  </a:lnTo>
                  <a:lnTo>
                    <a:pt x="2209" y="3081"/>
                  </a:lnTo>
                  <a:lnTo>
                    <a:pt x="2143" y="3099"/>
                  </a:lnTo>
                  <a:lnTo>
                    <a:pt x="2077" y="3118"/>
                  </a:lnTo>
                  <a:lnTo>
                    <a:pt x="2013" y="3140"/>
                  </a:lnTo>
                  <a:lnTo>
                    <a:pt x="1949" y="3163"/>
                  </a:lnTo>
                  <a:lnTo>
                    <a:pt x="1886" y="3189"/>
                  </a:lnTo>
                  <a:lnTo>
                    <a:pt x="1823" y="3217"/>
                  </a:lnTo>
                  <a:lnTo>
                    <a:pt x="1761" y="3247"/>
                  </a:lnTo>
                  <a:lnTo>
                    <a:pt x="1700" y="3279"/>
                  </a:lnTo>
                  <a:lnTo>
                    <a:pt x="1639" y="3313"/>
                  </a:lnTo>
                  <a:lnTo>
                    <a:pt x="1579" y="3349"/>
                  </a:lnTo>
                  <a:lnTo>
                    <a:pt x="1521" y="3386"/>
                  </a:lnTo>
                  <a:lnTo>
                    <a:pt x="1462" y="3426"/>
                  </a:lnTo>
                  <a:lnTo>
                    <a:pt x="1405" y="3468"/>
                  </a:lnTo>
                  <a:lnTo>
                    <a:pt x="1348" y="3511"/>
                  </a:lnTo>
                  <a:lnTo>
                    <a:pt x="1293" y="3556"/>
                  </a:lnTo>
                  <a:lnTo>
                    <a:pt x="1237" y="3603"/>
                  </a:lnTo>
                  <a:lnTo>
                    <a:pt x="1183" y="3651"/>
                  </a:lnTo>
                  <a:lnTo>
                    <a:pt x="1131" y="3702"/>
                  </a:lnTo>
                  <a:lnTo>
                    <a:pt x="1078" y="3753"/>
                  </a:lnTo>
                  <a:lnTo>
                    <a:pt x="1027" y="3807"/>
                  </a:lnTo>
                  <a:lnTo>
                    <a:pt x="976" y="3863"/>
                  </a:lnTo>
                  <a:lnTo>
                    <a:pt x="927" y="3920"/>
                  </a:lnTo>
                  <a:lnTo>
                    <a:pt x="880" y="3978"/>
                  </a:lnTo>
                  <a:lnTo>
                    <a:pt x="833" y="4038"/>
                  </a:lnTo>
                  <a:lnTo>
                    <a:pt x="786" y="4100"/>
                  </a:lnTo>
                  <a:lnTo>
                    <a:pt x="741" y="4163"/>
                  </a:lnTo>
                  <a:lnTo>
                    <a:pt x="698" y="4227"/>
                  </a:lnTo>
                  <a:lnTo>
                    <a:pt x="655" y="4293"/>
                  </a:lnTo>
                  <a:lnTo>
                    <a:pt x="613" y="4361"/>
                  </a:lnTo>
                  <a:lnTo>
                    <a:pt x="573" y="4429"/>
                  </a:lnTo>
                  <a:lnTo>
                    <a:pt x="533" y="4499"/>
                  </a:lnTo>
                  <a:lnTo>
                    <a:pt x="495" y="4570"/>
                  </a:lnTo>
                  <a:lnTo>
                    <a:pt x="458" y="4643"/>
                  </a:lnTo>
                  <a:lnTo>
                    <a:pt x="423" y="4717"/>
                  </a:lnTo>
                  <a:lnTo>
                    <a:pt x="388" y="4791"/>
                  </a:lnTo>
                  <a:lnTo>
                    <a:pt x="356" y="4868"/>
                  </a:lnTo>
                  <a:lnTo>
                    <a:pt x="324" y="4945"/>
                  </a:lnTo>
                  <a:lnTo>
                    <a:pt x="294" y="5024"/>
                  </a:lnTo>
                  <a:lnTo>
                    <a:pt x="265" y="5104"/>
                  </a:lnTo>
                  <a:lnTo>
                    <a:pt x="238" y="5185"/>
                  </a:lnTo>
                  <a:lnTo>
                    <a:pt x="211" y="5266"/>
                  </a:lnTo>
                  <a:lnTo>
                    <a:pt x="186" y="5349"/>
                  </a:lnTo>
                  <a:lnTo>
                    <a:pt x="163" y="5433"/>
                  </a:lnTo>
                  <a:lnTo>
                    <a:pt x="141" y="5518"/>
                  </a:lnTo>
                  <a:lnTo>
                    <a:pt x="121" y="5603"/>
                  </a:lnTo>
                  <a:lnTo>
                    <a:pt x="102" y="5690"/>
                  </a:lnTo>
                  <a:lnTo>
                    <a:pt x="85" y="5777"/>
                  </a:lnTo>
                  <a:lnTo>
                    <a:pt x="69" y="5866"/>
                  </a:lnTo>
                  <a:lnTo>
                    <a:pt x="54" y="5955"/>
                  </a:lnTo>
                  <a:lnTo>
                    <a:pt x="42" y="6045"/>
                  </a:lnTo>
                  <a:lnTo>
                    <a:pt x="31" y="6136"/>
                  </a:lnTo>
                  <a:lnTo>
                    <a:pt x="22" y="6227"/>
                  </a:lnTo>
                  <a:lnTo>
                    <a:pt x="14" y="6319"/>
                  </a:lnTo>
                  <a:lnTo>
                    <a:pt x="8" y="6413"/>
                  </a:lnTo>
                  <a:lnTo>
                    <a:pt x="4" y="6506"/>
                  </a:lnTo>
                  <a:lnTo>
                    <a:pt x="1" y="6600"/>
                  </a:lnTo>
                  <a:lnTo>
                    <a:pt x="0" y="6695"/>
                  </a:lnTo>
                  <a:lnTo>
                    <a:pt x="1" y="6796"/>
                  </a:lnTo>
                  <a:lnTo>
                    <a:pt x="5" y="6897"/>
                  </a:lnTo>
                  <a:lnTo>
                    <a:pt x="5364" y="6897"/>
                  </a:lnTo>
                  <a:lnTo>
                    <a:pt x="5366" y="6796"/>
                  </a:lnTo>
                  <a:lnTo>
                    <a:pt x="5367" y="6695"/>
                  </a:lnTo>
                  <a:lnTo>
                    <a:pt x="5367" y="6600"/>
                  </a:lnTo>
                  <a:lnTo>
                    <a:pt x="5364" y="6506"/>
                  </a:lnTo>
                  <a:lnTo>
                    <a:pt x="5359" y="6413"/>
                  </a:lnTo>
                  <a:lnTo>
                    <a:pt x="5353" y="6319"/>
                  </a:lnTo>
                  <a:lnTo>
                    <a:pt x="5346" y="6227"/>
                  </a:lnTo>
                  <a:lnTo>
                    <a:pt x="5337" y="6136"/>
                  </a:lnTo>
                  <a:lnTo>
                    <a:pt x="5325" y="6045"/>
                  </a:lnTo>
                  <a:lnTo>
                    <a:pt x="5313" y="5955"/>
                  </a:lnTo>
                  <a:lnTo>
                    <a:pt x="5298" y="5866"/>
                  </a:lnTo>
                  <a:lnTo>
                    <a:pt x="5283" y="5777"/>
                  </a:lnTo>
                  <a:lnTo>
                    <a:pt x="5266" y="5690"/>
                  </a:lnTo>
                  <a:lnTo>
                    <a:pt x="5247" y="5603"/>
                  </a:lnTo>
                  <a:lnTo>
                    <a:pt x="5226" y="5518"/>
                  </a:lnTo>
                  <a:lnTo>
                    <a:pt x="5205" y="5433"/>
                  </a:lnTo>
                  <a:lnTo>
                    <a:pt x="5181" y="5349"/>
                  </a:lnTo>
                  <a:lnTo>
                    <a:pt x="5157" y="5266"/>
                  </a:lnTo>
                  <a:lnTo>
                    <a:pt x="5131" y="5185"/>
                  </a:lnTo>
                  <a:lnTo>
                    <a:pt x="5103" y="5104"/>
                  </a:lnTo>
                  <a:lnTo>
                    <a:pt x="5073" y="5024"/>
                  </a:lnTo>
                  <a:lnTo>
                    <a:pt x="5043" y="4945"/>
                  </a:lnTo>
                  <a:lnTo>
                    <a:pt x="5012" y="4868"/>
                  </a:lnTo>
                  <a:lnTo>
                    <a:pt x="4979" y="4791"/>
                  </a:lnTo>
                  <a:lnTo>
                    <a:pt x="4945" y="4717"/>
                  </a:lnTo>
                  <a:lnTo>
                    <a:pt x="4909" y="4643"/>
                  </a:lnTo>
                  <a:lnTo>
                    <a:pt x="4872" y="4570"/>
                  </a:lnTo>
                  <a:lnTo>
                    <a:pt x="4834" y="4499"/>
                  </a:lnTo>
                  <a:lnTo>
                    <a:pt x="4796" y="4429"/>
                  </a:lnTo>
                  <a:lnTo>
                    <a:pt x="4755" y="4361"/>
                  </a:lnTo>
                  <a:lnTo>
                    <a:pt x="4713" y="4293"/>
                  </a:lnTo>
                  <a:lnTo>
                    <a:pt x="4671" y="4227"/>
                  </a:lnTo>
                  <a:lnTo>
                    <a:pt x="4627" y="4163"/>
                  </a:lnTo>
                  <a:lnTo>
                    <a:pt x="4582" y="4100"/>
                  </a:lnTo>
                  <a:lnTo>
                    <a:pt x="4536" y="4038"/>
                  </a:lnTo>
                  <a:lnTo>
                    <a:pt x="4489" y="3978"/>
                  </a:lnTo>
                  <a:lnTo>
                    <a:pt x="4440" y="3920"/>
                  </a:lnTo>
                  <a:lnTo>
                    <a:pt x="4391" y="3863"/>
                  </a:lnTo>
                  <a:lnTo>
                    <a:pt x="4340" y="3807"/>
                  </a:lnTo>
                  <a:lnTo>
                    <a:pt x="4290" y="3753"/>
                  </a:lnTo>
                  <a:lnTo>
                    <a:pt x="4238" y="3702"/>
                  </a:lnTo>
                  <a:lnTo>
                    <a:pt x="4184" y="3651"/>
                  </a:lnTo>
                  <a:lnTo>
                    <a:pt x="4130" y="3603"/>
                  </a:lnTo>
                  <a:lnTo>
                    <a:pt x="4076" y="3556"/>
                  </a:lnTo>
                  <a:lnTo>
                    <a:pt x="4020" y="3511"/>
                  </a:lnTo>
                  <a:lnTo>
                    <a:pt x="3963" y="3468"/>
                  </a:lnTo>
                  <a:lnTo>
                    <a:pt x="3906" y="3426"/>
                  </a:lnTo>
                  <a:lnTo>
                    <a:pt x="3848" y="3386"/>
                  </a:lnTo>
                  <a:lnTo>
                    <a:pt x="3788" y="3349"/>
                  </a:lnTo>
                  <a:lnTo>
                    <a:pt x="3728" y="3313"/>
                  </a:lnTo>
                  <a:lnTo>
                    <a:pt x="3668" y="3279"/>
                  </a:lnTo>
                  <a:lnTo>
                    <a:pt x="3607" y="3247"/>
                  </a:lnTo>
                  <a:lnTo>
                    <a:pt x="3545" y="3217"/>
                  </a:lnTo>
                  <a:lnTo>
                    <a:pt x="3482" y="3189"/>
                  </a:lnTo>
                  <a:lnTo>
                    <a:pt x="3419" y="3163"/>
                  </a:lnTo>
                  <a:lnTo>
                    <a:pt x="3355" y="3140"/>
                  </a:lnTo>
                  <a:lnTo>
                    <a:pt x="3290" y="3118"/>
                  </a:lnTo>
                  <a:lnTo>
                    <a:pt x="3225" y="3099"/>
                  </a:lnTo>
                  <a:lnTo>
                    <a:pt x="3159" y="3081"/>
                  </a:lnTo>
                  <a:lnTo>
                    <a:pt x="3093" y="3066"/>
                  </a:lnTo>
                  <a:lnTo>
                    <a:pt x="3025" y="3054"/>
                  </a:lnTo>
                  <a:lnTo>
                    <a:pt x="2958" y="3043"/>
                  </a:lnTo>
                  <a:lnTo>
                    <a:pt x="2891" y="3035"/>
                  </a:lnTo>
                  <a:lnTo>
                    <a:pt x="2822" y="3029"/>
                  </a:lnTo>
                  <a:lnTo>
                    <a:pt x="2753" y="3026"/>
                  </a:lnTo>
                  <a:lnTo>
                    <a:pt x="2684" y="3025"/>
                  </a:lnTo>
                  <a:close/>
                  <a:moveTo>
                    <a:pt x="2708" y="2647"/>
                  </a:moveTo>
                  <a:lnTo>
                    <a:pt x="2708" y="2647"/>
                  </a:lnTo>
                  <a:lnTo>
                    <a:pt x="2743" y="2646"/>
                  </a:lnTo>
                  <a:lnTo>
                    <a:pt x="2778" y="2645"/>
                  </a:lnTo>
                  <a:lnTo>
                    <a:pt x="2813" y="2643"/>
                  </a:lnTo>
                  <a:lnTo>
                    <a:pt x="2847" y="2640"/>
                  </a:lnTo>
                  <a:lnTo>
                    <a:pt x="2882" y="2636"/>
                  </a:lnTo>
                  <a:lnTo>
                    <a:pt x="2915" y="2631"/>
                  </a:lnTo>
                  <a:lnTo>
                    <a:pt x="2949" y="2626"/>
                  </a:lnTo>
                  <a:lnTo>
                    <a:pt x="2982" y="2620"/>
                  </a:lnTo>
                  <a:lnTo>
                    <a:pt x="3014" y="2613"/>
                  </a:lnTo>
                  <a:lnTo>
                    <a:pt x="3047" y="2605"/>
                  </a:lnTo>
                  <a:lnTo>
                    <a:pt x="3079" y="2596"/>
                  </a:lnTo>
                  <a:lnTo>
                    <a:pt x="3112" y="2587"/>
                  </a:lnTo>
                  <a:lnTo>
                    <a:pt x="3144" y="2577"/>
                  </a:lnTo>
                  <a:lnTo>
                    <a:pt x="3175" y="2566"/>
                  </a:lnTo>
                  <a:lnTo>
                    <a:pt x="3205" y="2555"/>
                  </a:lnTo>
                  <a:lnTo>
                    <a:pt x="3236" y="2542"/>
                  </a:lnTo>
                  <a:lnTo>
                    <a:pt x="3266" y="2530"/>
                  </a:lnTo>
                  <a:lnTo>
                    <a:pt x="3297" y="2517"/>
                  </a:lnTo>
                  <a:lnTo>
                    <a:pt x="3326" y="2502"/>
                  </a:lnTo>
                  <a:lnTo>
                    <a:pt x="3355" y="2487"/>
                  </a:lnTo>
                  <a:lnTo>
                    <a:pt x="3383" y="2472"/>
                  </a:lnTo>
                  <a:lnTo>
                    <a:pt x="3411" y="2455"/>
                  </a:lnTo>
                  <a:lnTo>
                    <a:pt x="3439" y="2438"/>
                  </a:lnTo>
                  <a:lnTo>
                    <a:pt x="3466" y="2421"/>
                  </a:lnTo>
                  <a:lnTo>
                    <a:pt x="3493" y="2403"/>
                  </a:lnTo>
                  <a:lnTo>
                    <a:pt x="3519" y="2384"/>
                  </a:lnTo>
                  <a:lnTo>
                    <a:pt x="3545" y="2365"/>
                  </a:lnTo>
                  <a:lnTo>
                    <a:pt x="3571" y="2345"/>
                  </a:lnTo>
                  <a:lnTo>
                    <a:pt x="3596" y="2324"/>
                  </a:lnTo>
                  <a:lnTo>
                    <a:pt x="3619" y="2303"/>
                  </a:lnTo>
                  <a:lnTo>
                    <a:pt x="3643" y="2282"/>
                  </a:lnTo>
                  <a:lnTo>
                    <a:pt x="3667" y="2259"/>
                  </a:lnTo>
                  <a:lnTo>
                    <a:pt x="3689" y="2237"/>
                  </a:lnTo>
                  <a:lnTo>
                    <a:pt x="3711" y="2213"/>
                  </a:lnTo>
                  <a:lnTo>
                    <a:pt x="3733" y="2189"/>
                  </a:lnTo>
                  <a:lnTo>
                    <a:pt x="3754" y="2165"/>
                  </a:lnTo>
                  <a:lnTo>
                    <a:pt x="3774" y="2140"/>
                  </a:lnTo>
                  <a:lnTo>
                    <a:pt x="3795" y="2115"/>
                  </a:lnTo>
                  <a:lnTo>
                    <a:pt x="3814" y="2089"/>
                  </a:lnTo>
                  <a:lnTo>
                    <a:pt x="3832" y="2063"/>
                  </a:lnTo>
                  <a:lnTo>
                    <a:pt x="3850" y="2036"/>
                  </a:lnTo>
                  <a:lnTo>
                    <a:pt x="3868" y="2010"/>
                  </a:lnTo>
                  <a:lnTo>
                    <a:pt x="3884" y="1983"/>
                  </a:lnTo>
                  <a:lnTo>
                    <a:pt x="3900" y="1954"/>
                  </a:lnTo>
                  <a:lnTo>
                    <a:pt x="3915" y="1925"/>
                  </a:lnTo>
                  <a:lnTo>
                    <a:pt x="3930" y="1897"/>
                  </a:lnTo>
                  <a:lnTo>
                    <a:pt x="3944" y="1868"/>
                  </a:lnTo>
                  <a:lnTo>
                    <a:pt x="3957" y="1839"/>
                  </a:lnTo>
                  <a:lnTo>
                    <a:pt x="3970" y="1808"/>
                  </a:lnTo>
                  <a:lnTo>
                    <a:pt x="3981" y="1778"/>
                  </a:lnTo>
                  <a:lnTo>
                    <a:pt x="3993" y="1748"/>
                  </a:lnTo>
                  <a:lnTo>
                    <a:pt x="4003" y="1717"/>
                  </a:lnTo>
                  <a:lnTo>
                    <a:pt x="4012" y="1686"/>
                  </a:lnTo>
                  <a:lnTo>
                    <a:pt x="4021" y="1654"/>
                  </a:lnTo>
                  <a:lnTo>
                    <a:pt x="4029" y="1622"/>
                  </a:lnTo>
                  <a:lnTo>
                    <a:pt x="4036" y="1590"/>
                  </a:lnTo>
                  <a:lnTo>
                    <a:pt x="4042" y="1557"/>
                  </a:lnTo>
                  <a:lnTo>
                    <a:pt x="4048" y="1525"/>
                  </a:lnTo>
                  <a:lnTo>
                    <a:pt x="4052" y="1492"/>
                  </a:lnTo>
                  <a:lnTo>
                    <a:pt x="4057" y="1459"/>
                  </a:lnTo>
                  <a:lnTo>
                    <a:pt x="4060" y="1425"/>
                  </a:lnTo>
                  <a:lnTo>
                    <a:pt x="4062" y="1391"/>
                  </a:lnTo>
                  <a:lnTo>
                    <a:pt x="4063" y="1357"/>
                  </a:lnTo>
                  <a:lnTo>
                    <a:pt x="4063" y="1324"/>
                  </a:lnTo>
                  <a:lnTo>
                    <a:pt x="4063" y="1289"/>
                  </a:lnTo>
                  <a:lnTo>
                    <a:pt x="4062" y="1255"/>
                  </a:lnTo>
                  <a:lnTo>
                    <a:pt x="4060" y="1221"/>
                  </a:lnTo>
                  <a:lnTo>
                    <a:pt x="4057" y="1188"/>
                  </a:lnTo>
                  <a:lnTo>
                    <a:pt x="4052" y="1155"/>
                  </a:lnTo>
                  <a:lnTo>
                    <a:pt x="4048" y="1121"/>
                  </a:lnTo>
                  <a:lnTo>
                    <a:pt x="4042" y="1089"/>
                  </a:lnTo>
                  <a:lnTo>
                    <a:pt x="4036" y="1057"/>
                  </a:lnTo>
                  <a:lnTo>
                    <a:pt x="4029" y="1025"/>
                  </a:lnTo>
                  <a:lnTo>
                    <a:pt x="4021" y="993"/>
                  </a:lnTo>
                  <a:lnTo>
                    <a:pt x="4012" y="962"/>
                  </a:lnTo>
                  <a:lnTo>
                    <a:pt x="4003" y="930"/>
                  </a:lnTo>
                  <a:lnTo>
                    <a:pt x="3993" y="899"/>
                  </a:lnTo>
                  <a:lnTo>
                    <a:pt x="3981" y="868"/>
                  </a:lnTo>
                  <a:lnTo>
                    <a:pt x="3970" y="838"/>
                  </a:lnTo>
                  <a:lnTo>
                    <a:pt x="3957" y="809"/>
                  </a:lnTo>
                  <a:lnTo>
                    <a:pt x="3944" y="778"/>
                  </a:lnTo>
                  <a:lnTo>
                    <a:pt x="3930" y="750"/>
                  </a:lnTo>
                  <a:lnTo>
                    <a:pt x="3915" y="721"/>
                  </a:lnTo>
                  <a:lnTo>
                    <a:pt x="3900" y="693"/>
                  </a:lnTo>
                  <a:lnTo>
                    <a:pt x="3884" y="665"/>
                  </a:lnTo>
                  <a:lnTo>
                    <a:pt x="3868" y="638"/>
                  </a:lnTo>
                  <a:lnTo>
                    <a:pt x="3850" y="610"/>
                  </a:lnTo>
                  <a:lnTo>
                    <a:pt x="3832" y="584"/>
                  </a:lnTo>
                  <a:lnTo>
                    <a:pt x="3814" y="557"/>
                  </a:lnTo>
                  <a:lnTo>
                    <a:pt x="3795" y="532"/>
                  </a:lnTo>
                  <a:lnTo>
                    <a:pt x="3774" y="506"/>
                  </a:lnTo>
                  <a:lnTo>
                    <a:pt x="3754" y="481"/>
                  </a:lnTo>
                  <a:lnTo>
                    <a:pt x="3733" y="458"/>
                  </a:lnTo>
                  <a:lnTo>
                    <a:pt x="3711" y="433"/>
                  </a:lnTo>
                  <a:lnTo>
                    <a:pt x="3689" y="411"/>
                  </a:lnTo>
                  <a:lnTo>
                    <a:pt x="3667" y="388"/>
                  </a:lnTo>
                  <a:lnTo>
                    <a:pt x="3643" y="366"/>
                  </a:lnTo>
                  <a:lnTo>
                    <a:pt x="3619" y="344"/>
                  </a:lnTo>
                  <a:lnTo>
                    <a:pt x="3596" y="323"/>
                  </a:lnTo>
                  <a:lnTo>
                    <a:pt x="3571" y="303"/>
                  </a:lnTo>
                  <a:lnTo>
                    <a:pt x="3545" y="282"/>
                  </a:lnTo>
                  <a:lnTo>
                    <a:pt x="3519" y="263"/>
                  </a:lnTo>
                  <a:lnTo>
                    <a:pt x="3493" y="244"/>
                  </a:lnTo>
                  <a:lnTo>
                    <a:pt x="3466" y="226"/>
                  </a:lnTo>
                  <a:lnTo>
                    <a:pt x="3439" y="208"/>
                  </a:lnTo>
                  <a:lnTo>
                    <a:pt x="3411" y="191"/>
                  </a:lnTo>
                  <a:lnTo>
                    <a:pt x="3383" y="176"/>
                  </a:lnTo>
                  <a:lnTo>
                    <a:pt x="3355" y="160"/>
                  </a:lnTo>
                  <a:lnTo>
                    <a:pt x="3326" y="145"/>
                  </a:lnTo>
                  <a:lnTo>
                    <a:pt x="3297" y="131"/>
                  </a:lnTo>
                  <a:lnTo>
                    <a:pt x="3266" y="117"/>
                  </a:lnTo>
                  <a:lnTo>
                    <a:pt x="3236" y="104"/>
                  </a:lnTo>
                  <a:lnTo>
                    <a:pt x="3205" y="92"/>
                  </a:lnTo>
                  <a:lnTo>
                    <a:pt x="3175" y="80"/>
                  </a:lnTo>
                  <a:lnTo>
                    <a:pt x="3144" y="70"/>
                  </a:lnTo>
                  <a:lnTo>
                    <a:pt x="3112" y="60"/>
                  </a:lnTo>
                  <a:lnTo>
                    <a:pt x="3079" y="51"/>
                  </a:lnTo>
                  <a:lnTo>
                    <a:pt x="3047" y="42"/>
                  </a:lnTo>
                  <a:lnTo>
                    <a:pt x="3014" y="34"/>
                  </a:lnTo>
                  <a:lnTo>
                    <a:pt x="2982" y="27"/>
                  </a:lnTo>
                  <a:lnTo>
                    <a:pt x="2949" y="20"/>
                  </a:lnTo>
                  <a:lnTo>
                    <a:pt x="2915" y="15"/>
                  </a:lnTo>
                  <a:lnTo>
                    <a:pt x="2882" y="10"/>
                  </a:lnTo>
                  <a:lnTo>
                    <a:pt x="2847" y="7"/>
                  </a:lnTo>
                  <a:lnTo>
                    <a:pt x="2813" y="4"/>
                  </a:lnTo>
                  <a:lnTo>
                    <a:pt x="2778" y="1"/>
                  </a:lnTo>
                  <a:lnTo>
                    <a:pt x="2743" y="0"/>
                  </a:lnTo>
                  <a:lnTo>
                    <a:pt x="2708" y="0"/>
                  </a:lnTo>
                  <a:lnTo>
                    <a:pt x="2673" y="0"/>
                  </a:lnTo>
                  <a:lnTo>
                    <a:pt x="2639" y="1"/>
                  </a:lnTo>
                  <a:lnTo>
                    <a:pt x="2605" y="4"/>
                  </a:lnTo>
                  <a:lnTo>
                    <a:pt x="2570" y="7"/>
                  </a:lnTo>
                  <a:lnTo>
                    <a:pt x="2536" y="10"/>
                  </a:lnTo>
                  <a:lnTo>
                    <a:pt x="2503" y="15"/>
                  </a:lnTo>
                  <a:lnTo>
                    <a:pt x="2469" y="20"/>
                  </a:lnTo>
                  <a:lnTo>
                    <a:pt x="2436" y="27"/>
                  </a:lnTo>
                  <a:lnTo>
                    <a:pt x="2402" y="34"/>
                  </a:lnTo>
                  <a:lnTo>
                    <a:pt x="2370" y="42"/>
                  </a:lnTo>
                  <a:lnTo>
                    <a:pt x="2338" y="51"/>
                  </a:lnTo>
                  <a:lnTo>
                    <a:pt x="2306" y="60"/>
                  </a:lnTo>
                  <a:lnTo>
                    <a:pt x="2274" y="70"/>
                  </a:lnTo>
                  <a:lnTo>
                    <a:pt x="2243" y="80"/>
                  </a:lnTo>
                  <a:lnTo>
                    <a:pt x="2212" y="92"/>
                  </a:lnTo>
                  <a:lnTo>
                    <a:pt x="2181" y="104"/>
                  </a:lnTo>
                  <a:lnTo>
                    <a:pt x="2152" y="117"/>
                  </a:lnTo>
                  <a:lnTo>
                    <a:pt x="2121" y="131"/>
                  </a:lnTo>
                  <a:lnTo>
                    <a:pt x="2092" y="145"/>
                  </a:lnTo>
                  <a:lnTo>
                    <a:pt x="2063" y="160"/>
                  </a:lnTo>
                  <a:lnTo>
                    <a:pt x="2035" y="176"/>
                  </a:lnTo>
                  <a:lnTo>
                    <a:pt x="2007" y="191"/>
                  </a:lnTo>
                  <a:lnTo>
                    <a:pt x="1979" y="208"/>
                  </a:lnTo>
                  <a:lnTo>
                    <a:pt x="1952" y="226"/>
                  </a:lnTo>
                  <a:lnTo>
                    <a:pt x="1925" y="244"/>
                  </a:lnTo>
                  <a:lnTo>
                    <a:pt x="1899" y="263"/>
                  </a:lnTo>
                  <a:lnTo>
                    <a:pt x="1873" y="282"/>
                  </a:lnTo>
                  <a:lnTo>
                    <a:pt x="1847" y="303"/>
                  </a:lnTo>
                  <a:lnTo>
                    <a:pt x="1822" y="323"/>
                  </a:lnTo>
                  <a:lnTo>
                    <a:pt x="1797" y="344"/>
                  </a:lnTo>
                  <a:lnTo>
                    <a:pt x="1774" y="366"/>
                  </a:lnTo>
                  <a:lnTo>
                    <a:pt x="1751" y="388"/>
                  </a:lnTo>
                  <a:lnTo>
                    <a:pt x="1728" y="411"/>
                  </a:lnTo>
                  <a:lnTo>
                    <a:pt x="1706" y="433"/>
                  </a:lnTo>
                  <a:lnTo>
                    <a:pt x="1685" y="458"/>
                  </a:lnTo>
                  <a:lnTo>
                    <a:pt x="1664" y="481"/>
                  </a:lnTo>
                  <a:lnTo>
                    <a:pt x="1643" y="506"/>
                  </a:lnTo>
                  <a:lnTo>
                    <a:pt x="1623" y="532"/>
                  </a:lnTo>
                  <a:lnTo>
                    <a:pt x="1604" y="557"/>
                  </a:lnTo>
                  <a:lnTo>
                    <a:pt x="1586" y="584"/>
                  </a:lnTo>
                  <a:lnTo>
                    <a:pt x="1568" y="610"/>
                  </a:lnTo>
                  <a:lnTo>
                    <a:pt x="1550" y="638"/>
                  </a:lnTo>
                  <a:lnTo>
                    <a:pt x="1533" y="665"/>
                  </a:lnTo>
                  <a:lnTo>
                    <a:pt x="1517" y="693"/>
                  </a:lnTo>
                  <a:lnTo>
                    <a:pt x="1503" y="721"/>
                  </a:lnTo>
                  <a:lnTo>
                    <a:pt x="1488" y="750"/>
                  </a:lnTo>
                  <a:lnTo>
                    <a:pt x="1474" y="778"/>
                  </a:lnTo>
                  <a:lnTo>
                    <a:pt x="1461" y="809"/>
                  </a:lnTo>
                  <a:lnTo>
                    <a:pt x="1448" y="838"/>
                  </a:lnTo>
                  <a:lnTo>
                    <a:pt x="1436" y="868"/>
                  </a:lnTo>
                  <a:lnTo>
                    <a:pt x="1425" y="899"/>
                  </a:lnTo>
                  <a:lnTo>
                    <a:pt x="1415" y="930"/>
                  </a:lnTo>
                  <a:lnTo>
                    <a:pt x="1406" y="962"/>
                  </a:lnTo>
                  <a:lnTo>
                    <a:pt x="1397" y="993"/>
                  </a:lnTo>
                  <a:lnTo>
                    <a:pt x="1389" y="1025"/>
                  </a:lnTo>
                  <a:lnTo>
                    <a:pt x="1381" y="1057"/>
                  </a:lnTo>
                  <a:lnTo>
                    <a:pt x="1376" y="1089"/>
                  </a:lnTo>
                  <a:lnTo>
                    <a:pt x="1370" y="1121"/>
                  </a:lnTo>
                  <a:lnTo>
                    <a:pt x="1366" y="1155"/>
                  </a:lnTo>
                  <a:lnTo>
                    <a:pt x="1361" y="1188"/>
                  </a:lnTo>
                  <a:lnTo>
                    <a:pt x="1358" y="1221"/>
                  </a:lnTo>
                  <a:lnTo>
                    <a:pt x="1355" y="1255"/>
                  </a:lnTo>
                  <a:lnTo>
                    <a:pt x="1354" y="1289"/>
                  </a:lnTo>
                  <a:lnTo>
                    <a:pt x="1354" y="1324"/>
                  </a:lnTo>
                  <a:lnTo>
                    <a:pt x="1354" y="1357"/>
                  </a:lnTo>
                  <a:lnTo>
                    <a:pt x="1355" y="1391"/>
                  </a:lnTo>
                  <a:lnTo>
                    <a:pt x="1358" y="1425"/>
                  </a:lnTo>
                  <a:lnTo>
                    <a:pt x="1361" y="1459"/>
                  </a:lnTo>
                  <a:lnTo>
                    <a:pt x="1366" y="1492"/>
                  </a:lnTo>
                  <a:lnTo>
                    <a:pt x="1370" y="1525"/>
                  </a:lnTo>
                  <a:lnTo>
                    <a:pt x="1376" y="1557"/>
                  </a:lnTo>
                  <a:lnTo>
                    <a:pt x="1381" y="1590"/>
                  </a:lnTo>
                  <a:lnTo>
                    <a:pt x="1389" y="1622"/>
                  </a:lnTo>
                  <a:lnTo>
                    <a:pt x="1397" y="1654"/>
                  </a:lnTo>
                  <a:lnTo>
                    <a:pt x="1406" y="1686"/>
                  </a:lnTo>
                  <a:lnTo>
                    <a:pt x="1415" y="1717"/>
                  </a:lnTo>
                  <a:lnTo>
                    <a:pt x="1425" y="1748"/>
                  </a:lnTo>
                  <a:lnTo>
                    <a:pt x="1436" y="1778"/>
                  </a:lnTo>
                  <a:lnTo>
                    <a:pt x="1448" y="1808"/>
                  </a:lnTo>
                  <a:lnTo>
                    <a:pt x="1461" y="1839"/>
                  </a:lnTo>
                  <a:lnTo>
                    <a:pt x="1474" y="1868"/>
                  </a:lnTo>
                  <a:lnTo>
                    <a:pt x="1488" y="1897"/>
                  </a:lnTo>
                  <a:lnTo>
                    <a:pt x="1503" y="1925"/>
                  </a:lnTo>
                  <a:lnTo>
                    <a:pt x="1517" y="1954"/>
                  </a:lnTo>
                  <a:lnTo>
                    <a:pt x="1533" y="1983"/>
                  </a:lnTo>
                  <a:lnTo>
                    <a:pt x="1550" y="2010"/>
                  </a:lnTo>
                  <a:lnTo>
                    <a:pt x="1568" y="2036"/>
                  </a:lnTo>
                  <a:lnTo>
                    <a:pt x="1586" y="2063"/>
                  </a:lnTo>
                  <a:lnTo>
                    <a:pt x="1604" y="2089"/>
                  </a:lnTo>
                  <a:lnTo>
                    <a:pt x="1623" y="2115"/>
                  </a:lnTo>
                  <a:lnTo>
                    <a:pt x="1643" y="2140"/>
                  </a:lnTo>
                  <a:lnTo>
                    <a:pt x="1664" y="2165"/>
                  </a:lnTo>
                  <a:lnTo>
                    <a:pt x="1685" y="2189"/>
                  </a:lnTo>
                  <a:lnTo>
                    <a:pt x="1706" y="2213"/>
                  </a:lnTo>
                  <a:lnTo>
                    <a:pt x="1728" y="2237"/>
                  </a:lnTo>
                  <a:lnTo>
                    <a:pt x="1751" y="2259"/>
                  </a:lnTo>
                  <a:lnTo>
                    <a:pt x="1774" y="2282"/>
                  </a:lnTo>
                  <a:lnTo>
                    <a:pt x="1797" y="2303"/>
                  </a:lnTo>
                  <a:lnTo>
                    <a:pt x="1822" y="2324"/>
                  </a:lnTo>
                  <a:lnTo>
                    <a:pt x="1847" y="2345"/>
                  </a:lnTo>
                  <a:lnTo>
                    <a:pt x="1873" y="2365"/>
                  </a:lnTo>
                  <a:lnTo>
                    <a:pt x="1899" y="2384"/>
                  </a:lnTo>
                  <a:lnTo>
                    <a:pt x="1925" y="2403"/>
                  </a:lnTo>
                  <a:lnTo>
                    <a:pt x="1952" y="2421"/>
                  </a:lnTo>
                  <a:lnTo>
                    <a:pt x="1979" y="2438"/>
                  </a:lnTo>
                  <a:lnTo>
                    <a:pt x="2007" y="2455"/>
                  </a:lnTo>
                  <a:lnTo>
                    <a:pt x="2035" y="2472"/>
                  </a:lnTo>
                  <a:lnTo>
                    <a:pt x="2063" y="2487"/>
                  </a:lnTo>
                  <a:lnTo>
                    <a:pt x="2092" y="2502"/>
                  </a:lnTo>
                  <a:lnTo>
                    <a:pt x="2121" y="2517"/>
                  </a:lnTo>
                  <a:lnTo>
                    <a:pt x="2152" y="2530"/>
                  </a:lnTo>
                  <a:lnTo>
                    <a:pt x="2181" y="2542"/>
                  </a:lnTo>
                  <a:lnTo>
                    <a:pt x="2212" y="2555"/>
                  </a:lnTo>
                  <a:lnTo>
                    <a:pt x="2243" y="2566"/>
                  </a:lnTo>
                  <a:lnTo>
                    <a:pt x="2274" y="2577"/>
                  </a:lnTo>
                  <a:lnTo>
                    <a:pt x="2306" y="2587"/>
                  </a:lnTo>
                  <a:lnTo>
                    <a:pt x="2338" y="2596"/>
                  </a:lnTo>
                  <a:lnTo>
                    <a:pt x="2370" y="2605"/>
                  </a:lnTo>
                  <a:lnTo>
                    <a:pt x="2402" y="2613"/>
                  </a:lnTo>
                  <a:lnTo>
                    <a:pt x="2436" y="2620"/>
                  </a:lnTo>
                  <a:lnTo>
                    <a:pt x="2469" y="2626"/>
                  </a:lnTo>
                  <a:lnTo>
                    <a:pt x="2503" y="2631"/>
                  </a:lnTo>
                  <a:lnTo>
                    <a:pt x="2536" y="2636"/>
                  </a:lnTo>
                  <a:lnTo>
                    <a:pt x="2570" y="2640"/>
                  </a:lnTo>
                  <a:lnTo>
                    <a:pt x="2605" y="2643"/>
                  </a:lnTo>
                  <a:lnTo>
                    <a:pt x="2639" y="2645"/>
                  </a:lnTo>
                  <a:lnTo>
                    <a:pt x="2673" y="2646"/>
                  </a:lnTo>
                  <a:lnTo>
                    <a:pt x="2708" y="2647"/>
                  </a:lnTo>
                  <a:close/>
                </a:path>
              </a:pathLst>
            </a:custGeom>
            <a:solidFill>
              <a:schemeClr val="bg1"/>
            </a:solidFill>
            <a:ln>
              <a:noFill/>
            </a:ln>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1">
                <a:ln>
                  <a:noFill/>
                </a:ln>
                <a:solidFill>
                  <a:srgbClr val="FFFFFF"/>
                </a:solidFill>
                <a:effectLst/>
                <a:uLnTx/>
                <a:uFillTx/>
                <a:latin typeface="Calibri" panose="020F0502020204030204" pitchFamily="34" charset="0"/>
                <a:ea typeface="宋体" panose="02010600030101010101" pitchFamily="2" charset="-122"/>
                <a:cs typeface="+mn-cs"/>
              </a:endParaRPr>
            </a:p>
          </p:txBody>
        </p:sp>
      </p:grpSp>
      <mc:AlternateContent xmlns:mc="http://schemas.openxmlformats.org/markup-compatibility/2006" xmlns:p14="http://schemas.microsoft.com/office/powerpoint/2010/main">
        <mc:Choice Requires="p14">
          <p:contentPart r:id="rId1" p14:bwMode="auto">
            <p14:nvContentPartPr>
              <p14:cNvPr id="5" name="墨迹 4"/>
              <p14:cNvContentPartPr/>
              <p14:nvPr/>
            </p14:nvContentPartPr>
            <p14:xfrm>
              <a:off x="9339489" y="1465731"/>
              <a:ext cx="2074320" cy="173880"/>
            </p14:xfrm>
          </p:contentPart>
        </mc:Choice>
        <mc:Fallback xmlns="">
          <p:pic>
            <p:nvPicPr>
              <p:cNvPr id="5" name="墨迹 4"/>
            </p:nvPicPr>
            <p:blipFill>
              <a:blip r:embed="rId2"/>
            </p:blipFill>
            <p:spPr>
              <a:xfrm>
                <a:off x="9339489" y="1465731"/>
                <a:ext cx="2074320" cy="173880"/>
              </a:xfrm>
              <a:prstGeom prst="rect"/>
            </p:spPr>
          </p:pic>
        </mc:Fallback>
      </mc:AlternateContent>
      <mc:AlternateContent xmlns:mc="http://schemas.openxmlformats.org/markup-compatibility/2006" xmlns:p14="http://schemas.microsoft.com/office/powerpoint/2010/main">
        <mc:Choice Requires="p14">
          <p:contentPart r:id="rId3" p14:bwMode="auto">
            <p14:nvContentPartPr>
              <p14:cNvPr id="6" name="墨迹 5"/>
              <p14:cNvContentPartPr/>
              <p14:nvPr/>
            </p14:nvContentPartPr>
            <p14:xfrm>
              <a:off x="3291849" y="2643651"/>
              <a:ext cx="360" cy="360"/>
            </p14:xfrm>
          </p:contentPart>
        </mc:Choice>
        <mc:Fallback xmlns="">
          <p:pic>
            <p:nvPicPr>
              <p:cNvPr id="6" name="墨迹 5"/>
            </p:nvPicPr>
            <p:blipFill>
              <a:blip r:embed="rId4"/>
            </p:blipFill>
            <p:spPr>
              <a:xfrm>
                <a:off x="3291849" y="2643651"/>
                <a:ext cx="360" cy="360"/>
              </a:xfrm>
              <a:prstGeom prst="rect"/>
            </p:spPr>
          </p:pic>
        </mc:Fallback>
      </mc:AlternateContent>
      <p:pic>
        <p:nvPicPr>
          <p:cNvPr id="2" name="图片 1"/>
          <p:cNvPicPr>
            <a:picLocks noChangeAspect="1"/>
          </p:cNvPicPr>
          <p:nvPr/>
        </p:nvPicPr>
        <p:blipFill>
          <a:blip r:embed="rId5"/>
          <a:srcRect b="23164"/>
          <a:stretch>
            <a:fillRect/>
          </a:stretch>
        </p:blipFill>
        <p:spPr>
          <a:xfrm>
            <a:off x="1297305" y="1929765"/>
            <a:ext cx="9380220" cy="2470785"/>
          </a:xfrm>
          <a:prstGeom prst="rect">
            <a:avLst/>
          </a:prstGeom>
        </p:spPr>
      </p:pic>
      <p:sp>
        <p:nvSpPr>
          <p:cNvPr id="7" name="文本框 6"/>
          <p:cNvSpPr txBox="1"/>
          <p:nvPr/>
        </p:nvSpPr>
        <p:spPr>
          <a:xfrm>
            <a:off x="1297305" y="4423410"/>
            <a:ext cx="8449945" cy="368300"/>
          </a:xfrm>
          <a:prstGeom prst="rect">
            <a:avLst/>
          </a:prstGeom>
          <a:noFill/>
        </p:spPr>
        <p:txBody>
          <a:bodyPr wrap="square" rtlCol="0" anchor="t">
            <a:spAutoFit/>
          </a:bodyPr>
          <a:p>
            <a:r>
              <a:rPr lang="zh-CN" altLang="en-US"/>
              <a:t>认知能力局限与认知需求对奖赏诱发的认知努力投入存在差异化预测作用</a:t>
            </a:r>
            <a:endParaRPr lang="zh-CN"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图示 4"/>
          <p:cNvGraphicFramePr/>
          <p:nvPr/>
        </p:nvGraphicFramePr>
        <p:xfrm>
          <a:off x="-662940" y="1154430"/>
          <a:ext cx="13216890" cy="4451985"/>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grpSp>
        <p:nvGrpSpPr>
          <p:cNvPr id="20" name="组合 19"/>
          <p:cNvGrpSpPr/>
          <p:nvPr/>
        </p:nvGrpSpPr>
        <p:grpSpPr>
          <a:xfrm>
            <a:off x="0" y="0"/>
            <a:ext cx="1178560" cy="6858000"/>
            <a:chOff x="0" y="0"/>
            <a:chExt cx="880434" cy="6858000"/>
          </a:xfrm>
          <a:solidFill>
            <a:srgbClr val="4B649F"/>
          </a:solidFill>
        </p:grpSpPr>
        <p:sp>
          <p:nvSpPr>
            <p:cNvPr id="21" name="矩形 20"/>
            <p:cNvSpPr/>
            <p:nvPr/>
          </p:nvSpPr>
          <p:spPr>
            <a:xfrm>
              <a:off x="0" y="0"/>
              <a:ext cx="880434" cy="6858000"/>
            </a:xfrm>
            <a:prstGeom prst="rect">
              <a:avLst/>
            </a:prstGeom>
            <a:grp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文本框 21"/>
            <p:cNvSpPr txBox="1"/>
            <p:nvPr/>
          </p:nvSpPr>
          <p:spPr>
            <a:xfrm>
              <a:off x="163051" y="2349370"/>
              <a:ext cx="597797" cy="2062103"/>
            </a:xfrm>
            <a:prstGeom prst="rect">
              <a:avLst/>
            </a:prstGeom>
            <a:grpFill/>
          </p:spPr>
          <p:txBody>
            <a:bodyPr vert="eaVert" wrap="square" rtlCol="0">
              <a:spAutoFit/>
            </a:bodyPr>
            <a:lstStyle/>
            <a:p>
              <a:r>
                <a:rPr lang="en-US" altLang="zh-CN" sz="4000">
                  <a:solidFill>
                    <a:schemeClr val="bg1"/>
                  </a:solidFill>
                  <a:latin typeface="Times New Roman" panose="02020603050405020304" pitchFamily="18" charset="0"/>
                  <a:ea typeface="宋体" panose="02010600030101010101" pitchFamily="2" charset="-122"/>
                  <a:cs typeface="Times New Roman" panose="02020603050405020304" pitchFamily="18" charset="0"/>
                </a:rPr>
                <a:t>Outline</a:t>
              </a:r>
              <a:endParaRPr lang="zh-CN" altLang="en-US" sz="4000" dirty="0">
                <a:solidFill>
                  <a:schemeClr val="bg1"/>
                </a:solidFill>
                <a:latin typeface="Times New Roman" panose="02020603050405020304" pitchFamily="18" charset="0"/>
                <a:ea typeface="宋体" panose="02010600030101010101" pitchFamily="2" charset="-122"/>
                <a:cs typeface="Times New Roman" panose="02020603050405020304" pitchFamily="18" charset="0"/>
              </a:endParaRPr>
            </a:p>
          </p:txBody>
        </p:sp>
      </p:grpSp>
      <p:sp>
        <p:nvSpPr>
          <p:cNvPr id="2" name="笑脸 1"/>
          <p:cNvSpPr/>
          <p:nvPr/>
        </p:nvSpPr>
        <p:spPr>
          <a:xfrm>
            <a:off x="1604301" y="1421130"/>
            <a:ext cx="379095" cy="394970"/>
          </a:xfrm>
          <a:prstGeom prst="smileyFace">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sp>
        <p:nvSpPr>
          <p:cNvPr id="3" name="笑脸 2"/>
          <p:cNvSpPr/>
          <p:nvPr/>
        </p:nvSpPr>
        <p:spPr>
          <a:xfrm>
            <a:off x="1617001" y="2619180"/>
            <a:ext cx="379095" cy="394970"/>
          </a:xfrm>
          <a:prstGeom prst="smileyFace">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sp>
        <p:nvSpPr>
          <p:cNvPr id="4" name="笑脸 3"/>
          <p:cNvSpPr/>
          <p:nvPr/>
        </p:nvSpPr>
        <p:spPr>
          <a:xfrm>
            <a:off x="1604301" y="3770279"/>
            <a:ext cx="379095" cy="394970"/>
          </a:xfrm>
          <a:prstGeom prst="smileyFace">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sp>
        <p:nvSpPr>
          <p:cNvPr id="6" name="笑脸 5"/>
          <p:cNvSpPr/>
          <p:nvPr/>
        </p:nvSpPr>
        <p:spPr>
          <a:xfrm>
            <a:off x="1605563" y="4928040"/>
            <a:ext cx="379095" cy="394970"/>
          </a:xfrm>
          <a:prstGeom prst="smileyFace">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2540000"/>
            <a:ext cx="5619750" cy="1965325"/>
          </a:xfrm>
          <a:prstGeom prst="rect">
            <a:avLst/>
          </a:prstGeom>
          <a:solidFill>
            <a:srgbClr val="4B649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1">
              <a:ln>
                <a:noFill/>
              </a:ln>
              <a:solidFill>
                <a:schemeClr val="lt1"/>
              </a:solidFill>
              <a:effectLst/>
              <a:uLnTx/>
              <a:uFillTx/>
              <a:latin typeface="+mn-lt"/>
              <a:ea typeface="+mn-ea"/>
              <a:cs typeface="+mn-cs"/>
            </a:endParaRPr>
          </a:p>
        </p:txBody>
      </p:sp>
      <p:grpSp>
        <p:nvGrpSpPr>
          <p:cNvPr id="7173" name="组合 5"/>
          <p:cNvGrpSpPr/>
          <p:nvPr/>
        </p:nvGrpSpPr>
        <p:grpSpPr>
          <a:xfrm>
            <a:off x="1519238" y="2232025"/>
            <a:ext cx="2581275" cy="2582863"/>
            <a:chOff x="1131485" y="2234042"/>
            <a:chExt cx="1607262" cy="1607262"/>
          </a:xfrm>
        </p:grpSpPr>
        <p:sp>
          <p:nvSpPr>
            <p:cNvPr id="7" name="椭圆 6"/>
            <p:cNvSpPr/>
            <p:nvPr/>
          </p:nvSpPr>
          <p:spPr>
            <a:xfrm>
              <a:off x="1131485" y="2234042"/>
              <a:ext cx="1607262" cy="1607262"/>
            </a:xfrm>
            <a:prstGeom prst="ellipse">
              <a:avLst/>
            </a:prstGeom>
            <a:solidFill>
              <a:srgbClr val="4B649F"/>
            </a:solidFill>
            <a:ln w="19050">
              <a:solidFill>
                <a:srgbClr val="4B649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1">
                <a:ln>
                  <a:noFill/>
                </a:ln>
                <a:solidFill>
                  <a:schemeClr val="lt1"/>
                </a:solidFill>
                <a:effectLst/>
                <a:uLnTx/>
                <a:uFillTx/>
                <a:latin typeface="+mn-lt"/>
                <a:ea typeface="+mn-ea"/>
                <a:cs typeface="+mn-cs"/>
              </a:endParaRPr>
            </a:p>
          </p:txBody>
        </p:sp>
        <p:sp>
          <p:nvSpPr>
            <p:cNvPr id="8" name="椭圆 7"/>
            <p:cNvSpPr/>
            <p:nvPr/>
          </p:nvSpPr>
          <p:spPr>
            <a:xfrm>
              <a:off x="1241206" y="2343696"/>
              <a:ext cx="1387820" cy="1387955"/>
            </a:xfrm>
            <a:prstGeom prst="ellipse">
              <a:avLst/>
            </a:prstGeom>
            <a:solidFill>
              <a:schemeClr val="bg1"/>
            </a:solidFill>
            <a:ln w="19050">
              <a:solidFill>
                <a:srgbClr val="4B649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1">
                <a:ln>
                  <a:noFill/>
                </a:ln>
                <a:solidFill>
                  <a:schemeClr val="lt1"/>
                </a:solidFill>
                <a:effectLst/>
                <a:uLnTx/>
                <a:uFillTx/>
                <a:latin typeface="+mn-lt"/>
                <a:ea typeface="+mn-ea"/>
                <a:cs typeface="+mn-cs"/>
              </a:endParaRPr>
            </a:p>
          </p:txBody>
        </p:sp>
        <p:sp>
          <p:nvSpPr>
            <p:cNvPr id="7178" name="KSO_Shape"/>
            <p:cNvSpPr/>
            <p:nvPr/>
          </p:nvSpPr>
          <p:spPr>
            <a:xfrm>
              <a:off x="1480150" y="2597150"/>
              <a:ext cx="909932" cy="881046"/>
            </a:xfrm>
            <a:custGeom>
              <a:avLst/>
              <a:gdLst>
                <a:gd name="txL" fmla="*/ 0 w 8965002"/>
                <a:gd name="txT" fmla="*/ 0 h 8673857"/>
                <a:gd name="txR" fmla="*/ 8965002 w 8965002"/>
                <a:gd name="txB" fmla="*/ 8673857 h 8673857"/>
              </a:gdLst>
              <a:ahLst/>
              <a:cxnLst>
                <a:cxn ang="0">
                  <a:pos x="839090" y="366042"/>
                </a:cxn>
                <a:cxn ang="0">
                  <a:pos x="863104" y="366042"/>
                </a:cxn>
                <a:cxn ang="0">
                  <a:pos x="902746" y="441180"/>
                </a:cxn>
                <a:cxn ang="0">
                  <a:pos x="706823" y="736389"/>
                </a:cxn>
                <a:cxn ang="0">
                  <a:pos x="660701" y="759273"/>
                </a:cxn>
                <a:cxn ang="0">
                  <a:pos x="545586" y="759273"/>
                </a:cxn>
                <a:cxn ang="0">
                  <a:pos x="545586" y="852336"/>
                </a:cxn>
                <a:cxn ang="0">
                  <a:pos x="530339" y="877509"/>
                </a:cxn>
                <a:cxn ang="0">
                  <a:pos x="516236" y="880942"/>
                </a:cxn>
                <a:cxn ang="0">
                  <a:pos x="498320" y="875602"/>
                </a:cxn>
                <a:cxn ang="0">
                  <a:pos x="408745" y="814959"/>
                </a:cxn>
                <a:cxn ang="0">
                  <a:pos x="321074" y="875602"/>
                </a:cxn>
                <a:cxn ang="0">
                  <a:pos x="289056" y="877509"/>
                </a:cxn>
                <a:cxn ang="0">
                  <a:pos x="272665" y="852336"/>
                </a:cxn>
                <a:cxn ang="0">
                  <a:pos x="272665" y="619678"/>
                </a:cxn>
                <a:cxn ang="0">
                  <a:pos x="321837" y="521275"/>
                </a:cxn>
                <a:cxn ang="0">
                  <a:pos x="337465" y="517080"/>
                </a:cxn>
                <a:cxn ang="0">
                  <a:pos x="577605" y="517080"/>
                </a:cxn>
                <a:cxn ang="0">
                  <a:pos x="544824" y="637986"/>
                </a:cxn>
                <a:cxn ang="0">
                  <a:pos x="632113" y="637986"/>
                </a:cxn>
                <a:cxn ang="0">
                  <a:pos x="839090" y="366042"/>
                </a:cxn>
                <a:cxn ang="0">
                  <a:pos x="620142" y="13"/>
                </a:cxn>
                <a:cxn ang="0">
                  <a:pos x="832163" y="13977"/>
                </a:cxn>
                <a:cxn ang="0">
                  <a:pos x="870659" y="89869"/>
                </a:cxn>
                <a:cxn ang="0">
                  <a:pos x="630157" y="403735"/>
                </a:cxn>
                <a:cxn ang="0">
                  <a:pos x="586707" y="424329"/>
                </a:cxn>
                <a:cxn ang="0">
                  <a:pos x="224239" y="424329"/>
                </a:cxn>
                <a:cxn ang="0">
                  <a:pos x="116756" y="556282"/>
                </a:cxn>
                <a:cxn ang="0">
                  <a:pos x="182694" y="632175"/>
                </a:cxn>
                <a:cxn ang="0">
                  <a:pos x="211661" y="637895"/>
                </a:cxn>
                <a:cxn ang="0">
                  <a:pos x="211661" y="759170"/>
                </a:cxn>
                <a:cxn ang="0">
                  <a:pos x="5462" y="581071"/>
                </a:cxn>
                <a:cxn ang="0">
                  <a:pos x="6605" y="480390"/>
                </a:cxn>
                <a:cxn ang="0">
                  <a:pos x="275693" y="68131"/>
                </a:cxn>
                <a:cxn ang="0">
                  <a:pos x="356877" y="23130"/>
                </a:cxn>
                <a:cxn ang="0">
                  <a:pos x="620142" y="13"/>
                </a:cxn>
              </a:cxnLst>
              <a:rect l="txL" t="txT" r="txR" b="txB"/>
              <a:pathLst>
                <a:path w="8965002" h="8673857">
                  <a:moveTo>
                    <a:pt x="8267042" y="3603669"/>
                  </a:moveTo>
                  <a:cubicBezTo>
                    <a:pt x="8267042" y="3603669"/>
                    <a:pt x="8267042" y="3603669"/>
                    <a:pt x="8503636" y="3603669"/>
                  </a:cubicBezTo>
                  <a:cubicBezTo>
                    <a:pt x="8770275" y="3603669"/>
                    <a:pt x="9115779" y="3885289"/>
                    <a:pt x="8894206" y="4343392"/>
                  </a:cubicBezTo>
                  <a:cubicBezTo>
                    <a:pt x="8894206" y="4343392"/>
                    <a:pt x="8894206" y="4343392"/>
                    <a:pt x="6963891" y="7249712"/>
                  </a:cubicBezTo>
                  <a:cubicBezTo>
                    <a:pt x="6817428" y="7463743"/>
                    <a:pt x="6610877" y="7475008"/>
                    <a:pt x="6509479" y="7475008"/>
                  </a:cubicBezTo>
                  <a:cubicBezTo>
                    <a:pt x="6509479" y="7475008"/>
                    <a:pt x="6509479" y="7475008"/>
                    <a:pt x="5375325" y="7475008"/>
                  </a:cubicBezTo>
                  <a:cubicBezTo>
                    <a:pt x="5375325" y="7475008"/>
                    <a:pt x="5375325" y="7475008"/>
                    <a:pt x="5375325" y="8391212"/>
                  </a:cubicBezTo>
                  <a:cubicBezTo>
                    <a:pt x="5375325" y="8503860"/>
                    <a:pt x="5326504" y="8586469"/>
                    <a:pt x="5225106" y="8639038"/>
                  </a:cubicBezTo>
                  <a:cubicBezTo>
                    <a:pt x="5180040" y="8661567"/>
                    <a:pt x="5131219" y="8672833"/>
                    <a:pt x="5086153" y="8672833"/>
                  </a:cubicBezTo>
                  <a:cubicBezTo>
                    <a:pt x="5026066" y="8672833"/>
                    <a:pt x="4962223" y="8654057"/>
                    <a:pt x="4909646" y="8620263"/>
                  </a:cubicBezTo>
                  <a:cubicBezTo>
                    <a:pt x="4909646" y="8620263"/>
                    <a:pt x="4909646" y="8620263"/>
                    <a:pt x="4027109" y="8023229"/>
                  </a:cubicBezTo>
                  <a:cubicBezTo>
                    <a:pt x="4027109" y="8023229"/>
                    <a:pt x="4027109" y="8023229"/>
                    <a:pt x="3163349" y="8620263"/>
                  </a:cubicBezTo>
                  <a:cubicBezTo>
                    <a:pt x="3069463" y="8684097"/>
                    <a:pt x="2949287" y="8691607"/>
                    <a:pt x="2847889" y="8639038"/>
                  </a:cubicBezTo>
                  <a:cubicBezTo>
                    <a:pt x="2750247" y="8586469"/>
                    <a:pt x="2686404" y="8503860"/>
                    <a:pt x="2686404" y="8391212"/>
                  </a:cubicBezTo>
                  <a:cubicBezTo>
                    <a:pt x="2686404" y="8391212"/>
                    <a:pt x="2686404" y="8391212"/>
                    <a:pt x="2686404" y="6100701"/>
                  </a:cubicBezTo>
                  <a:cubicBezTo>
                    <a:pt x="2686404" y="5559991"/>
                    <a:pt x="2990598" y="5237066"/>
                    <a:pt x="3170860" y="5131928"/>
                  </a:cubicBezTo>
                  <a:cubicBezTo>
                    <a:pt x="3215926" y="5105644"/>
                    <a:pt x="3268503" y="5090624"/>
                    <a:pt x="3324835" y="5090624"/>
                  </a:cubicBezTo>
                  <a:cubicBezTo>
                    <a:pt x="3324835" y="5090624"/>
                    <a:pt x="3324835" y="5090624"/>
                    <a:pt x="5690785" y="5090624"/>
                  </a:cubicBezTo>
                  <a:cubicBezTo>
                    <a:pt x="5371570" y="5406038"/>
                    <a:pt x="5367814" y="5980543"/>
                    <a:pt x="5367814" y="6280938"/>
                  </a:cubicBezTo>
                  <a:cubicBezTo>
                    <a:pt x="5367814" y="6280938"/>
                    <a:pt x="5367814" y="6280938"/>
                    <a:pt x="6227818" y="6280938"/>
                  </a:cubicBezTo>
                  <a:cubicBezTo>
                    <a:pt x="6227818" y="6280938"/>
                    <a:pt x="6227818" y="6280938"/>
                    <a:pt x="8267042" y="3603669"/>
                  </a:cubicBezTo>
                  <a:close/>
                  <a:moveTo>
                    <a:pt x="6109875" y="128"/>
                  </a:moveTo>
                  <a:cubicBezTo>
                    <a:pt x="6829153" y="-2490"/>
                    <a:pt x="7579192" y="34821"/>
                    <a:pt x="8198796" y="137601"/>
                  </a:cubicBezTo>
                  <a:cubicBezTo>
                    <a:pt x="8705745" y="220201"/>
                    <a:pt x="8739542" y="678257"/>
                    <a:pt x="8578069" y="884757"/>
                  </a:cubicBezTo>
                  <a:cubicBezTo>
                    <a:pt x="8578069" y="884757"/>
                    <a:pt x="6234838" y="3955980"/>
                    <a:pt x="6208552" y="3974753"/>
                  </a:cubicBezTo>
                  <a:cubicBezTo>
                    <a:pt x="6107162" y="4098653"/>
                    <a:pt x="5953199" y="4177498"/>
                    <a:pt x="5780461" y="4177498"/>
                  </a:cubicBezTo>
                  <a:cubicBezTo>
                    <a:pt x="5780461" y="4177498"/>
                    <a:pt x="5780461" y="4177498"/>
                    <a:pt x="2209285" y="4177498"/>
                  </a:cubicBezTo>
                  <a:cubicBezTo>
                    <a:pt x="1818747" y="4177498"/>
                    <a:pt x="970076" y="4545444"/>
                    <a:pt x="1150325" y="5476573"/>
                  </a:cubicBezTo>
                  <a:cubicBezTo>
                    <a:pt x="1217918" y="5825746"/>
                    <a:pt x="1465760" y="6103583"/>
                    <a:pt x="1799971" y="6223729"/>
                  </a:cubicBezTo>
                  <a:cubicBezTo>
                    <a:pt x="1875075" y="6253765"/>
                    <a:pt x="2002751" y="6268783"/>
                    <a:pt x="2085365" y="6280047"/>
                  </a:cubicBezTo>
                  <a:cubicBezTo>
                    <a:pt x="2085365" y="6280047"/>
                    <a:pt x="2085365" y="6280047"/>
                    <a:pt x="2085365" y="7473994"/>
                  </a:cubicBezTo>
                  <a:cubicBezTo>
                    <a:pt x="1582171" y="7440203"/>
                    <a:pt x="335451" y="7004675"/>
                    <a:pt x="53813" y="5720619"/>
                  </a:cubicBezTo>
                  <a:cubicBezTo>
                    <a:pt x="-25046" y="5397728"/>
                    <a:pt x="-13780" y="5056063"/>
                    <a:pt x="65078" y="4729417"/>
                  </a:cubicBezTo>
                  <a:cubicBezTo>
                    <a:pt x="282879" y="3283915"/>
                    <a:pt x="2351982" y="944830"/>
                    <a:pt x="2716235" y="670748"/>
                  </a:cubicBezTo>
                  <a:cubicBezTo>
                    <a:pt x="2960321" y="471756"/>
                    <a:pt x="3234449" y="310311"/>
                    <a:pt x="3516088" y="227711"/>
                  </a:cubicBezTo>
                  <a:cubicBezTo>
                    <a:pt x="3797726" y="119767"/>
                    <a:pt x="4911078" y="4491"/>
                    <a:pt x="6109875" y="128"/>
                  </a:cubicBezTo>
                  <a:close/>
                </a:path>
              </a:pathLst>
            </a:custGeom>
            <a:solidFill>
              <a:srgbClr val="4B649F">
                <a:alpha val="100000"/>
              </a:srgbClr>
            </a:solidFill>
            <a:ln w="9525">
              <a:noFill/>
            </a:ln>
          </p:spPr>
          <p:txBody>
            <a:bodyPr/>
            <a:lstStyle/>
            <a:p>
              <a:endParaRPr lang="zh-CN" altLang="en-US"/>
            </a:p>
          </p:txBody>
        </p:sp>
      </p:grpSp>
      <p:pic>
        <p:nvPicPr>
          <p:cNvPr id="7174" name="图片 9"/>
          <p:cNvPicPr>
            <a:picLocks noChangeAspect="1"/>
          </p:cNvPicPr>
          <p:nvPr/>
        </p:nvPicPr>
        <p:blipFill>
          <a:blip r:embed="rId1"/>
          <a:stretch>
            <a:fillRect/>
          </a:stretch>
        </p:blipFill>
        <p:spPr>
          <a:xfrm>
            <a:off x="6326188" y="5200650"/>
            <a:ext cx="5865812" cy="1657350"/>
          </a:xfrm>
          <a:prstGeom prst="rect">
            <a:avLst/>
          </a:prstGeom>
          <a:noFill/>
          <a:ln w="9525">
            <a:noFill/>
          </a:ln>
        </p:spPr>
      </p:pic>
      <p:pic>
        <p:nvPicPr>
          <p:cNvPr id="7175" name="图片 10"/>
          <p:cNvPicPr>
            <a:picLocks noChangeAspect="1"/>
          </p:cNvPicPr>
          <p:nvPr/>
        </p:nvPicPr>
        <p:blipFill>
          <a:blip r:embed="rId2"/>
          <a:stretch>
            <a:fillRect/>
          </a:stretch>
        </p:blipFill>
        <p:spPr>
          <a:xfrm>
            <a:off x="0" y="0"/>
            <a:ext cx="7878763" cy="2216150"/>
          </a:xfrm>
          <a:prstGeom prst="rect">
            <a:avLst/>
          </a:prstGeom>
          <a:noFill/>
          <a:ln w="9525">
            <a:noFill/>
          </a:ln>
        </p:spPr>
      </p:pic>
      <p:sp>
        <p:nvSpPr>
          <p:cNvPr id="12291" name="文本框 2"/>
          <p:cNvSpPr txBox="1"/>
          <p:nvPr/>
        </p:nvSpPr>
        <p:spPr>
          <a:xfrm>
            <a:off x="5795963" y="2884032"/>
            <a:ext cx="6743087" cy="1014730"/>
          </a:xfrm>
          <a:prstGeom prst="rect">
            <a:avLst/>
          </a:prstGeom>
          <a:noFill/>
          <a:ln w="9525">
            <a:noFill/>
          </a:ln>
        </p:spPr>
        <p:txBody>
          <a:bodyPr wrap="square">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50000"/>
              </a:lnSpc>
              <a:spcBef>
                <a:spcPct val="0"/>
              </a:spcBef>
              <a:buFontTx/>
              <a:buNone/>
            </a:pPr>
            <a:r>
              <a:rPr lang="en-US" altLang="zh-CN" sz="4000" b="1">
                <a:solidFill>
                  <a:srgbClr val="4B649F"/>
                </a:solidFill>
                <a:latin typeface="+mj-lt"/>
                <a:cs typeface="Times New Roman" panose="02020603050405020304" pitchFamily="18" charset="0"/>
              </a:rPr>
              <a:t>1. </a:t>
            </a:r>
            <a:r>
              <a:rPr lang="zh-CN" altLang="en-US" sz="4000" b="1">
                <a:solidFill>
                  <a:srgbClr val="4B649F"/>
                </a:solidFill>
                <a:latin typeface="+mj-lt"/>
                <a:cs typeface="Times New Roman" panose="02020603050405020304" pitchFamily="18" charset="0"/>
              </a:rPr>
              <a:t>研究</a:t>
            </a:r>
            <a:r>
              <a:rPr lang="zh-CN" altLang="en-US" sz="4000" b="1">
                <a:solidFill>
                  <a:srgbClr val="4B649F"/>
                </a:solidFill>
                <a:latin typeface="+mj-lt"/>
                <a:cs typeface="Times New Roman" panose="02020603050405020304" pitchFamily="18" charset="0"/>
              </a:rPr>
              <a:t>背景</a:t>
            </a:r>
            <a:endParaRPr lang="zh-CN" altLang="en-US" sz="4000" b="1">
              <a:solidFill>
                <a:srgbClr val="4B649F"/>
              </a:solidFill>
              <a:latin typeface="+mj-lt"/>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10" name="图片 1"/>
          <p:cNvPicPr>
            <a:picLocks noChangeAspect="1"/>
          </p:cNvPicPr>
          <p:nvPr/>
        </p:nvPicPr>
        <p:blipFill>
          <a:blip r:embed="rId1"/>
          <a:stretch>
            <a:fillRect/>
          </a:stretch>
        </p:blipFill>
        <p:spPr>
          <a:xfrm>
            <a:off x="8610600" y="0"/>
            <a:ext cx="3581400" cy="1006475"/>
          </a:xfrm>
          <a:prstGeom prst="rect">
            <a:avLst/>
          </a:prstGeom>
          <a:noFill/>
          <a:ln w="9525">
            <a:noFill/>
          </a:ln>
        </p:spPr>
      </p:pic>
      <p:sp>
        <p:nvSpPr>
          <p:cNvPr id="17411" name="文本框 2"/>
          <p:cNvSpPr txBox="1"/>
          <p:nvPr/>
        </p:nvSpPr>
        <p:spPr>
          <a:xfrm>
            <a:off x="868363" y="25400"/>
            <a:ext cx="4541837" cy="737235"/>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50000"/>
              </a:lnSpc>
              <a:spcBef>
                <a:spcPct val="0"/>
              </a:spcBef>
              <a:buFontTx/>
              <a:buNone/>
            </a:pPr>
            <a:r>
              <a:rPr lang="zh-CN" altLang="en-US" b="1" dirty="0">
                <a:solidFill>
                  <a:srgbClr val="4B649F"/>
                </a:solidFill>
              </a:rPr>
              <a:t>研究</a:t>
            </a:r>
            <a:r>
              <a:rPr lang="zh-CN" altLang="en-US" b="1" dirty="0">
                <a:solidFill>
                  <a:srgbClr val="4B649F"/>
                </a:solidFill>
              </a:rPr>
              <a:t>背景</a:t>
            </a:r>
            <a:endParaRPr lang="zh-CN" altLang="en-US" b="1" dirty="0">
              <a:solidFill>
                <a:srgbClr val="4B649F"/>
              </a:solidFill>
            </a:endParaRPr>
          </a:p>
        </p:txBody>
      </p:sp>
      <p:cxnSp>
        <p:nvCxnSpPr>
          <p:cNvPr id="4" name="直接连接符 3"/>
          <p:cNvCxnSpPr/>
          <p:nvPr/>
        </p:nvCxnSpPr>
        <p:spPr>
          <a:xfrm>
            <a:off x="0" y="798513"/>
            <a:ext cx="11176000" cy="0"/>
          </a:xfrm>
          <a:prstGeom prst="line">
            <a:avLst/>
          </a:prstGeom>
          <a:ln w="25400">
            <a:gradFill>
              <a:gsLst>
                <a:gs pos="0">
                  <a:srgbClr val="4B649F"/>
                </a:gs>
                <a:gs pos="100000">
                  <a:srgbClr val="7DB1CD">
                    <a:alpha val="0"/>
                  </a:srgbClr>
                </a:gs>
              </a:gsLst>
              <a:lin ang="0" scaled="0"/>
            </a:gradFill>
          </a:ln>
        </p:spPr>
        <p:style>
          <a:lnRef idx="1">
            <a:schemeClr val="accent1"/>
          </a:lnRef>
          <a:fillRef idx="0">
            <a:schemeClr val="accent1"/>
          </a:fillRef>
          <a:effectRef idx="0">
            <a:schemeClr val="accent1"/>
          </a:effectRef>
          <a:fontRef idx="minor">
            <a:schemeClr val="tx1"/>
          </a:fontRef>
        </p:style>
      </p:cxnSp>
      <p:sp>
        <p:nvSpPr>
          <p:cNvPr id="5" name="矩形 4"/>
          <p:cNvSpPr/>
          <p:nvPr/>
        </p:nvSpPr>
        <p:spPr>
          <a:xfrm>
            <a:off x="0" y="6724650"/>
            <a:ext cx="12192000" cy="133350"/>
          </a:xfrm>
          <a:prstGeom prst="rect">
            <a:avLst/>
          </a:prstGeom>
          <a:solidFill>
            <a:srgbClr val="4B649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1">
              <a:ln>
                <a:noFill/>
              </a:ln>
              <a:solidFill>
                <a:schemeClr val="lt1"/>
              </a:solidFill>
              <a:effectLst/>
              <a:uLnTx/>
              <a:uFillTx/>
              <a:latin typeface="+mn-lt"/>
              <a:ea typeface="+mn-ea"/>
              <a:cs typeface="+mn-cs"/>
            </a:endParaRPr>
          </a:p>
        </p:txBody>
      </p:sp>
      <p:grpSp>
        <p:nvGrpSpPr>
          <p:cNvPr id="17414" name="组合 5"/>
          <p:cNvGrpSpPr/>
          <p:nvPr/>
        </p:nvGrpSpPr>
        <p:grpSpPr>
          <a:xfrm>
            <a:off x="233363" y="125413"/>
            <a:ext cx="635000" cy="635000"/>
            <a:chOff x="5288161" y="2234042"/>
            <a:chExt cx="1607262" cy="1607262"/>
          </a:xfrm>
        </p:grpSpPr>
        <p:sp>
          <p:nvSpPr>
            <p:cNvPr id="7" name="椭圆 6"/>
            <p:cNvSpPr/>
            <p:nvPr/>
          </p:nvSpPr>
          <p:spPr>
            <a:xfrm>
              <a:off x="5288161" y="2234042"/>
              <a:ext cx="1607262" cy="1607262"/>
            </a:xfrm>
            <a:prstGeom prst="ellipse">
              <a:avLst/>
            </a:prstGeom>
            <a:solidFill>
              <a:srgbClr val="4B649F"/>
            </a:solidFill>
            <a:ln w="19050">
              <a:solidFill>
                <a:srgbClr val="4B649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1">
                <a:ln>
                  <a:noFill/>
                </a:ln>
                <a:solidFill>
                  <a:schemeClr val="lt1"/>
                </a:solidFill>
                <a:effectLst/>
                <a:uLnTx/>
                <a:uFillTx/>
                <a:latin typeface="+mn-lt"/>
                <a:ea typeface="+mn-ea"/>
                <a:cs typeface="+mn-cs"/>
              </a:endParaRPr>
            </a:p>
          </p:txBody>
        </p:sp>
        <p:sp>
          <p:nvSpPr>
            <p:cNvPr id="8" name="椭圆 7"/>
            <p:cNvSpPr/>
            <p:nvPr/>
          </p:nvSpPr>
          <p:spPr>
            <a:xfrm>
              <a:off x="5396650" y="2334495"/>
              <a:ext cx="1390282" cy="1390282"/>
            </a:xfrm>
            <a:prstGeom prst="ellipse">
              <a:avLst/>
            </a:prstGeom>
            <a:solidFill>
              <a:schemeClr val="bg1"/>
            </a:solidFill>
            <a:ln w="19050">
              <a:solidFill>
                <a:srgbClr val="4B649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1">
                <a:ln>
                  <a:noFill/>
                </a:ln>
                <a:solidFill>
                  <a:schemeClr val="lt1"/>
                </a:solidFill>
                <a:effectLst/>
                <a:uLnTx/>
                <a:uFillTx/>
                <a:latin typeface="+mn-lt"/>
                <a:ea typeface="+mn-ea"/>
                <a:cs typeface="+mn-cs"/>
              </a:endParaRPr>
            </a:p>
          </p:txBody>
        </p:sp>
        <p:sp>
          <p:nvSpPr>
            <p:cNvPr id="17440" name="KSO_Shape"/>
            <p:cNvSpPr/>
            <p:nvPr/>
          </p:nvSpPr>
          <p:spPr>
            <a:xfrm>
              <a:off x="5547153" y="2697761"/>
              <a:ext cx="1089278" cy="662788"/>
            </a:xfrm>
            <a:custGeom>
              <a:avLst/>
              <a:gdLst>
                <a:gd name="txL" fmla="*/ 0 w 3931"/>
                <a:gd name="txT" fmla="*/ 0 h 2392"/>
                <a:gd name="txR" fmla="*/ 3931 w 3931"/>
                <a:gd name="txB" fmla="*/ 2392 h 2392"/>
              </a:gdLst>
              <a:ahLst/>
              <a:cxnLst>
                <a:cxn ang="0">
                  <a:pos x="844045" y="356609"/>
                </a:cxn>
                <a:cxn ang="0">
                  <a:pos x="561681" y="235522"/>
                </a:cxn>
                <a:cxn ang="0">
                  <a:pos x="243848" y="356609"/>
                </a:cxn>
                <a:cxn ang="0">
                  <a:pos x="155176" y="319756"/>
                </a:cxn>
                <a:cxn ang="0">
                  <a:pos x="155176" y="428374"/>
                </a:cxn>
                <a:cxn ang="0">
                  <a:pos x="179283" y="461624"/>
                </a:cxn>
                <a:cxn ang="0">
                  <a:pos x="154622" y="494874"/>
                </a:cxn>
                <a:cxn ang="0">
                  <a:pos x="180946" y="611804"/>
                </a:cxn>
                <a:cxn ang="0">
                  <a:pos x="103358" y="611804"/>
                </a:cxn>
                <a:cxn ang="0">
                  <a:pos x="129960" y="494320"/>
                </a:cxn>
                <a:cxn ang="0">
                  <a:pos x="108346" y="461624"/>
                </a:cxn>
                <a:cxn ang="0">
                  <a:pos x="129128" y="429205"/>
                </a:cxn>
                <a:cxn ang="0">
                  <a:pos x="129128" y="308950"/>
                </a:cxn>
                <a:cxn ang="0">
                  <a:pos x="0" y="254918"/>
                </a:cxn>
                <a:cxn ang="0">
                  <a:pos x="568054" y="0"/>
                </a:cxn>
                <a:cxn ang="0">
                  <a:pos x="1089278" y="258243"/>
                </a:cxn>
                <a:cxn ang="0">
                  <a:pos x="844045" y="356609"/>
                </a:cxn>
                <a:cxn ang="0">
                  <a:pos x="555307" y="297035"/>
                </a:cxn>
                <a:cxn ang="0">
                  <a:pos x="811624" y="384040"/>
                </a:cxn>
                <a:cxn ang="0">
                  <a:pos x="811624" y="594902"/>
                </a:cxn>
                <a:cxn ang="0">
                  <a:pos x="542284" y="662788"/>
                </a:cxn>
                <a:cxn ang="0">
                  <a:pos x="304532" y="594902"/>
                </a:cxn>
                <a:cxn ang="0">
                  <a:pos x="304532" y="384040"/>
                </a:cxn>
                <a:cxn ang="0">
                  <a:pos x="555307" y="297035"/>
                </a:cxn>
                <a:cxn ang="0">
                  <a:pos x="551982" y="623996"/>
                </a:cxn>
                <a:cxn ang="0">
                  <a:pos x="758698" y="572458"/>
                </a:cxn>
                <a:cxn ang="0">
                  <a:pos x="551982" y="520643"/>
                </a:cxn>
                <a:cxn ang="0">
                  <a:pos x="345543" y="572458"/>
                </a:cxn>
                <a:cxn ang="0">
                  <a:pos x="551982" y="623996"/>
                </a:cxn>
              </a:cxnLst>
              <a:rect l="txL" t="txT" r="txR" b="txB"/>
              <a:pathLst>
                <a:path w="3931" h="2392">
                  <a:moveTo>
                    <a:pt x="3046" y="1287"/>
                  </a:moveTo>
                  <a:cubicBezTo>
                    <a:pt x="3046" y="1287"/>
                    <a:pt x="2618" y="850"/>
                    <a:pt x="2027" y="850"/>
                  </a:cubicBezTo>
                  <a:cubicBezTo>
                    <a:pt x="1450" y="850"/>
                    <a:pt x="880" y="1287"/>
                    <a:pt x="880" y="1287"/>
                  </a:cubicBezTo>
                  <a:cubicBezTo>
                    <a:pt x="560" y="1154"/>
                    <a:pt x="560" y="1154"/>
                    <a:pt x="560" y="1154"/>
                  </a:cubicBezTo>
                  <a:cubicBezTo>
                    <a:pt x="560" y="1546"/>
                    <a:pt x="560" y="1546"/>
                    <a:pt x="560" y="1546"/>
                  </a:cubicBezTo>
                  <a:cubicBezTo>
                    <a:pt x="610" y="1563"/>
                    <a:pt x="647" y="1610"/>
                    <a:pt x="647" y="1666"/>
                  </a:cubicBezTo>
                  <a:cubicBezTo>
                    <a:pt x="647" y="1723"/>
                    <a:pt x="609" y="1769"/>
                    <a:pt x="558" y="1786"/>
                  </a:cubicBezTo>
                  <a:cubicBezTo>
                    <a:pt x="653" y="2208"/>
                    <a:pt x="653" y="2208"/>
                    <a:pt x="653" y="2208"/>
                  </a:cubicBezTo>
                  <a:cubicBezTo>
                    <a:pt x="373" y="2208"/>
                    <a:pt x="373" y="2208"/>
                    <a:pt x="373" y="2208"/>
                  </a:cubicBezTo>
                  <a:cubicBezTo>
                    <a:pt x="469" y="1784"/>
                    <a:pt x="469" y="1784"/>
                    <a:pt x="469" y="1784"/>
                  </a:cubicBezTo>
                  <a:cubicBezTo>
                    <a:pt x="423" y="1764"/>
                    <a:pt x="391" y="1719"/>
                    <a:pt x="391" y="1666"/>
                  </a:cubicBezTo>
                  <a:cubicBezTo>
                    <a:pt x="391" y="1614"/>
                    <a:pt x="422" y="1570"/>
                    <a:pt x="466" y="1549"/>
                  </a:cubicBezTo>
                  <a:cubicBezTo>
                    <a:pt x="466" y="1115"/>
                    <a:pt x="466" y="1115"/>
                    <a:pt x="466" y="1115"/>
                  </a:cubicBezTo>
                  <a:cubicBezTo>
                    <a:pt x="0" y="920"/>
                    <a:pt x="0" y="920"/>
                    <a:pt x="0" y="920"/>
                  </a:cubicBezTo>
                  <a:cubicBezTo>
                    <a:pt x="2050" y="0"/>
                    <a:pt x="2050" y="0"/>
                    <a:pt x="2050" y="0"/>
                  </a:cubicBezTo>
                  <a:cubicBezTo>
                    <a:pt x="3931" y="932"/>
                    <a:pt x="3931" y="932"/>
                    <a:pt x="3931" y="932"/>
                  </a:cubicBezTo>
                  <a:lnTo>
                    <a:pt x="3046" y="1287"/>
                  </a:lnTo>
                  <a:close/>
                  <a:moveTo>
                    <a:pt x="2004" y="1072"/>
                  </a:moveTo>
                  <a:cubicBezTo>
                    <a:pt x="2598" y="1072"/>
                    <a:pt x="2929" y="1386"/>
                    <a:pt x="2929" y="1386"/>
                  </a:cubicBezTo>
                  <a:cubicBezTo>
                    <a:pt x="2929" y="2147"/>
                    <a:pt x="2929" y="2147"/>
                    <a:pt x="2929" y="2147"/>
                  </a:cubicBezTo>
                  <a:cubicBezTo>
                    <a:pt x="2929" y="2147"/>
                    <a:pt x="2586" y="2392"/>
                    <a:pt x="1957" y="2392"/>
                  </a:cubicBezTo>
                  <a:cubicBezTo>
                    <a:pt x="1328" y="2392"/>
                    <a:pt x="1099" y="2147"/>
                    <a:pt x="1099" y="2147"/>
                  </a:cubicBezTo>
                  <a:cubicBezTo>
                    <a:pt x="1099" y="1386"/>
                    <a:pt x="1099" y="1386"/>
                    <a:pt x="1099" y="1386"/>
                  </a:cubicBezTo>
                  <a:cubicBezTo>
                    <a:pt x="1099" y="1386"/>
                    <a:pt x="1410" y="1072"/>
                    <a:pt x="2004" y="1072"/>
                  </a:cubicBezTo>
                  <a:close/>
                  <a:moveTo>
                    <a:pt x="1992" y="2252"/>
                  </a:moveTo>
                  <a:cubicBezTo>
                    <a:pt x="2404" y="2252"/>
                    <a:pt x="2738" y="2168"/>
                    <a:pt x="2738" y="2066"/>
                  </a:cubicBezTo>
                  <a:cubicBezTo>
                    <a:pt x="2738" y="1963"/>
                    <a:pt x="2404" y="1879"/>
                    <a:pt x="1992" y="1879"/>
                  </a:cubicBezTo>
                  <a:cubicBezTo>
                    <a:pt x="1581" y="1879"/>
                    <a:pt x="1247" y="1963"/>
                    <a:pt x="1247" y="2066"/>
                  </a:cubicBezTo>
                  <a:cubicBezTo>
                    <a:pt x="1247" y="2168"/>
                    <a:pt x="1581" y="2252"/>
                    <a:pt x="1992" y="2252"/>
                  </a:cubicBezTo>
                  <a:close/>
                </a:path>
              </a:pathLst>
            </a:custGeom>
            <a:solidFill>
              <a:srgbClr val="4B649F">
                <a:alpha val="100000"/>
              </a:srgbClr>
            </a:solidFill>
            <a:ln w="9525">
              <a:noFill/>
            </a:ln>
          </p:spPr>
          <p:txBody>
            <a:bodyPr/>
            <a:lstStyle/>
            <a:p>
              <a:endParaRPr lang="zh-CN" altLang="en-US"/>
            </a:p>
          </p:txBody>
        </p:sp>
      </p:grpSp>
      <p:sp>
        <p:nvSpPr>
          <p:cNvPr id="2" name="文本框 1"/>
          <p:cNvSpPr txBox="1"/>
          <p:nvPr/>
        </p:nvSpPr>
        <p:spPr>
          <a:xfrm>
            <a:off x="589915" y="1027430"/>
            <a:ext cx="11159490" cy="3490595"/>
          </a:xfrm>
          <a:prstGeom prst="rect">
            <a:avLst/>
          </a:prstGeom>
          <a:noFill/>
        </p:spPr>
        <p:txBody>
          <a:bodyPr wrap="square" rtlCol="0" anchor="t">
            <a:noAutofit/>
          </a:bodyPr>
          <a:p>
            <a:r>
              <a:rPr lang="zh-CN" altLang="en-US" sz="2000">
                <a:latin typeface="宋体" panose="02010600030101010101" pitchFamily="2" charset="-122"/>
                <a:ea typeface="宋体" panose="02010600030101010101" pitchFamily="2" charset="-122"/>
                <a:cs typeface="宋体" panose="02010600030101010101" pitchFamily="2" charset="-122"/>
              </a:rPr>
              <a:t>心理学、经济学与神经科学领域的相关理论普遍认为，人类会尽量减少认知努力的投入。但</a:t>
            </a:r>
            <a:r>
              <a:rPr lang="zh-CN" altLang="en-US" sz="2000">
                <a:solidFill>
                  <a:srgbClr val="FF0000"/>
                </a:solidFill>
                <a:latin typeface="宋体" panose="02010600030101010101" pitchFamily="2" charset="-122"/>
                <a:ea typeface="宋体" panose="02010600030101010101" pitchFamily="2" charset="-122"/>
                <a:cs typeface="宋体" panose="02010600030101010101" pitchFamily="2" charset="-122"/>
              </a:rPr>
              <a:t>实证研究表明，奖赏激励能够促使个体付出更多认知努力。</a:t>
            </a:r>
            <a:r>
              <a:rPr lang="zh-CN" altLang="en-US" sz="2000">
                <a:latin typeface="宋体" panose="02010600030101010101" pitchFamily="2" charset="-122"/>
                <a:ea typeface="宋体" panose="02010600030101010101" pitchFamily="2" charset="-122"/>
                <a:cs typeface="宋体" panose="02010600030101010101" pitchFamily="2" charset="-122"/>
              </a:rPr>
              <a:t>近期理论指出，个体是否选择投入努力，在一定程度上取决于</a:t>
            </a:r>
            <a:r>
              <a:rPr lang="zh-CN" altLang="en-US" sz="2000">
                <a:solidFill>
                  <a:srgbClr val="FF0000"/>
                </a:solidFill>
                <a:latin typeface="宋体" panose="02010600030101010101" pitchFamily="2" charset="-122"/>
                <a:ea typeface="宋体" panose="02010600030101010101" pitchFamily="2" charset="-122"/>
                <a:cs typeface="宋体" panose="02010600030101010101" pitchFamily="2" charset="-122"/>
              </a:rPr>
              <a:t>成本</a:t>
            </a:r>
            <a:r>
              <a:rPr lang="en-US" altLang="zh-CN" sz="2000">
                <a:solidFill>
                  <a:srgbClr val="FF0000"/>
                </a:solidFill>
                <a:latin typeface="宋体" panose="02010600030101010101" pitchFamily="2" charset="-122"/>
                <a:ea typeface="宋体" panose="02010600030101010101" pitchFamily="2" charset="-122"/>
                <a:cs typeface="宋体" panose="02010600030101010101" pitchFamily="2" charset="-122"/>
              </a:rPr>
              <a:t>-</a:t>
            </a:r>
            <a:r>
              <a:rPr lang="zh-CN" altLang="en-US" sz="2000">
                <a:solidFill>
                  <a:srgbClr val="FF0000"/>
                </a:solidFill>
                <a:latin typeface="宋体" panose="02010600030101010101" pitchFamily="2" charset="-122"/>
                <a:ea typeface="宋体" panose="02010600030101010101" pitchFamily="2" charset="-122"/>
                <a:cs typeface="宋体" panose="02010600030101010101" pitchFamily="2" charset="-122"/>
              </a:rPr>
              <a:t>收益权衡</a:t>
            </a:r>
            <a:r>
              <a:rPr lang="zh-CN" altLang="en-US" sz="2000">
                <a:latin typeface="宋体" panose="02010600030101010101" pitchFamily="2" charset="-122"/>
                <a:ea typeface="宋体" panose="02010600030101010101" pitchFamily="2" charset="-122"/>
                <a:cs typeface="宋体" panose="02010600030101010101" pitchFamily="2" charset="-122"/>
              </a:rPr>
              <a:t>：认知活动带来的潜在收益，能够抵消主观感受到的努力成本。本研究从个体差异视角展开探究，以斯特鲁普干扰效应衡量执行功能水平，分析该指标能否预测奖赏激励对任务转换代价的削弱程度（任务转换代价是表征额外认知努力投入的经典指标）</a:t>
            </a:r>
            <a:endParaRPr lang="zh-CN" altLang="en-US" sz="2000">
              <a:latin typeface="宋体" panose="02010600030101010101" pitchFamily="2" charset="-122"/>
              <a:ea typeface="宋体" panose="02010600030101010101" pitchFamily="2" charset="-122"/>
              <a:cs typeface="宋体" panose="02010600030101010101" pitchFamily="2" charset="-122"/>
            </a:endParaRPr>
          </a:p>
          <a:p>
            <a:endParaRPr lang="zh-CN" altLang="en-US" sz="2000">
              <a:latin typeface="宋体" panose="02010600030101010101" pitchFamily="2" charset="-122"/>
              <a:ea typeface="宋体" panose="02010600030101010101" pitchFamily="2" charset="-122"/>
              <a:cs typeface="宋体" panose="02010600030101010101" pitchFamily="2" charset="-122"/>
            </a:endParaRPr>
          </a:p>
          <a:p>
            <a:r>
              <a:rPr lang="zh-CN" altLang="en-US" sz="2000">
                <a:latin typeface="宋体" panose="02010600030101010101" pitchFamily="2" charset="-122"/>
                <a:ea typeface="宋体" panose="02010600030101010101" pitchFamily="2" charset="-122"/>
                <a:cs typeface="宋体" panose="02010600030101010101" pitchFamily="2" charset="-122"/>
              </a:rPr>
              <a:t>现有两类结论：</a:t>
            </a:r>
            <a:endParaRPr lang="zh-CN" altLang="en-US" sz="2000">
              <a:latin typeface="宋体" panose="02010600030101010101" pitchFamily="2" charset="-122"/>
              <a:ea typeface="宋体" panose="02010600030101010101" pitchFamily="2" charset="-122"/>
              <a:cs typeface="宋体" panose="02010600030101010101" pitchFamily="2" charset="-122"/>
            </a:endParaRPr>
          </a:p>
          <a:p>
            <a:r>
              <a:rPr lang="zh-CN" altLang="en-US" sz="2000">
                <a:latin typeface="宋体" panose="02010600030101010101" pitchFamily="2" charset="-122"/>
                <a:ea typeface="宋体" panose="02010600030101010101" pitchFamily="2" charset="-122"/>
                <a:cs typeface="宋体" panose="02010600030101010101" pitchFamily="2" charset="-122"/>
              </a:rPr>
              <a:t>认知能力弱的人，主观认知成本更高，更倾向回避费力任务；外部奖赏能够有效抵消认知成本，促使个体提升认知控制与努力水平。</a:t>
            </a:r>
            <a:endParaRPr lang="zh-CN" altLang="en-US" sz="2000">
              <a:latin typeface="宋体" panose="02010600030101010101" pitchFamily="2" charset="-122"/>
              <a:ea typeface="宋体" panose="02010600030101010101" pitchFamily="2" charset="-122"/>
              <a:cs typeface="宋体" panose="02010600030101010101" pitchFamily="2" charset="-122"/>
            </a:endParaRPr>
          </a:p>
          <a:p>
            <a:r>
              <a:rPr lang="zh-CN" altLang="en-US" sz="2000" b="1">
                <a:latin typeface="宋体" panose="02010600030101010101" pitchFamily="2" charset="-122"/>
                <a:ea typeface="宋体" panose="02010600030101010101" pitchFamily="2" charset="-122"/>
                <a:cs typeface="宋体" panose="02010600030101010101" pitchFamily="2" charset="-122"/>
              </a:rPr>
              <a:t>待验证关键问题：认知能力不同的人，对奖赏激励的响应程度是否存在差异？</a:t>
            </a:r>
            <a:endParaRPr lang="zh-CN" altLang="en-US" sz="2000" b="1">
              <a:latin typeface="宋体" panose="02010600030101010101" pitchFamily="2" charset="-122"/>
              <a:ea typeface="宋体" panose="02010600030101010101" pitchFamily="2" charset="-122"/>
              <a:cs typeface="宋体" panose="02010600030101010101" pitchFamily="2" charset="-122"/>
            </a:endParaRPr>
          </a:p>
          <a:p>
            <a:endParaRPr lang="zh-CN" altLang="en-US" sz="2000">
              <a:latin typeface="宋体" panose="02010600030101010101" pitchFamily="2" charset="-122"/>
              <a:ea typeface="宋体" panose="02010600030101010101" pitchFamily="2" charset="-122"/>
              <a:cs typeface="宋体" panose="02010600030101010101" pitchFamily="2" charset="-122"/>
            </a:endParaRPr>
          </a:p>
          <a:p>
            <a:endParaRPr lang="zh-CN" altLang="en-US" sz="2000">
              <a:latin typeface="宋体" panose="02010600030101010101" pitchFamily="2" charset="-122"/>
              <a:ea typeface="宋体" panose="02010600030101010101" pitchFamily="2" charset="-122"/>
              <a:cs typeface="宋体" panose="02010600030101010101" pitchFamily="2" charset="-122"/>
            </a:endParaRPr>
          </a:p>
          <a:p>
            <a:endParaRPr lang="zh-CN" altLang="en-US" sz="2000">
              <a:latin typeface="宋体" panose="02010600030101010101" pitchFamily="2" charset="-122"/>
              <a:ea typeface="宋体" panose="02010600030101010101" pitchFamily="2" charset="-122"/>
              <a:cs typeface="宋体" panose="02010600030101010101" pitchFamily="2" charset="-122"/>
            </a:endParaRPr>
          </a:p>
        </p:txBody>
      </p:sp>
      <p:sp>
        <p:nvSpPr>
          <p:cNvPr id="3" name="文本框 2"/>
          <p:cNvSpPr txBox="1"/>
          <p:nvPr/>
        </p:nvSpPr>
        <p:spPr>
          <a:xfrm>
            <a:off x="589915" y="4831080"/>
            <a:ext cx="4430395" cy="922020"/>
          </a:xfrm>
          <a:prstGeom prst="rect">
            <a:avLst/>
          </a:prstGeom>
          <a:noFill/>
        </p:spPr>
        <p:txBody>
          <a:bodyPr wrap="square" rtlCol="0">
            <a:spAutoFit/>
          </a:bodyPr>
          <a:p>
            <a:r>
              <a:rPr lang="zh-CN" altLang="en-US"/>
              <a:t>假设1：低认知能力者本身认知成本高，奖赏的补偿作用更强，因此</a:t>
            </a:r>
            <a:r>
              <a:rPr lang="zh-CN" altLang="en-US">
                <a:solidFill>
                  <a:srgbClr val="FF0000"/>
                </a:solidFill>
              </a:rPr>
              <a:t>受奖赏影响更大</a:t>
            </a:r>
            <a:r>
              <a:rPr lang="zh-CN" altLang="en-US"/>
              <a:t>、更愿意增加努力；</a:t>
            </a:r>
            <a:endParaRPr lang="zh-CN" altLang="en-US"/>
          </a:p>
        </p:txBody>
      </p:sp>
      <p:sp>
        <p:nvSpPr>
          <p:cNvPr id="6" name="文本框 5"/>
          <p:cNvSpPr txBox="1"/>
          <p:nvPr/>
        </p:nvSpPr>
        <p:spPr>
          <a:xfrm>
            <a:off x="6815455" y="4784725"/>
            <a:ext cx="4360545" cy="922020"/>
          </a:xfrm>
          <a:prstGeom prst="rect">
            <a:avLst/>
          </a:prstGeom>
          <a:noFill/>
        </p:spPr>
        <p:txBody>
          <a:bodyPr wrap="square" rtlCol="0">
            <a:spAutoFit/>
          </a:bodyPr>
          <a:p>
            <a:r>
              <a:rPr lang="zh-CN" altLang="en-US"/>
              <a:t>假设2：低认知能力者即便有奖赏，弥补高额成本后边际收益仍很低，</a:t>
            </a:r>
            <a:r>
              <a:rPr lang="zh-CN" altLang="en-US">
                <a:solidFill>
                  <a:srgbClr val="FF0000"/>
                </a:solidFill>
              </a:rPr>
              <a:t>对奖赏更不敏感。</a:t>
            </a:r>
            <a:endParaRPr lang="zh-CN" altLang="en-US">
              <a:solidFill>
                <a:srgbClr val="FF0000"/>
              </a:solidFill>
            </a:endParaRPr>
          </a:p>
        </p:txBody>
      </p:sp>
      <p:cxnSp>
        <p:nvCxnSpPr>
          <p:cNvPr id="9" name="直接箭头连接符 8"/>
          <p:cNvCxnSpPr/>
          <p:nvPr/>
        </p:nvCxnSpPr>
        <p:spPr>
          <a:xfrm>
            <a:off x="5094605" y="5183505"/>
            <a:ext cx="1627505" cy="0"/>
          </a:xfrm>
          <a:prstGeom prst="straightConnector1">
            <a:avLst/>
          </a:prstGeom>
          <a:ln>
            <a:solidFill>
              <a:schemeClr val="tx1"/>
            </a:solidFill>
            <a:headEnd type="arrow"/>
            <a:tailEnd type="arrow"/>
          </a:ln>
        </p:spPr>
        <p:style>
          <a:lnRef idx="2">
            <a:schemeClr val="accent1"/>
          </a:lnRef>
          <a:fillRef idx="0">
            <a:srgbClr val="FFFFFF"/>
          </a:fillRef>
          <a:effectRef idx="0">
            <a:srgbClr val="FFFFFF"/>
          </a:effectRef>
          <a:fontRef idx="minor">
            <a:schemeClr val="tx1"/>
          </a:fontRef>
        </p:style>
      </p:cxnSp>
      <p:sp>
        <p:nvSpPr>
          <p:cNvPr id="10" name="文本框 9"/>
          <p:cNvSpPr txBox="1"/>
          <p:nvPr/>
        </p:nvSpPr>
        <p:spPr>
          <a:xfrm>
            <a:off x="5621655" y="4831080"/>
            <a:ext cx="736600" cy="368300"/>
          </a:xfrm>
          <a:prstGeom prst="rect">
            <a:avLst/>
          </a:prstGeom>
          <a:noFill/>
        </p:spPr>
        <p:txBody>
          <a:bodyPr wrap="square" rtlCol="0">
            <a:spAutoFit/>
          </a:bodyPr>
          <a:p>
            <a:r>
              <a:rPr lang="zh-CN" altLang="en-US">
                <a:solidFill>
                  <a:srgbClr val="FF0000"/>
                </a:solidFill>
              </a:rPr>
              <a:t>对立</a:t>
            </a:r>
            <a:endParaRPr lang="zh-CN" altLang="en-US">
              <a:solidFill>
                <a:srgbClr val="FF0000"/>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10" name="图片 1"/>
          <p:cNvPicPr>
            <a:picLocks noChangeAspect="1"/>
          </p:cNvPicPr>
          <p:nvPr/>
        </p:nvPicPr>
        <p:blipFill>
          <a:blip r:embed="rId1"/>
          <a:stretch>
            <a:fillRect/>
          </a:stretch>
        </p:blipFill>
        <p:spPr>
          <a:xfrm>
            <a:off x="8610600" y="0"/>
            <a:ext cx="3581400" cy="1006475"/>
          </a:xfrm>
          <a:prstGeom prst="rect">
            <a:avLst/>
          </a:prstGeom>
          <a:noFill/>
          <a:ln w="9525">
            <a:noFill/>
          </a:ln>
        </p:spPr>
      </p:pic>
      <p:sp>
        <p:nvSpPr>
          <p:cNvPr id="17411" name="文本框 2"/>
          <p:cNvSpPr txBox="1"/>
          <p:nvPr/>
        </p:nvSpPr>
        <p:spPr>
          <a:xfrm>
            <a:off x="868363" y="25400"/>
            <a:ext cx="4541837" cy="737235"/>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50000"/>
              </a:lnSpc>
              <a:spcBef>
                <a:spcPct val="0"/>
              </a:spcBef>
              <a:buFontTx/>
              <a:buNone/>
            </a:pPr>
            <a:r>
              <a:rPr lang="zh-CN" altLang="en-US" b="1">
                <a:solidFill>
                  <a:srgbClr val="4B649F"/>
                </a:solidFill>
              </a:rPr>
              <a:t>研究</a:t>
            </a:r>
            <a:r>
              <a:rPr lang="zh-CN" altLang="en-US" b="1">
                <a:solidFill>
                  <a:srgbClr val="4B649F"/>
                </a:solidFill>
              </a:rPr>
              <a:t>背景</a:t>
            </a:r>
            <a:endParaRPr lang="zh-CN" altLang="en-US" b="1">
              <a:solidFill>
                <a:srgbClr val="4B649F"/>
              </a:solidFill>
            </a:endParaRPr>
          </a:p>
        </p:txBody>
      </p:sp>
      <p:cxnSp>
        <p:nvCxnSpPr>
          <p:cNvPr id="4" name="直接连接符 3"/>
          <p:cNvCxnSpPr/>
          <p:nvPr/>
        </p:nvCxnSpPr>
        <p:spPr>
          <a:xfrm>
            <a:off x="0" y="798513"/>
            <a:ext cx="11176000" cy="0"/>
          </a:xfrm>
          <a:prstGeom prst="line">
            <a:avLst/>
          </a:prstGeom>
          <a:ln w="25400">
            <a:gradFill>
              <a:gsLst>
                <a:gs pos="0">
                  <a:srgbClr val="4B649F"/>
                </a:gs>
                <a:gs pos="100000">
                  <a:srgbClr val="7DB1CD">
                    <a:alpha val="0"/>
                  </a:srgbClr>
                </a:gs>
              </a:gsLst>
              <a:lin ang="0" scaled="0"/>
            </a:gradFill>
          </a:ln>
        </p:spPr>
        <p:style>
          <a:lnRef idx="1">
            <a:schemeClr val="accent1"/>
          </a:lnRef>
          <a:fillRef idx="0">
            <a:schemeClr val="accent1"/>
          </a:fillRef>
          <a:effectRef idx="0">
            <a:schemeClr val="accent1"/>
          </a:effectRef>
          <a:fontRef idx="minor">
            <a:schemeClr val="tx1"/>
          </a:fontRef>
        </p:style>
      </p:cxnSp>
      <p:sp>
        <p:nvSpPr>
          <p:cNvPr id="5" name="矩形 4"/>
          <p:cNvSpPr/>
          <p:nvPr/>
        </p:nvSpPr>
        <p:spPr>
          <a:xfrm>
            <a:off x="0" y="6724650"/>
            <a:ext cx="12192000" cy="133350"/>
          </a:xfrm>
          <a:prstGeom prst="rect">
            <a:avLst/>
          </a:prstGeom>
          <a:solidFill>
            <a:srgbClr val="4B649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1">
              <a:ln>
                <a:noFill/>
              </a:ln>
              <a:solidFill>
                <a:schemeClr val="lt1"/>
              </a:solidFill>
              <a:effectLst/>
              <a:uLnTx/>
              <a:uFillTx/>
              <a:latin typeface="+mn-lt"/>
              <a:ea typeface="+mn-ea"/>
              <a:cs typeface="+mn-cs"/>
            </a:endParaRPr>
          </a:p>
        </p:txBody>
      </p:sp>
      <p:grpSp>
        <p:nvGrpSpPr>
          <p:cNvPr id="17414" name="组合 5"/>
          <p:cNvGrpSpPr/>
          <p:nvPr/>
        </p:nvGrpSpPr>
        <p:grpSpPr>
          <a:xfrm>
            <a:off x="233363" y="125413"/>
            <a:ext cx="635000" cy="635000"/>
            <a:chOff x="5288161" y="2234042"/>
            <a:chExt cx="1607262" cy="1607262"/>
          </a:xfrm>
        </p:grpSpPr>
        <p:sp>
          <p:nvSpPr>
            <p:cNvPr id="7" name="椭圆 6"/>
            <p:cNvSpPr/>
            <p:nvPr/>
          </p:nvSpPr>
          <p:spPr>
            <a:xfrm>
              <a:off x="5288161" y="2234042"/>
              <a:ext cx="1607262" cy="1607262"/>
            </a:xfrm>
            <a:prstGeom prst="ellipse">
              <a:avLst/>
            </a:prstGeom>
            <a:solidFill>
              <a:srgbClr val="4B649F"/>
            </a:solidFill>
            <a:ln w="19050">
              <a:solidFill>
                <a:srgbClr val="4B649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1">
                <a:ln>
                  <a:noFill/>
                </a:ln>
                <a:solidFill>
                  <a:schemeClr val="lt1"/>
                </a:solidFill>
                <a:effectLst/>
                <a:uLnTx/>
                <a:uFillTx/>
                <a:latin typeface="+mn-lt"/>
                <a:ea typeface="+mn-ea"/>
                <a:cs typeface="+mn-cs"/>
              </a:endParaRPr>
            </a:p>
          </p:txBody>
        </p:sp>
        <p:sp>
          <p:nvSpPr>
            <p:cNvPr id="8" name="椭圆 7"/>
            <p:cNvSpPr/>
            <p:nvPr/>
          </p:nvSpPr>
          <p:spPr>
            <a:xfrm>
              <a:off x="5396650" y="2334495"/>
              <a:ext cx="1390282" cy="1390282"/>
            </a:xfrm>
            <a:prstGeom prst="ellipse">
              <a:avLst/>
            </a:prstGeom>
            <a:solidFill>
              <a:schemeClr val="bg1"/>
            </a:solidFill>
            <a:ln w="19050">
              <a:solidFill>
                <a:srgbClr val="4B649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1">
                <a:ln>
                  <a:noFill/>
                </a:ln>
                <a:solidFill>
                  <a:schemeClr val="lt1"/>
                </a:solidFill>
                <a:effectLst/>
                <a:uLnTx/>
                <a:uFillTx/>
                <a:latin typeface="+mn-lt"/>
                <a:ea typeface="+mn-ea"/>
                <a:cs typeface="+mn-cs"/>
              </a:endParaRPr>
            </a:p>
          </p:txBody>
        </p:sp>
        <p:sp>
          <p:nvSpPr>
            <p:cNvPr id="17440" name="KSO_Shape"/>
            <p:cNvSpPr/>
            <p:nvPr/>
          </p:nvSpPr>
          <p:spPr>
            <a:xfrm>
              <a:off x="5547153" y="2697761"/>
              <a:ext cx="1089278" cy="662788"/>
            </a:xfrm>
            <a:custGeom>
              <a:avLst/>
              <a:gdLst>
                <a:gd name="txL" fmla="*/ 0 w 3931"/>
                <a:gd name="txT" fmla="*/ 0 h 2392"/>
                <a:gd name="txR" fmla="*/ 3931 w 3931"/>
                <a:gd name="txB" fmla="*/ 2392 h 2392"/>
              </a:gdLst>
              <a:ahLst/>
              <a:cxnLst>
                <a:cxn ang="0">
                  <a:pos x="844045" y="356609"/>
                </a:cxn>
                <a:cxn ang="0">
                  <a:pos x="561681" y="235522"/>
                </a:cxn>
                <a:cxn ang="0">
                  <a:pos x="243848" y="356609"/>
                </a:cxn>
                <a:cxn ang="0">
                  <a:pos x="155176" y="319756"/>
                </a:cxn>
                <a:cxn ang="0">
                  <a:pos x="155176" y="428374"/>
                </a:cxn>
                <a:cxn ang="0">
                  <a:pos x="179283" y="461624"/>
                </a:cxn>
                <a:cxn ang="0">
                  <a:pos x="154622" y="494874"/>
                </a:cxn>
                <a:cxn ang="0">
                  <a:pos x="180946" y="611804"/>
                </a:cxn>
                <a:cxn ang="0">
                  <a:pos x="103358" y="611804"/>
                </a:cxn>
                <a:cxn ang="0">
                  <a:pos x="129960" y="494320"/>
                </a:cxn>
                <a:cxn ang="0">
                  <a:pos x="108346" y="461624"/>
                </a:cxn>
                <a:cxn ang="0">
                  <a:pos x="129128" y="429205"/>
                </a:cxn>
                <a:cxn ang="0">
                  <a:pos x="129128" y="308950"/>
                </a:cxn>
                <a:cxn ang="0">
                  <a:pos x="0" y="254918"/>
                </a:cxn>
                <a:cxn ang="0">
                  <a:pos x="568054" y="0"/>
                </a:cxn>
                <a:cxn ang="0">
                  <a:pos x="1089278" y="258243"/>
                </a:cxn>
                <a:cxn ang="0">
                  <a:pos x="844045" y="356609"/>
                </a:cxn>
                <a:cxn ang="0">
                  <a:pos x="555307" y="297035"/>
                </a:cxn>
                <a:cxn ang="0">
                  <a:pos x="811624" y="384040"/>
                </a:cxn>
                <a:cxn ang="0">
                  <a:pos x="811624" y="594902"/>
                </a:cxn>
                <a:cxn ang="0">
                  <a:pos x="542284" y="662788"/>
                </a:cxn>
                <a:cxn ang="0">
                  <a:pos x="304532" y="594902"/>
                </a:cxn>
                <a:cxn ang="0">
                  <a:pos x="304532" y="384040"/>
                </a:cxn>
                <a:cxn ang="0">
                  <a:pos x="555307" y="297035"/>
                </a:cxn>
                <a:cxn ang="0">
                  <a:pos x="551982" y="623996"/>
                </a:cxn>
                <a:cxn ang="0">
                  <a:pos x="758698" y="572458"/>
                </a:cxn>
                <a:cxn ang="0">
                  <a:pos x="551982" y="520643"/>
                </a:cxn>
                <a:cxn ang="0">
                  <a:pos x="345543" y="572458"/>
                </a:cxn>
                <a:cxn ang="0">
                  <a:pos x="551982" y="623996"/>
                </a:cxn>
              </a:cxnLst>
              <a:rect l="txL" t="txT" r="txR" b="txB"/>
              <a:pathLst>
                <a:path w="3931" h="2392">
                  <a:moveTo>
                    <a:pt x="3046" y="1287"/>
                  </a:moveTo>
                  <a:cubicBezTo>
                    <a:pt x="3046" y="1287"/>
                    <a:pt x="2618" y="850"/>
                    <a:pt x="2027" y="850"/>
                  </a:cubicBezTo>
                  <a:cubicBezTo>
                    <a:pt x="1450" y="850"/>
                    <a:pt x="880" y="1287"/>
                    <a:pt x="880" y="1287"/>
                  </a:cubicBezTo>
                  <a:cubicBezTo>
                    <a:pt x="560" y="1154"/>
                    <a:pt x="560" y="1154"/>
                    <a:pt x="560" y="1154"/>
                  </a:cubicBezTo>
                  <a:cubicBezTo>
                    <a:pt x="560" y="1546"/>
                    <a:pt x="560" y="1546"/>
                    <a:pt x="560" y="1546"/>
                  </a:cubicBezTo>
                  <a:cubicBezTo>
                    <a:pt x="610" y="1563"/>
                    <a:pt x="647" y="1610"/>
                    <a:pt x="647" y="1666"/>
                  </a:cubicBezTo>
                  <a:cubicBezTo>
                    <a:pt x="647" y="1723"/>
                    <a:pt x="609" y="1769"/>
                    <a:pt x="558" y="1786"/>
                  </a:cubicBezTo>
                  <a:cubicBezTo>
                    <a:pt x="653" y="2208"/>
                    <a:pt x="653" y="2208"/>
                    <a:pt x="653" y="2208"/>
                  </a:cubicBezTo>
                  <a:cubicBezTo>
                    <a:pt x="373" y="2208"/>
                    <a:pt x="373" y="2208"/>
                    <a:pt x="373" y="2208"/>
                  </a:cubicBezTo>
                  <a:cubicBezTo>
                    <a:pt x="469" y="1784"/>
                    <a:pt x="469" y="1784"/>
                    <a:pt x="469" y="1784"/>
                  </a:cubicBezTo>
                  <a:cubicBezTo>
                    <a:pt x="423" y="1764"/>
                    <a:pt x="391" y="1719"/>
                    <a:pt x="391" y="1666"/>
                  </a:cubicBezTo>
                  <a:cubicBezTo>
                    <a:pt x="391" y="1614"/>
                    <a:pt x="422" y="1570"/>
                    <a:pt x="466" y="1549"/>
                  </a:cubicBezTo>
                  <a:cubicBezTo>
                    <a:pt x="466" y="1115"/>
                    <a:pt x="466" y="1115"/>
                    <a:pt x="466" y="1115"/>
                  </a:cubicBezTo>
                  <a:cubicBezTo>
                    <a:pt x="0" y="920"/>
                    <a:pt x="0" y="920"/>
                    <a:pt x="0" y="920"/>
                  </a:cubicBezTo>
                  <a:cubicBezTo>
                    <a:pt x="2050" y="0"/>
                    <a:pt x="2050" y="0"/>
                    <a:pt x="2050" y="0"/>
                  </a:cubicBezTo>
                  <a:cubicBezTo>
                    <a:pt x="3931" y="932"/>
                    <a:pt x="3931" y="932"/>
                    <a:pt x="3931" y="932"/>
                  </a:cubicBezTo>
                  <a:lnTo>
                    <a:pt x="3046" y="1287"/>
                  </a:lnTo>
                  <a:close/>
                  <a:moveTo>
                    <a:pt x="2004" y="1072"/>
                  </a:moveTo>
                  <a:cubicBezTo>
                    <a:pt x="2598" y="1072"/>
                    <a:pt x="2929" y="1386"/>
                    <a:pt x="2929" y="1386"/>
                  </a:cubicBezTo>
                  <a:cubicBezTo>
                    <a:pt x="2929" y="2147"/>
                    <a:pt x="2929" y="2147"/>
                    <a:pt x="2929" y="2147"/>
                  </a:cubicBezTo>
                  <a:cubicBezTo>
                    <a:pt x="2929" y="2147"/>
                    <a:pt x="2586" y="2392"/>
                    <a:pt x="1957" y="2392"/>
                  </a:cubicBezTo>
                  <a:cubicBezTo>
                    <a:pt x="1328" y="2392"/>
                    <a:pt x="1099" y="2147"/>
                    <a:pt x="1099" y="2147"/>
                  </a:cubicBezTo>
                  <a:cubicBezTo>
                    <a:pt x="1099" y="1386"/>
                    <a:pt x="1099" y="1386"/>
                    <a:pt x="1099" y="1386"/>
                  </a:cubicBezTo>
                  <a:cubicBezTo>
                    <a:pt x="1099" y="1386"/>
                    <a:pt x="1410" y="1072"/>
                    <a:pt x="2004" y="1072"/>
                  </a:cubicBezTo>
                  <a:close/>
                  <a:moveTo>
                    <a:pt x="1992" y="2252"/>
                  </a:moveTo>
                  <a:cubicBezTo>
                    <a:pt x="2404" y="2252"/>
                    <a:pt x="2738" y="2168"/>
                    <a:pt x="2738" y="2066"/>
                  </a:cubicBezTo>
                  <a:cubicBezTo>
                    <a:pt x="2738" y="1963"/>
                    <a:pt x="2404" y="1879"/>
                    <a:pt x="1992" y="1879"/>
                  </a:cubicBezTo>
                  <a:cubicBezTo>
                    <a:pt x="1581" y="1879"/>
                    <a:pt x="1247" y="1963"/>
                    <a:pt x="1247" y="2066"/>
                  </a:cubicBezTo>
                  <a:cubicBezTo>
                    <a:pt x="1247" y="2168"/>
                    <a:pt x="1581" y="2252"/>
                    <a:pt x="1992" y="2252"/>
                  </a:cubicBezTo>
                  <a:close/>
                </a:path>
              </a:pathLst>
            </a:custGeom>
            <a:solidFill>
              <a:srgbClr val="4B649F">
                <a:alpha val="100000"/>
              </a:srgbClr>
            </a:solidFill>
            <a:ln w="9525">
              <a:noFill/>
            </a:ln>
          </p:spPr>
          <p:txBody>
            <a:bodyPr/>
            <a:lstStyle/>
            <a:p>
              <a:endParaRPr lang="zh-CN" altLang="en-US" sz="1800"/>
            </a:p>
          </p:txBody>
        </p:sp>
      </p:grpSp>
      <p:sp>
        <p:nvSpPr>
          <p:cNvPr id="25" name="矩形 24"/>
          <p:cNvSpPr/>
          <p:nvPr/>
        </p:nvSpPr>
        <p:spPr>
          <a:xfrm>
            <a:off x="1151689" y="6525929"/>
            <a:ext cx="1553010" cy="179471"/>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sz="1800"/>
          </a:p>
        </p:txBody>
      </p:sp>
      <p:pic>
        <p:nvPicPr>
          <p:cNvPr id="3" name="图片 2"/>
          <p:cNvPicPr>
            <a:picLocks noChangeAspect="1"/>
          </p:cNvPicPr>
          <p:nvPr/>
        </p:nvPicPr>
        <p:blipFill>
          <a:blip r:embed="rId2"/>
          <a:stretch>
            <a:fillRect/>
          </a:stretch>
        </p:blipFill>
        <p:spPr>
          <a:xfrm>
            <a:off x="9194788" y="1751225"/>
            <a:ext cx="2911495" cy="4206644"/>
          </a:xfrm>
          <a:prstGeom prst="rect">
            <a:avLst/>
          </a:prstGeom>
        </p:spPr>
      </p:pic>
      <p:sp>
        <p:nvSpPr>
          <p:cNvPr id="9" name="文本框 8"/>
          <p:cNvSpPr txBox="1"/>
          <p:nvPr/>
        </p:nvSpPr>
        <p:spPr>
          <a:xfrm>
            <a:off x="335686" y="1193388"/>
            <a:ext cx="6097508" cy="398780"/>
          </a:xfrm>
          <a:prstGeom prst="rect">
            <a:avLst/>
          </a:prstGeom>
          <a:noFill/>
        </p:spPr>
        <p:txBody>
          <a:bodyPr wrap="square">
            <a:spAutoFit/>
          </a:bodyPr>
          <a:lstStyle/>
          <a:p>
            <a:pPr marL="285750" indent="-285750">
              <a:buFont typeface="Wingdings" panose="05000000000000000000" pitchFamily="2" charset="2"/>
              <a:buChar char="Ø"/>
            </a:pPr>
            <a:r>
              <a:rPr lang="zh-CN" altLang="en-US" sz="2000">
                <a:sym typeface="+mn-lt"/>
              </a:rPr>
              <a:t>复现</a:t>
            </a:r>
            <a:r>
              <a:rPr lang="zh-CN" altLang="en-US" sz="2000">
                <a:sym typeface="+mn-lt"/>
              </a:rPr>
              <a:t>思路</a:t>
            </a:r>
            <a:endParaRPr lang="zh-CN" altLang="en-US" sz="2000">
              <a:sym typeface="+mn-lt"/>
            </a:endParaRPr>
          </a:p>
        </p:txBody>
      </p:sp>
      <p:sp>
        <p:nvSpPr>
          <p:cNvPr id="2" name="文本框 1"/>
          <p:cNvSpPr txBox="1"/>
          <p:nvPr/>
        </p:nvSpPr>
        <p:spPr>
          <a:xfrm>
            <a:off x="335915" y="1758950"/>
            <a:ext cx="8892540" cy="4246245"/>
          </a:xfrm>
          <a:prstGeom prst="rect">
            <a:avLst/>
          </a:prstGeom>
          <a:noFill/>
        </p:spPr>
        <p:txBody>
          <a:bodyPr wrap="square" rtlCol="0" anchor="t">
            <a:spAutoFit/>
          </a:bodyPr>
          <a:p>
            <a:pPr algn="just"/>
            <a:r>
              <a:rPr lang="zh-CN" altLang="en-US" b="1">
                <a:latin typeface="宋体" panose="02010600030101010101" pitchFamily="2" charset="-122"/>
                <a:ea typeface="宋体" panose="02010600030101010101" pitchFamily="2" charset="-122"/>
                <a:cs typeface="宋体" panose="02010600030101010101" pitchFamily="2" charset="-122"/>
              </a:rPr>
              <a:t>复现思路：</a:t>
            </a:r>
            <a:r>
              <a:rPr lang="zh-CN" altLang="en-US">
                <a:latin typeface="宋体" panose="02010600030101010101" pitchFamily="2" charset="-122"/>
                <a:ea typeface="宋体" panose="02010600030101010101" pitchFamily="2" charset="-122"/>
                <a:cs typeface="宋体" panose="02010600030101010101" pitchFamily="2" charset="-122"/>
              </a:rPr>
              <a:t>先大致浏览文献的摘要，主要阅读研究方法和结果部分，再看下讨论是否还有可以进行优化的地方。</a:t>
            </a:r>
            <a:endParaRPr lang="en-US" altLang="zh-CN">
              <a:latin typeface="宋体" panose="02010600030101010101" pitchFamily="2" charset="-122"/>
              <a:ea typeface="宋体" panose="02010600030101010101" pitchFamily="2" charset="-122"/>
              <a:cs typeface="宋体" panose="02010600030101010101" pitchFamily="2" charset="-122"/>
            </a:endParaRPr>
          </a:p>
          <a:p>
            <a:pPr algn="just"/>
            <a:r>
              <a:rPr lang="zh-CN" altLang="en-US">
                <a:latin typeface="宋体" panose="02010600030101010101" pitchFamily="2" charset="-122"/>
                <a:ea typeface="宋体" panose="02010600030101010101" pitchFamily="2" charset="-122"/>
                <a:cs typeface="宋体" panose="02010600030101010101" pitchFamily="2" charset="-122"/>
              </a:rPr>
              <a:t>首先，明确文献要验证什么结果，要达到什么目的（金钱奖励会不会让人更认真地思考，这取决于这个人的认知能力和内在动机）；</a:t>
            </a:r>
            <a:endParaRPr lang="en-US" altLang="zh-CN">
              <a:latin typeface="宋体" panose="02010600030101010101" pitchFamily="2" charset="-122"/>
              <a:ea typeface="宋体" panose="02010600030101010101" pitchFamily="2" charset="-122"/>
              <a:cs typeface="宋体" panose="02010600030101010101" pitchFamily="2" charset="-122"/>
            </a:endParaRPr>
          </a:p>
          <a:p>
            <a:pPr algn="just"/>
            <a:r>
              <a:rPr lang="zh-CN" altLang="en-US">
                <a:latin typeface="宋体" panose="02010600030101010101" pitchFamily="2" charset="-122"/>
                <a:ea typeface="宋体" panose="02010600030101010101" pitchFamily="2" charset="-122"/>
                <a:cs typeface="宋体" panose="02010600030101010101" pitchFamily="2" charset="-122"/>
              </a:rPr>
              <a:t>第二，根据文献原始数据和问卷进行分析，可以看哪些是复现文献所需要的列；</a:t>
            </a:r>
            <a:endParaRPr lang="en-US" altLang="zh-CN">
              <a:latin typeface="宋体" panose="02010600030101010101" pitchFamily="2" charset="-122"/>
              <a:ea typeface="宋体" panose="02010600030101010101" pitchFamily="2" charset="-122"/>
              <a:cs typeface="宋体" panose="02010600030101010101" pitchFamily="2" charset="-122"/>
            </a:endParaRPr>
          </a:p>
          <a:p>
            <a:pPr algn="just"/>
            <a:r>
              <a:rPr lang="zh-CN" altLang="en-US">
                <a:latin typeface="宋体" panose="02010600030101010101" pitchFamily="2" charset="-122"/>
                <a:ea typeface="宋体" panose="02010600030101010101" pitchFamily="2" charset="-122"/>
                <a:cs typeface="宋体" panose="02010600030101010101" pitchFamily="2" charset="-122"/>
              </a:rPr>
              <a:t>第三，根据文献数据分析，是否要加载什么必要的数据包或者统计方法是什么，理清所需数据列后再进行数据的处理，一步一步的与原文结果相对照。</a:t>
            </a:r>
            <a:endParaRPr lang="zh-CN" altLang="en-US">
              <a:latin typeface="宋体" panose="02010600030101010101" pitchFamily="2" charset="-122"/>
              <a:ea typeface="宋体" panose="02010600030101010101" pitchFamily="2" charset="-122"/>
              <a:cs typeface="宋体" panose="02010600030101010101" pitchFamily="2" charset="-122"/>
            </a:endParaRPr>
          </a:p>
          <a:p>
            <a:pPr algn="just"/>
            <a:r>
              <a:rPr lang="zh-CN" altLang="en-US" b="1">
                <a:latin typeface="宋体" panose="02010600030101010101" pitchFamily="2" charset="-122"/>
                <a:ea typeface="宋体" panose="02010600030101010101" pitchFamily="2" charset="-122"/>
                <a:cs typeface="宋体" panose="02010600030101010101" pitchFamily="2" charset="-122"/>
              </a:rPr>
              <a:t>核心指标：</a:t>
            </a:r>
            <a:endParaRPr lang="zh-CN" altLang="en-US" b="1">
              <a:latin typeface="宋体" panose="02010600030101010101" pitchFamily="2" charset="-122"/>
              <a:ea typeface="宋体" panose="02010600030101010101" pitchFamily="2" charset="-122"/>
              <a:cs typeface="宋体" panose="02010600030101010101" pitchFamily="2" charset="-122"/>
            </a:endParaRPr>
          </a:p>
          <a:p>
            <a:pPr algn="just"/>
            <a:r>
              <a:rPr lang="en-US" altLang="zh-CN">
                <a:latin typeface="宋体" panose="02010600030101010101" pitchFamily="2" charset="-122"/>
                <a:ea typeface="宋体" panose="02010600030101010101" pitchFamily="2" charset="-122"/>
                <a:cs typeface="宋体" panose="02010600030101010101" pitchFamily="2" charset="-122"/>
              </a:rPr>
              <a:t>EF：Stroop RT cost（</a:t>
            </a:r>
            <a:r>
              <a:rPr lang="zh-CN" altLang="en-US">
                <a:latin typeface="宋体" panose="02010600030101010101" pitchFamily="2" charset="-122"/>
                <a:ea typeface="宋体" panose="02010600030101010101" pitchFamily="2" charset="-122"/>
                <a:cs typeface="宋体" panose="02010600030101010101" pitchFamily="2" charset="-122"/>
              </a:rPr>
              <a:t>不一致</a:t>
            </a:r>
            <a:r>
              <a:rPr lang="en-US" altLang="zh-CN">
                <a:latin typeface="宋体" panose="02010600030101010101" pitchFamily="2" charset="-122"/>
                <a:ea typeface="宋体" panose="02010600030101010101" pitchFamily="2" charset="-122"/>
                <a:cs typeface="宋体" panose="02010600030101010101" pitchFamily="2" charset="-122"/>
              </a:rPr>
              <a:t> - </a:t>
            </a:r>
            <a:r>
              <a:rPr lang="zh-CN" altLang="en-US">
                <a:latin typeface="宋体" panose="02010600030101010101" pitchFamily="2" charset="-122"/>
                <a:ea typeface="宋体" panose="02010600030101010101" pitchFamily="2" charset="-122"/>
                <a:cs typeface="宋体" panose="02010600030101010101" pitchFamily="2" charset="-122"/>
              </a:rPr>
              <a:t>一致试次的中位数 </a:t>
            </a:r>
            <a:r>
              <a:rPr lang="en-US" altLang="zh-CN">
                <a:latin typeface="宋体" panose="02010600030101010101" pitchFamily="2" charset="-122"/>
                <a:ea typeface="宋体" panose="02010600030101010101" pitchFamily="2" charset="-122"/>
                <a:cs typeface="宋体" panose="02010600030101010101" pitchFamily="2" charset="-122"/>
              </a:rPr>
              <a:t>RT </a:t>
            </a:r>
            <a:r>
              <a:rPr lang="zh-CN" altLang="en-US">
                <a:latin typeface="宋体" panose="02010600030101010101" pitchFamily="2" charset="-122"/>
                <a:ea typeface="宋体" panose="02010600030101010101" pitchFamily="2" charset="-122"/>
                <a:cs typeface="宋体" panose="02010600030101010101" pitchFamily="2" charset="-122"/>
              </a:rPr>
              <a:t>差值，标准化后计算）。</a:t>
            </a:r>
            <a:endParaRPr lang="zh-CN" altLang="en-US">
              <a:latin typeface="宋体" panose="02010600030101010101" pitchFamily="2" charset="-122"/>
              <a:ea typeface="宋体" panose="02010600030101010101" pitchFamily="2" charset="-122"/>
              <a:cs typeface="宋体" panose="02010600030101010101" pitchFamily="2" charset="-122"/>
            </a:endParaRPr>
          </a:p>
          <a:p>
            <a:pPr algn="just"/>
            <a:r>
              <a:rPr lang="zh-CN" altLang="en-US">
                <a:latin typeface="宋体" panose="02010600030101010101" pitchFamily="2" charset="-122"/>
                <a:ea typeface="宋体" panose="02010600030101010101" pitchFamily="2" charset="-122"/>
                <a:cs typeface="宋体" panose="02010600030101010101" pitchFamily="2" charset="-122"/>
              </a:rPr>
              <a:t>认知努力：任务转换代价（</a:t>
            </a:r>
            <a:r>
              <a:rPr lang="en-US" altLang="zh-CN">
                <a:latin typeface="宋体" panose="02010600030101010101" pitchFamily="2" charset="-122"/>
                <a:ea typeface="宋体" panose="02010600030101010101" pitchFamily="2" charset="-122"/>
                <a:cs typeface="宋体" panose="02010600030101010101" pitchFamily="2" charset="-122"/>
              </a:rPr>
              <a:t>switch - repeat </a:t>
            </a:r>
            <a:r>
              <a:rPr lang="zh-CN" altLang="en-US">
                <a:latin typeface="宋体" panose="02010600030101010101" pitchFamily="2" charset="-122"/>
                <a:ea typeface="宋体" panose="02010600030101010101" pitchFamily="2" charset="-122"/>
                <a:cs typeface="宋体" panose="02010600030101010101" pitchFamily="2" charset="-122"/>
              </a:rPr>
              <a:t>的 </a:t>
            </a:r>
            <a:r>
              <a:rPr lang="en-US" altLang="zh-CN">
                <a:latin typeface="宋体" panose="02010600030101010101" pitchFamily="2" charset="-122"/>
                <a:ea typeface="宋体" panose="02010600030101010101" pitchFamily="2" charset="-122"/>
                <a:cs typeface="宋体" panose="02010600030101010101" pitchFamily="2" charset="-122"/>
              </a:rPr>
              <a:t>RT </a:t>
            </a:r>
            <a:r>
              <a:rPr lang="zh-CN" altLang="en-US">
                <a:latin typeface="宋体" panose="02010600030101010101" pitchFamily="2" charset="-122"/>
                <a:ea typeface="宋体" panose="02010600030101010101" pitchFamily="2" charset="-122"/>
                <a:cs typeface="宋体" panose="02010600030101010101" pitchFamily="2" charset="-122"/>
              </a:rPr>
              <a:t>差值）。</a:t>
            </a:r>
            <a:endParaRPr lang="zh-CN" altLang="en-US">
              <a:latin typeface="宋体" panose="02010600030101010101" pitchFamily="2" charset="-122"/>
              <a:ea typeface="宋体" panose="02010600030101010101" pitchFamily="2" charset="-122"/>
              <a:cs typeface="宋体" panose="02010600030101010101" pitchFamily="2" charset="-122"/>
            </a:endParaRPr>
          </a:p>
          <a:p>
            <a:pPr algn="just"/>
            <a:r>
              <a:rPr lang="zh-CN" altLang="en-US">
                <a:latin typeface="宋体" panose="02010600030101010101" pitchFamily="2" charset="-122"/>
                <a:ea typeface="宋体" panose="02010600030101010101" pitchFamily="2" charset="-122"/>
                <a:cs typeface="宋体" panose="02010600030101010101" pitchFamily="2" charset="-122"/>
              </a:rPr>
              <a:t>统计方法：混合效应模型（</a:t>
            </a:r>
            <a:r>
              <a:rPr lang="en-US" altLang="zh-CN">
                <a:latin typeface="宋体" panose="02010600030101010101" pitchFamily="2" charset="-122"/>
                <a:ea typeface="宋体" panose="02010600030101010101" pitchFamily="2" charset="-122"/>
                <a:cs typeface="宋体" panose="02010600030101010101" pitchFamily="2" charset="-122"/>
              </a:rPr>
              <a:t>lmer），</a:t>
            </a:r>
            <a:r>
              <a:rPr lang="zh-CN" altLang="en-US">
                <a:latin typeface="宋体" panose="02010600030101010101" pitchFamily="2" charset="-122"/>
                <a:ea typeface="宋体" panose="02010600030101010101" pitchFamily="2" charset="-122"/>
                <a:cs typeface="宋体" panose="02010600030101010101" pitchFamily="2" charset="-122"/>
              </a:rPr>
              <a:t>因变量为 </a:t>
            </a:r>
            <a:r>
              <a:rPr lang="en-US" altLang="zh-CN">
                <a:latin typeface="宋体" panose="02010600030101010101" pitchFamily="2" charset="-122"/>
                <a:ea typeface="宋体" panose="02010600030101010101" pitchFamily="2" charset="-122"/>
                <a:cs typeface="宋体" panose="02010600030101010101" pitchFamily="2" charset="-122"/>
              </a:rPr>
              <a:t>log(RT)，</a:t>
            </a:r>
            <a:r>
              <a:rPr lang="zh-CN" altLang="en-US">
                <a:latin typeface="宋体" panose="02010600030101010101" pitchFamily="2" charset="-122"/>
                <a:ea typeface="宋体" panose="02010600030101010101" pitchFamily="2" charset="-122"/>
                <a:cs typeface="宋体" panose="02010600030101010101" pitchFamily="2" charset="-122"/>
              </a:rPr>
              <a:t>固定效应包含 </a:t>
            </a:r>
            <a:r>
              <a:rPr lang="en-US" altLang="zh-CN">
                <a:latin typeface="宋体" panose="02010600030101010101" pitchFamily="2" charset="-122"/>
                <a:ea typeface="宋体" panose="02010600030101010101" pitchFamily="2" charset="-122"/>
                <a:cs typeface="宋体" panose="02010600030101010101" pitchFamily="2" charset="-122"/>
              </a:rPr>
              <a:t>switch × reward × EF_z / NFC_z，</a:t>
            </a:r>
            <a:r>
              <a:rPr lang="zh-CN" altLang="en-US">
                <a:latin typeface="宋体" panose="02010600030101010101" pitchFamily="2" charset="-122"/>
                <a:ea typeface="宋体" panose="02010600030101010101" pitchFamily="2" charset="-122"/>
                <a:cs typeface="宋体" panose="02010600030101010101" pitchFamily="2" charset="-122"/>
              </a:rPr>
              <a:t>随机效应为 (1 + </a:t>
            </a:r>
            <a:r>
              <a:rPr lang="en-US" altLang="zh-CN">
                <a:latin typeface="宋体" panose="02010600030101010101" pitchFamily="2" charset="-122"/>
                <a:ea typeface="宋体" panose="02010600030101010101" pitchFamily="2" charset="-122"/>
                <a:cs typeface="宋体" panose="02010600030101010101" pitchFamily="2" charset="-122"/>
              </a:rPr>
              <a:t>switch + reward | subject)。</a:t>
            </a:r>
            <a:endParaRPr lang="en-US" altLang="zh-CN">
              <a:latin typeface="宋体" panose="02010600030101010101" pitchFamily="2" charset="-122"/>
              <a:ea typeface="宋体" panose="02010600030101010101" pitchFamily="2" charset="-122"/>
              <a:cs typeface="宋体" panose="02010600030101010101" pitchFamily="2" charset="-122"/>
            </a:endParaRPr>
          </a:p>
          <a:p>
            <a:pPr algn="just"/>
            <a:r>
              <a:rPr lang="zh-CN" altLang="en-US">
                <a:latin typeface="宋体" panose="02010600030101010101" pitchFamily="2" charset="-122"/>
                <a:ea typeface="宋体" panose="02010600030101010101" pitchFamily="2" charset="-122"/>
                <a:cs typeface="宋体" panose="02010600030101010101" pitchFamily="2" charset="-122"/>
              </a:rPr>
              <a:t>输出：</a:t>
            </a:r>
            <a:r>
              <a:rPr lang="en-US" altLang="zh-CN">
                <a:latin typeface="宋体" panose="02010600030101010101" pitchFamily="2" charset="-122"/>
                <a:ea typeface="宋体" panose="02010600030101010101" pitchFamily="2" charset="-122"/>
                <a:cs typeface="宋体" panose="02010600030101010101" pitchFamily="2" charset="-122"/>
              </a:rPr>
              <a:t>Table 1（</a:t>
            </a:r>
            <a:r>
              <a:rPr lang="zh-CN" altLang="en-US">
                <a:latin typeface="宋体" panose="02010600030101010101" pitchFamily="2" charset="-122"/>
                <a:ea typeface="宋体" panose="02010600030101010101" pitchFamily="2" charset="-122"/>
                <a:cs typeface="宋体" panose="02010600030101010101" pitchFamily="2" charset="-122"/>
              </a:rPr>
              <a:t>描述统计）、</a:t>
            </a:r>
            <a:r>
              <a:rPr lang="en-US" altLang="zh-CN">
                <a:latin typeface="宋体" panose="02010600030101010101" pitchFamily="2" charset="-122"/>
                <a:ea typeface="宋体" panose="02010600030101010101" pitchFamily="2" charset="-122"/>
                <a:cs typeface="宋体" panose="02010600030101010101" pitchFamily="2" charset="-122"/>
              </a:rPr>
              <a:t>Table 2 &amp; 3（</a:t>
            </a:r>
            <a:r>
              <a:rPr lang="zh-CN" altLang="en-US">
                <a:latin typeface="宋体" panose="02010600030101010101" pitchFamily="2" charset="-122"/>
                <a:ea typeface="宋体" panose="02010600030101010101" pitchFamily="2" charset="-122"/>
                <a:cs typeface="宋体" panose="02010600030101010101" pitchFamily="2" charset="-122"/>
              </a:rPr>
              <a:t>混合模型系数）、</a:t>
            </a:r>
            <a:r>
              <a:rPr lang="en-US" altLang="zh-CN">
                <a:latin typeface="宋体" panose="02010600030101010101" pitchFamily="2" charset="-122"/>
                <a:ea typeface="宋体" panose="02010600030101010101" pitchFamily="2" charset="-122"/>
                <a:cs typeface="宋体" panose="02010600030101010101" pitchFamily="2" charset="-122"/>
              </a:rPr>
              <a:t>Figure 2 &amp; 3（</a:t>
            </a:r>
            <a:r>
              <a:rPr lang="zh-CN" altLang="en-US">
                <a:latin typeface="宋体" panose="02010600030101010101" pitchFamily="2" charset="-122"/>
                <a:ea typeface="宋体" panose="02010600030101010101" pitchFamily="2" charset="-122"/>
                <a:cs typeface="宋体" panose="02010600030101010101" pitchFamily="2" charset="-122"/>
              </a:rPr>
              <a:t>中位数分组柱状图 + 散点回归）。</a:t>
            </a:r>
            <a:endParaRPr lang="zh-CN" altLang="en-US">
              <a:latin typeface="宋体" panose="02010600030101010101" pitchFamily="2" charset="-122"/>
              <a:ea typeface="宋体" panose="02010600030101010101" pitchFamily="2" charset="-122"/>
              <a:cs typeface="宋体" panose="02010600030101010101" pitchFamily="2" charset="-122"/>
            </a:endParaRPr>
          </a:p>
          <a:p>
            <a:pPr algn="just"/>
            <a:endParaRPr lang="zh-CN" altLang="en-US">
              <a:latin typeface="宋体" panose="02010600030101010101" pitchFamily="2" charset="-122"/>
              <a:ea typeface="宋体" panose="02010600030101010101" pitchFamily="2" charset="-122"/>
              <a:cs typeface="宋体" panose="02010600030101010101" pitchFamily="2"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2540000"/>
            <a:ext cx="5619750" cy="1965325"/>
          </a:xfrm>
          <a:prstGeom prst="rect">
            <a:avLst/>
          </a:prstGeom>
          <a:solidFill>
            <a:srgbClr val="4B649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1">
              <a:ln>
                <a:noFill/>
              </a:ln>
              <a:solidFill>
                <a:schemeClr val="lt1"/>
              </a:solidFill>
              <a:effectLst/>
              <a:uLnTx/>
              <a:uFillTx/>
              <a:latin typeface="+mn-lt"/>
              <a:ea typeface="+mn-ea"/>
              <a:cs typeface="+mn-cs"/>
            </a:endParaRPr>
          </a:p>
        </p:txBody>
      </p:sp>
      <p:grpSp>
        <p:nvGrpSpPr>
          <p:cNvPr id="7173" name="组合 5"/>
          <p:cNvGrpSpPr/>
          <p:nvPr/>
        </p:nvGrpSpPr>
        <p:grpSpPr>
          <a:xfrm>
            <a:off x="1519238" y="2232025"/>
            <a:ext cx="2581275" cy="2582863"/>
            <a:chOff x="1131485" y="2234042"/>
            <a:chExt cx="1607262" cy="1607262"/>
          </a:xfrm>
        </p:grpSpPr>
        <p:sp>
          <p:nvSpPr>
            <p:cNvPr id="7" name="椭圆 6"/>
            <p:cNvSpPr/>
            <p:nvPr/>
          </p:nvSpPr>
          <p:spPr>
            <a:xfrm>
              <a:off x="1131485" y="2234042"/>
              <a:ext cx="1607262" cy="1607262"/>
            </a:xfrm>
            <a:prstGeom prst="ellipse">
              <a:avLst/>
            </a:prstGeom>
            <a:solidFill>
              <a:srgbClr val="4B649F"/>
            </a:solidFill>
            <a:ln w="19050">
              <a:solidFill>
                <a:srgbClr val="4B649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1">
                <a:ln>
                  <a:noFill/>
                </a:ln>
                <a:solidFill>
                  <a:schemeClr val="lt1"/>
                </a:solidFill>
                <a:effectLst/>
                <a:uLnTx/>
                <a:uFillTx/>
                <a:latin typeface="+mn-lt"/>
                <a:ea typeface="+mn-ea"/>
                <a:cs typeface="+mn-cs"/>
              </a:endParaRPr>
            </a:p>
          </p:txBody>
        </p:sp>
        <p:sp>
          <p:nvSpPr>
            <p:cNvPr id="8" name="椭圆 7"/>
            <p:cNvSpPr/>
            <p:nvPr/>
          </p:nvSpPr>
          <p:spPr>
            <a:xfrm>
              <a:off x="1241206" y="2343696"/>
              <a:ext cx="1387820" cy="1387955"/>
            </a:xfrm>
            <a:prstGeom prst="ellipse">
              <a:avLst/>
            </a:prstGeom>
            <a:solidFill>
              <a:schemeClr val="bg1"/>
            </a:solidFill>
            <a:ln w="19050">
              <a:solidFill>
                <a:srgbClr val="4B649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1">
                <a:ln>
                  <a:noFill/>
                </a:ln>
                <a:solidFill>
                  <a:schemeClr val="lt1"/>
                </a:solidFill>
                <a:effectLst/>
                <a:uLnTx/>
                <a:uFillTx/>
                <a:latin typeface="+mn-lt"/>
                <a:ea typeface="+mn-ea"/>
                <a:cs typeface="+mn-cs"/>
              </a:endParaRPr>
            </a:p>
          </p:txBody>
        </p:sp>
        <p:sp>
          <p:nvSpPr>
            <p:cNvPr id="7178" name="KSO_Shape"/>
            <p:cNvSpPr/>
            <p:nvPr/>
          </p:nvSpPr>
          <p:spPr>
            <a:xfrm>
              <a:off x="1480150" y="2597150"/>
              <a:ext cx="909932" cy="881046"/>
            </a:xfrm>
            <a:custGeom>
              <a:avLst/>
              <a:gdLst>
                <a:gd name="txL" fmla="*/ 0 w 8965002"/>
                <a:gd name="txT" fmla="*/ 0 h 8673857"/>
                <a:gd name="txR" fmla="*/ 8965002 w 8965002"/>
                <a:gd name="txB" fmla="*/ 8673857 h 8673857"/>
              </a:gdLst>
              <a:ahLst/>
              <a:cxnLst>
                <a:cxn ang="0">
                  <a:pos x="839090" y="366042"/>
                </a:cxn>
                <a:cxn ang="0">
                  <a:pos x="863104" y="366042"/>
                </a:cxn>
                <a:cxn ang="0">
                  <a:pos x="902746" y="441180"/>
                </a:cxn>
                <a:cxn ang="0">
                  <a:pos x="706823" y="736389"/>
                </a:cxn>
                <a:cxn ang="0">
                  <a:pos x="660701" y="759273"/>
                </a:cxn>
                <a:cxn ang="0">
                  <a:pos x="545586" y="759273"/>
                </a:cxn>
                <a:cxn ang="0">
                  <a:pos x="545586" y="852336"/>
                </a:cxn>
                <a:cxn ang="0">
                  <a:pos x="530339" y="877509"/>
                </a:cxn>
                <a:cxn ang="0">
                  <a:pos x="516236" y="880942"/>
                </a:cxn>
                <a:cxn ang="0">
                  <a:pos x="498320" y="875602"/>
                </a:cxn>
                <a:cxn ang="0">
                  <a:pos x="408745" y="814959"/>
                </a:cxn>
                <a:cxn ang="0">
                  <a:pos x="321074" y="875602"/>
                </a:cxn>
                <a:cxn ang="0">
                  <a:pos x="289056" y="877509"/>
                </a:cxn>
                <a:cxn ang="0">
                  <a:pos x="272665" y="852336"/>
                </a:cxn>
                <a:cxn ang="0">
                  <a:pos x="272665" y="619678"/>
                </a:cxn>
                <a:cxn ang="0">
                  <a:pos x="321837" y="521275"/>
                </a:cxn>
                <a:cxn ang="0">
                  <a:pos x="337465" y="517080"/>
                </a:cxn>
                <a:cxn ang="0">
                  <a:pos x="577605" y="517080"/>
                </a:cxn>
                <a:cxn ang="0">
                  <a:pos x="544824" y="637986"/>
                </a:cxn>
                <a:cxn ang="0">
                  <a:pos x="632113" y="637986"/>
                </a:cxn>
                <a:cxn ang="0">
                  <a:pos x="839090" y="366042"/>
                </a:cxn>
                <a:cxn ang="0">
                  <a:pos x="620142" y="13"/>
                </a:cxn>
                <a:cxn ang="0">
                  <a:pos x="832163" y="13977"/>
                </a:cxn>
                <a:cxn ang="0">
                  <a:pos x="870659" y="89869"/>
                </a:cxn>
                <a:cxn ang="0">
                  <a:pos x="630157" y="403735"/>
                </a:cxn>
                <a:cxn ang="0">
                  <a:pos x="586707" y="424329"/>
                </a:cxn>
                <a:cxn ang="0">
                  <a:pos x="224239" y="424329"/>
                </a:cxn>
                <a:cxn ang="0">
                  <a:pos x="116756" y="556282"/>
                </a:cxn>
                <a:cxn ang="0">
                  <a:pos x="182694" y="632175"/>
                </a:cxn>
                <a:cxn ang="0">
                  <a:pos x="211661" y="637895"/>
                </a:cxn>
                <a:cxn ang="0">
                  <a:pos x="211661" y="759170"/>
                </a:cxn>
                <a:cxn ang="0">
                  <a:pos x="5462" y="581071"/>
                </a:cxn>
                <a:cxn ang="0">
                  <a:pos x="6605" y="480390"/>
                </a:cxn>
                <a:cxn ang="0">
                  <a:pos x="275693" y="68131"/>
                </a:cxn>
                <a:cxn ang="0">
                  <a:pos x="356877" y="23130"/>
                </a:cxn>
                <a:cxn ang="0">
                  <a:pos x="620142" y="13"/>
                </a:cxn>
              </a:cxnLst>
              <a:rect l="txL" t="txT" r="txR" b="txB"/>
              <a:pathLst>
                <a:path w="8965002" h="8673857">
                  <a:moveTo>
                    <a:pt x="8267042" y="3603669"/>
                  </a:moveTo>
                  <a:cubicBezTo>
                    <a:pt x="8267042" y="3603669"/>
                    <a:pt x="8267042" y="3603669"/>
                    <a:pt x="8503636" y="3603669"/>
                  </a:cubicBezTo>
                  <a:cubicBezTo>
                    <a:pt x="8770275" y="3603669"/>
                    <a:pt x="9115779" y="3885289"/>
                    <a:pt x="8894206" y="4343392"/>
                  </a:cubicBezTo>
                  <a:cubicBezTo>
                    <a:pt x="8894206" y="4343392"/>
                    <a:pt x="8894206" y="4343392"/>
                    <a:pt x="6963891" y="7249712"/>
                  </a:cubicBezTo>
                  <a:cubicBezTo>
                    <a:pt x="6817428" y="7463743"/>
                    <a:pt x="6610877" y="7475008"/>
                    <a:pt x="6509479" y="7475008"/>
                  </a:cubicBezTo>
                  <a:cubicBezTo>
                    <a:pt x="6509479" y="7475008"/>
                    <a:pt x="6509479" y="7475008"/>
                    <a:pt x="5375325" y="7475008"/>
                  </a:cubicBezTo>
                  <a:cubicBezTo>
                    <a:pt x="5375325" y="7475008"/>
                    <a:pt x="5375325" y="7475008"/>
                    <a:pt x="5375325" y="8391212"/>
                  </a:cubicBezTo>
                  <a:cubicBezTo>
                    <a:pt x="5375325" y="8503860"/>
                    <a:pt x="5326504" y="8586469"/>
                    <a:pt x="5225106" y="8639038"/>
                  </a:cubicBezTo>
                  <a:cubicBezTo>
                    <a:pt x="5180040" y="8661567"/>
                    <a:pt x="5131219" y="8672833"/>
                    <a:pt x="5086153" y="8672833"/>
                  </a:cubicBezTo>
                  <a:cubicBezTo>
                    <a:pt x="5026066" y="8672833"/>
                    <a:pt x="4962223" y="8654057"/>
                    <a:pt x="4909646" y="8620263"/>
                  </a:cubicBezTo>
                  <a:cubicBezTo>
                    <a:pt x="4909646" y="8620263"/>
                    <a:pt x="4909646" y="8620263"/>
                    <a:pt x="4027109" y="8023229"/>
                  </a:cubicBezTo>
                  <a:cubicBezTo>
                    <a:pt x="4027109" y="8023229"/>
                    <a:pt x="4027109" y="8023229"/>
                    <a:pt x="3163349" y="8620263"/>
                  </a:cubicBezTo>
                  <a:cubicBezTo>
                    <a:pt x="3069463" y="8684097"/>
                    <a:pt x="2949287" y="8691607"/>
                    <a:pt x="2847889" y="8639038"/>
                  </a:cubicBezTo>
                  <a:cubicBezTo>
                    <a:pt x="2750247" y="8586469"/>
                    <a:pt x="2686404" y="8503860"/>
                    <a:pt x="2686404" y="8391212"/>
                  </a:cubicBezTo>
                  <a:cubicBezTo>
                    <a:pt x="2686404" y="8391212"/>
                    <a:pt x="2686404" y="8391212"/>
                    <a:pt x="2686404" y="6100701"/>
                  </a:cubicBezTo>
                  <a:cubicBezTo>
                    <a:pt x="2686404" y="5559991"/>
                    <a:pt x="2990598" y="5237066"/>
                    <a:pt x="3170860" y="5131928"/>
                  </a:cubicBezTo>
                  <a:cubicBezTo>
                    <a:pt x="3215926" y="5105644"/>
                    <a:pt x="3268503" y="5090624"/>
                    <a:pt x="3324835" y="5090624"/>
                  </a:cubicBezTo>
                  <a:cubicBezTo>
                    <a:pt x="3324835" y="5090624"/>
                    <a:pt x="3324835" y="5090624"/>
                    <a:pt x="5690785" y="5090624"/>
                  </a:cubicBezTo>
                  <a:cubicBezTo>
                    <a:pt x="5371570" y="5406038"/>
                    <a:pt x="5367814" y="5980543"/>
                    <a:pt x="5367814" y="6280938"/>
                  </a:cubicBezTo>
                  <a:cubicBezTo>
                    <a:pt x="5367814" y="6280938"/>
                    <a:pt x="5367814" y="6280938"/>
                    <a:pt x="6227818" y="6280938"/>
                  </a:cubicBezTo>
                  <a:cubicBezTo>
                    <a:pt x="6227818" y="6280938"/>
                    <a:pt x="6227818" y="6280938"/>
                    <a:pt x="8267042" y="3603669"/>
                  </a:cubicBezTo>
                  <a:close/>
                  <a:moveTo>
                    <a:pt x="6109875" y="128"/>
                  </a:moveTo>
                  <a:cubicBezTo>
                    <a:pt x="6829153" y="-2490"/>
                    <a:pt x="7579192" y="34821"/>
                    <a:pt x="8198796" y="137601"/>
                  </a:cubicBezTo>
                  <a:cubicBezTo>
                    <a:pt x="8705745" y="220201"/>
                    <a:pt x="8739542" y="678257"/>
                    <a:pt x="8578069" y="884757"/>
                  </a:cubicBezTo>
                  <a:cubicBezTo>
                    <a:pt x="8578069" y="884757"/>
                    <a:pt x="6234838" y="3955980"/>
                    <a:pt x="6208552" y="3974753"/>
                  </a:cubicBezTo>
                  <a:cubicBezTo>
                    <a:pt x="6107162" y="4098653"/>
                    <a:pt x="5953199" y="4177498"/>
                    <a:pt x="5780461" y="4177498"/>
                  </a:cubicBezTo>
                  <a:cubicBezTo>
                    <a:pt x="5780461" y="4177498"/>
                    <a:pt x="5780461" y="4177498"/>
                    <a:pt x="2209285" y="4177498"/>
                  </a:cubicBezTo>
                  <a:cubicBezTo>
                    <a:pt x="1818747" y="4177498"/>
                    <a:pt x="970076" y="4545444"/>
                    <a:pt x="1150325" y="5476573"/>
                  </a:cubicBezTo>
                  <a:cubicBezTo>
                    <a:pt x="1217918" y="5825746"/>
                    <a:pt x="1465760" y="6103583"/>
                    <a:pt x="1799971" y="6223729"/>
                  </a:cubicBezTo>
                  <a:cubicBezTo>
                    <a:pt x="1875075" y="6253765"/>
                    <a:pt x="2002751" y="6268783"/>
                    <a:pt x="2085365" y="6280047"/>
                  </a:cubicBezTo>
                  <a:cubicBezTo>
                    <a:pt x="2085365" y="6280047"/>
                    <a:pt x="2085365" y="6280047"/>
                    <a:pt x="2085365" y="7473994"/>
                  </a:cubicBezTo>
                  <a:cubicBezTo>
                    <a:pt x="1582171" y="7440203"/>
                    <a:pt x="335451" y="7004675"/>
                    <a:pt x="53813" y="5720619"/>
                  </a:cubicBezTo>
                  <a:cubicBezTo>
                    <a:pt x="-25046" y="5397728"/>
                    <a:pt x="-13780" y="5056063"/>
                    <a:pt x="65078" y="4729417"/>
                  </a:cubicBezTo>
                  <a:cubicBezTo>
                    <a:pt x="282879" y="3283915"/>
                    <a:pt x="2351982" y="944830"/>
                    <a:pt x="2716235" y="670748"/>
                  </a:cubicBezTo>
                  <a:cubicBezTo>
                    <a:pt x="2960321" y="471756"/>
                    <a:pt x="3234449" y="310311"/>
                    <a:pt x="3516088" y="227711"/>
                  </a:cubicBezTo>
                  <a:cubicBezTo>
                    <a:pt x="3797726" y="119767"/>
                    <a:pt x="4911078" y="4491"/>
                    <a:pt x="6109875" y="128"/>
                  </a:cubicBezTo>
                  <a:close/>
                </a:path>
              </a:pathLst>
            </a:custGeom>
            <a:solidFill>
              <a:srgbClr val="4B649F">
                <a:alpha val="100000"/>
              </a:srgbClr>
            </a:solidFill>
            <a:ln w="9525">
              <a:noFill/>
            </a:ln>
          </p:spPr>
          <p:txBody>
            <a:bodyPr/>
            <a:lstStyle/>
            <a:p>
              <a:endParaRPr lang="zh-CN" altLang="en-US"/>
            </a:p>
          </p:txBody>
        </p:sp>
      </p:grpSp>
      <p:pic>
        <p:nvPicPr>
          <p:cNvPr id="7174" name="图片 9"/>
          <p:cNvPicPr>
            <a:picLocks noChangeAspect="1"/>
          </p:cNvPicPr>
          <p:nvPr/>
        </p:nvPicPr>
        <p:blipFill>
          <a:blip r:embed="rId1"/>
          <a:stretch>
            <a:fillRect/>
          </a:stretch>
        </p:blipFill>
        <p:spPr>
          <a:xfrm>
            <a:off x="6326188" y="5200650"/>
            <a:ext cx="5865812" cy="1657350"/>
          </a:xfrm>
          <a:prstGeom prst="rect">
            <a:avLst/>
          </a:prstGeom>
          <a:noFill/>
          <a:ln w="9525">
            <a:noFill/>
          </a:ln>
        </p:spPr>
      </p:pic>
      <p:pic>
        <p:nvPicPr>
          <p:cNvPr id="7175" name="图片 10"/>
          <p:cNvPicPr>
            <a:picLocks noChangeAspect="1"/>
          </p:cNvPicPr>
          <p:nvPr/>
        </p:nvPicPr>
        <p:blipFill>
          <a:blip r:embed="rId2"/>
          <a:stretch>
            <a:fillRect/>
          </a:stretch>
        </p:blipFill>
        <p:spPr>
          <a:xfrm>
            <a:off x="0" y="0"/>
            <a:ext cx="7878763" cy="2216150"/>
          </a:xfrm>
          <a:prstGeom prst="rect">
            <a:avLst/>
          </a:prstGeom>
          <a:noFill/>
          <a:ln w="9525">
            <a:noFill/>
          </a:ln>
        </p:spPr>
      </p:pic>
      <p:sp>
        <p:nvSpPr>
          <p:cNvPr id="12291" name="文本框 2"/>
          <p:cNvSpPr txBox="1"/>
          <p:nvPr/>
        </p:nvSpPr>
        <p:spPr>
          <a:xfrm>
            <a:off x="5937936" y="3000514"/>
            <a:ext cx="5708650" cy="706755"/>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algn="l" defTabSz="1600200">
              <a:lnSpc>
                <a:spcPct val="100000"/>
              </a:lnSpc>
              <a:spcBef>
                <a:spcPct val="0"/>
              </a:spcBef>
              <a:spcAft>
                <a:spcPct val="35000"/>
              </a:spcAft>
              <a:buNone/>
            </a:pPr>
            <a:r>
              <a:rPr lang="en-US" altLang="zh-CN" sz="4000" b="1">
                <a:solidFill>
                  <a:srgbClr val="4B649F"/>
                </a:solidFill>
                <a:latin typeface="+mj-lt"/>
                <a:cs typeface="Times New Roman" panose="02020603050405020304" pitchFamily="18" charset="0"/>
              </a:rPr>
              <a:t>2. </a:t>
            </a:r>
            <a:r>
              <a:rPr lang="zh-CN" altLang="en-US" sz="4000" b="1">
                <a:solidFill>
                  <a:srgbClr val="4B649F"/>
                </a:solidFill>
                <a:latin typeface="+mj-lt"/>
                <a:cs typeface="Times New Roman" panose="02020603050405020304" pitchFamily="18" charset="0"/>
              </a:rPr>
              <a:t>研究</a:t>
            </a:r>
            <a:r>
              <a:rPr lang="zh-CN" altLang="en-US" sz="4000" b="1">
                <a:solidFill>
                  <a:srgbClr val="4B649F"/>
                </a:solidFill>
                <a:latin typeface="+mj-lt"/>
                <a:cs typeface="Times New Roman" panose="02020603050405020304" pitchFamily="18" charset="0"/>
              </a:rPr>
              <a:t>方法</a:t>
            </a:r>
            <a:endParaRPr lang="zh-CN" altLang="en-US" sz="4000" b="1">
              <a:solidFill>
                <a:srgbClr val="4B649F"/>
              </a:solidFill>
              <a:latin typeface="+mj-lt"/>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10" name="图片 1"/>
          <p:cNvPicPr>
            <a:picLocks noChangeAspect="1"/>
          </p:cNvPicPr>
          <p:nvPr/>
        </p:nvPicPr>
        <p:blipFill>
          <a:blip r:embed="rId1"/>
          <a:stretch>
            <a:fillRect/>
          </a:stretch>
        </p:blipFill>
        <p:spPr>
          <a:xfrm>
            <a:off x="8610600" y="0"/>
            <a:ext cx="3581400" cy="1006475"/>
          </a:xfrm>
          <a:prstGeom prst="rect">
            <a:avLst/>
          </a:prstGeom>
          <a:noFill/>
          <a:ln w="9525">
            <a:noFill/>
          </a:ln>
        </p:spPr>
      </p:pic>
      <p:sp>
        <p:nvSpPr>
          <p:cNvPr id="17411" name="文本框 2"/>
          <p:cNvSpPr txBox="1"/>
          <p:nvPr/>
        </p:nvSpPr>
        <p:spPr>
          <a:xfrm>
            <a:off x="868363" y="25400"/>
            <a:ext cx="4541837" cy="737235"/>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50000"/>
              </a:lnSpc>
              <a:spcBef>
                <a:spcPct val="0"/>
              </a:spcBef>
              <a:buFontTx/>
              <a:buNone/>
            </a:pPr>
            <a:r>
              <a:rPr lang="zh-CN" altLang="en-US" b="1">
                <a:solidFill>
                  <a:srgbClr val="4B649F"/>
                </a:solidFill>
              </a:rPr>
              <a:t>研究</a:t>
            </a:r>
            <a:r>
              <a:rPr lang="zh-CN" altLang="en-US" b="1">
                <a:solidFill>
                  <a:srgbClr val="4B649F"/>
                </a:solidFill>
              </a:rPr>
              <a:t>方法</a:t>
            </a:r>
            <a:endParaRPr lang="zh-CN" altLang="en-US" b="1">
              <a:solidFill>
                <a:srgbClr val="4B649F"/>
              </a:solidFill>
            </a:endParaRPr>
          </a:p>
        </p:txBody>
      </p:sp>
      <p:cxnSp>
        <p:nvCxnSpPr>
          <p:cNvPr id="4" name="直接连接符 3"/>
          <p:cNvCxnSpPr/>
          <p:nvPr/>
        </p:nvCxnSpPr>
        <p:spPr>
          <a:xfrm>
            <a:off x="0" y="798513"/>
            <a:ext cx="11176000" cy="0"/>
          </a:xfrm>
          <a:prstGeom prst="line">
            <a:avLst/>
          </a:prstGeom>
          <a:ln w="25400">
            <a:gradFill>
              <a:gsLst>
                <a:gs pos="0">
                  <a:srgbClr val="4B649F"/>
                </a:gs>
                <a:gs pos="100000">
                  <a:srgbClr val="7DB1CD">
                    <a:alpha val="0"/>
                  </a:srgbClr>
                </a:gs>
              </a:gsLst>
              <a:lin ang="0" scaled="0"/>
            </a:gradFill>
          </a:ln>
        </p:spPr>
        <p:style>
          <a:lnRef idx="1">
            <a:schemeClr val="accent1"/>
          </a:lnRef>
          <a:fillRef idx="0">
            <a:schemeClr val="accent1"/>
          </a:fillRef>
          <a:effectRef idx="0">
            <a:schemeClr val="accent1"/>
          </a:effectRef>
          <a:fontRef idx="minor">
            <a:schemeClr val="tx1"/>
          </a:fontRef>
        </p:style>
      </p:cxnSp>
      <p:sp>
        <p:nvSpPr>
          <p:cNvPr id="5" name="矩形 4"/>
          <p:cNvSpPr/>
          <p:nvPr/>
        </p:nvSpPr>
        <p:spPr>
          <a:xfrm>
            <a:off x="0" y="6724650"/>
            <a:ext cx="12192000" cy="133350"/>
          </a:xfrm>
          <a:prstGeom prst="rect">
            <a:avLst/>
          </a:prstGeom>
          <a:solidFill>
            <a:srgbClr val="4B649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1">
              <a:ln>
                <a:noFill/>
              </a:ln>
              <a:solidFill>
                <a:schemeClr val="lt1"/>
              </a:solidFill>
              <a:effectLst/>
              <a:uLnTx/>
              <a:uFillTx/>
              <a:latin typeface="+mn-lt"/>
              <a:ea typeface="+mn-ea"/>
              <a:cs typeface="+mn-cs"/>
            </a:endParaRPr>
          </a:p>
        </p:txBody>
      </p:sp>
      <p:grpSp>
        <p:nvGrpSpPr>
          <p:cNvPr id="17414" name="组合 5"/>
          <p:cNvGrpSpPr/>
          <p:nvPr/>
        </p:nvGrpSpPr>
        <p:grpSpPr>
          <a:xfrm>
            <a:off x="233363" y="125413"/>
            <a:ext cx="635000" cy="635000"/>
            <a:chOff x="5288161" y="2234042"/>
            <a:chExt cx="1607262" cy="1607262"/>
          </a:xfrm>
        </p:grpSpPr>
        <p:sp>
          <p:nvSpPr>
            <p:cNvPr id="7" name="椭圆 6"/>
            <p:cNvSpPr/>
            <p:nvPr/>
          </p:nvSpPr>
          <p:spPr>
            <a:xfrm>
              <a:off x="5288161" y="2234042"/>
              <a:ext cx="1607262" cy="1607262"/>
            </a:xfrm>
            <a:prstGeom prst="ellipse">
              <a:avLst/>
            </a:prstGeom>
            <a:solidFill>
              <a:srgbClr val="4B649F"/>
            </a:solidFill>
            <a:ln w="19050">
              <a:solidFill>
                <a:srgbClr val="4B649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1">
                <a:ln>
                  <a:noFill/>
                </a:ln>
                <a:solidFill>
                  <a:schemeClr val="lt1"/>
                </a:solidFill>
                <a:effectLst/>
                <a:uLnTx/>
                <a:uFillTx/>
                <a:latin typeface="+mn-lt"/>
                <a:ea typeface="+mn-ea"/>
                <a:cs typeface="+mn-cs"/>
              </a:endParaRPr>
            </a:p>
          </p:txBody>
        </p:sp>
        <p:sp>
          <p:nvSpPr>
            <p:cNvPr id="8" name="椭圆 7"/>
            <p:cNvSpPr/>
            <p:nvPr/>
          </p:nvSpPr>
          <p:spPr>
            <a:xfrm>
              <a:off x="5396650" y="2334495"/>
              <a:ext cx="1390282" cy="1390282"/>
            </a:xfrm>
            <a:prstGeom prst="ellipse">
              <a:avLst/>
            </a:prstGeom>
            <a:solidFill>
              <a:schemeClr val="bg1"/>
            </a:solidFill>
            <a:ln w="19050">
              <a:solidFill>
                <a:srgbClr val="4B649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1">
                <a:ln>
                  <a:noFill/>
                </a:ln>
                <a:solidFill>
                  <a:schemeClr val="lt1"/>
                </a:solidFill>
                <a:effectLst/>
                <a:uLnTx/>
                <a:uFillTx/>
                <a:latin typeface="+mn-lt"/>
                <a:ea typeface="+mn-ea"/>
                <a:cs typeface="+mn-cs"/>
              </a:endParaRPr>
            </a:p>
          </p:txBody>
        </p:sp>
        <p:sp>
          <p:nvSpPr>
            <p:cNvPr id="17440" name="KSO_Shape"/>
            <p:cNvSpPr/>
            <p:nvPr/>
          </p:nvSpPr>
          <p:spPr>
            <a:xfrm>
              <a:off x="5547153" y="2697761"/>
              <a:ext cx="1089278" cy="662788"/>
            </a:xfrm>
            <a:custGeom>
              <a:avLst/>
              <a:gdLst>
                <a:gd name="txL" fmla="*/ 0 w 3931"/>
                <a:gd name="txT" fmla="*/ 0 h 2392"/>
                <a:gd name="txR" fmla="*/ 3931 w 3931"/>
                <a:gd name="txB" fmla="*/ 2392 h 2392"/>
              </a:gdLst>
              <a:ahLst/>
              <a:cxnLst>
                <a:cxn ang="0">
                  <a:pos x="844045" y="356609"/>
                </a:cxn>
                <a:cxn ang="0">
                  <a:pos x="561681" y="235522"/>
                </a:cxn>
                <a:cxn ang="0">
                  <a:pos x="243848" y="356609"/>
                </a:cxn>
                <a:cxn ang="0">
                  <a:pos x="155176" y="319756"/>
                </a:cxn>
                <a:cxn ang="0">
                  <a:pos x="155176" y="428374"/>
                </a:cxn>
                <a:cxn ang="0">
                  <a:pos x="179283" y="461624"/>
                </a:cxn>
                <a:cxn ang="0">
                  <a:pos x="154622" y="494874"/>
                </a:cxn>
                <a:cxn ang="0">
                  <a:pos x="180946" y="611804"/>
                </a:cxn>
                <a:cxn ang="0">
                  <a:pos x="103358" y="611804"/>
                </a:cxn>
                <a:cxn ang="0">
                  <a:pos x="129960" y="494320"/>
                </a:cxn>
                <a:cxn ang="0">
                  <a:pos x="108346" y="461624"/>
                </a:cxn>
                <a:cxn ang="0">
                  <a:pos x="129128" y="429205"/>
                </a:cxn>
                <a:cxn ang="0">
                  <a:pos x="129128" y="308950"/>
                </a:cxn>
                <a:cxn ang="0">
                  <a:pos x="0" y="254918"/>
                </a:cxn>
                <a:cxn ang="0">
                  <a:pos x="568054" y="0"/>
                </a:cxn>
                <a:cxn ang="0">
                  <a:pos x="1089278" y="258243"/>
                </a:cxn>
                <a:cxn ang="0">
                  <a:pos x="844045" y="356609"/>
                </a:cxn>
                <a:cxn ang="0">
                  <a:pos x="555307" y="297035"/>
                </a:cxn>
                <a:cxn ang="0">
                  <a:pos x="811624" y="384040"/>
                </a:cxn>
                <a:cxn ang="0">
                  <a:pos x="811624" y="594902"/>
                </a:cxn>
                <a:cxn ang="0">
                  <a:pos x="542284" y="662788"/>
                </a:cxn>
                <a:cxn ang="0">
                  <a:pos x="304532" y="594902"/>
                </a:cxn>
                <a:cxn ang="0">
                  <a:pos x="304532" y="384040"/>
                </a:cxn>
                <a:cxn ang="0">
                  <a:pos x="555307" y="297035"/>
                </a:cxn>
                <a:cxn ang="0">
                  <a:pos x="551982" y="623996"/>
                </a:cxn>
                <a:cxn ang="0">
                  <a:pos x="758698" y="572458"/>
                </a:cxn>
                <a:cxn ang="0">
                  <a:pos x="551982" y="520643"/>
                </a:cxn>
                <a:cxn ang="0">
                  <a:pos x="345543" y="572458"/>
                </a:cxn>
                <a:cxn ang="0">
                  <a:pos x="551982" y="623996"/>
                </a:cxn>
              </a:cxnLst>
              <a:rect l="txL" t="txT" r="txR" b="txB"/>
              <a:pathLst>
                <a:path w="3931" h="2392">
                  <a:moveTo>
                    <a:pt x="3046" y="1287"/>
                  </a:moveTo>
                  <a:cubicBezTo>
                    <a:pt x="3046" y="1287"/>
                    <a:pt x="2618" y="850"/>
                    <a:pt x="2027" y="850"/>
                  </a:cubicBezTo>
                  <a:cubicBezTo>
                    <a:pt x="1450" y="850"/>
                    <a:pt x="880" y="1287"/>
                    <a:pt x="880" y="1287"/>
                  </a:cubicBezTo>
                  <a:cubicBezTo>
                    <a:pt x="560" y="1154"/>
                    <a:pt x="560" y="1154"/>
                    <a:pt x="560" y="1154"/>
                  </a:cubicBezTo>
                  <a:cubicBezTo>
                    <a:pt x="560" y="1546"/>
                    <a:pt x="560" y="1546"/>
                    <a:pt x="560" y="1546"/>
                  </a:cubicBezTo>
                  <a:cubicBezTo>
                    <a:pt x="610" y="1563"/>
                    <a:pt x="647" y="1610"/>
                    <a:pt x="647" y="1666"/>
                  </a:cubicBezTo>
                  <a:cubicBezTo>
                    <a:pt x="647" y="1723"/>
                    <a:pt x="609" y="1769"/>
                    <a:pt x="558" y="1786"/>
                  </a:cubicBezTo>
                  <a:cubicBezTo>
                    <a:pt x="653" y="2208"/>
                    <a:pt x="653" y="2208"/>
                    <a:pt x="653" y="2208"/>
                  </a:cubicBezTo>
                  <a:cubicBezTo>
                    <a:pt x="373" y="2208"/>
                    <a:pt x="373" y="2208"/>
                    <a:pt x="373" y="2208"/>
                  </a:cubicBezTo>
                  <a:cubicBezTo>
                    <a:pt x="469" y="1784"/>
                    <a:pt x="469" y="1784"/>
                    <a:pt x="469" y="1784"/>
                  </a:cubicBezTo>
                  <a:cubicBezTo>
                    <a:pt x="423" y="1764"/>
                    <a:pt x="391" y="1719"/>
                    <a:pt x="391" y="1666"/>
                  </a:cubicBezTo>
                  <a:cubicBezTo>
                    <a:pt x="391" y="1614"/>
                    <a:pt x="422" y="1570"/>
                    <a:pt x="466" y="1549"/>
                  </a:cubicBezTo>
                  <a:cubicBezTo>
                    <a:pt x="466" y="1115"/>
                    <a:pt x="466" y="1115"/>
                    <a:pt x="466" y="1115"/>
                  </a:cubicBezTo>
                  <a:cubicBezTo>
                    <a:pt x="0" y="920"/>
                    <a:pt x="0" y="920"/>
                    <a:pt x="0" y="920"/>
                  </a:cubicBezTo>
                  <a:cubicBezTo>
                    <a:pt x="2050" y="0"/>
                    <a:pt x="2050" y="0"/>
                    <a:pt x="2050" y="0"/>
                  </a:cubicBezTo>
                  <a:cubicBezTo>
                    <a:pt x="3931" y="932"/>
                    <a:pt x="3931" y="932"/>
                    <a:pt x="3931" y="932"/>
                  </a:cubicBezTo>
                  <a:lnTo>
                    <a:pt x="3046" y="1287"/>
                  </a:lnTo>
                  <a:close/>
                  <a:moveTo>
                    <a:pt x="2004" y="1072"/>
                  </a:moveTo>
                  <a:cubicBezTo>
                    <a:pt x="2598" y="1072"/>
                    <a:pt x="2929" y="1386"/>
                    <a:pt x="2929" y="1386"/>
                  </a:cubicBezTo>
                  <a:cubicBezTo>
                    <a:pt x="2929" y="2147"/>
                    <a:pt x="2929" y="2147"/>
                    <a:pt x="2929" y="2147"/>
                  </a:cubicBezTo>
                  <a:cubicBezTo>
                    <a:pt x="2929" y="2147"/>
                    <a:pt x="2586" y="2392"/>
                    <a:pt x="1957" y="2392"/>
                  </a:cubicBezTo>
                  <a:cubicBezTo>
                    <a:pt x="1328" y="2392"/>
                    <a:pt x="1099" y="2147"/>
                    <a:pt x="1099" y="2147"/>
                  </a:cubicBezTo>
                  <a:cubicBezTo>
                    <a:pt x="1099" y="1386"/>
                    <a:pt x="1099" y="1386"/>
                    <a:pt x="1099" y="1386"/>
                  </a:cubicBezTo>
                  <a:cubicBezTo>
                    <a:pt x="1099" y="1386"/>
                    <a:pt x="1410" y="1072"/>
                    <a:pt x="2004" y="1072"/>
                  </a:cubicBezTo>
                  <a:close/>
                  <a:moveTo>
                    <a:pt x="1992" y="2252"/>
                  </a:moveTo>
                  <a:cubicBezTo>
                    <a:pt x="2404" y="2252"/>
                    <a:pt x="2738" y="2168"/>
                    <a:pt x="2738" y="2066"/>
                  </a:cubicBezTo>
                  <a:cubicBezTo>
                    <a:pt x="2738" y="1963"/>
                    <a:pt x="2404" y="1879"/>
                    <a:pt x="1992" y="1879"/>
                  </a:cubicBezTo>
                  <a:cubicBezTo>
                    <a:pt x="1581" y="1879"/>
                    <a:pt x="1247" y="1963"/>
                    <a:pt x="1247" y="2066"/>
                  </a:cubicBezTo>
                  <a:cubicBezTo>
                    <a:pt x="1247" y="2168"/>
                    <a:pt x="1581" y="2252"/>
                    <a:pt x="1992" y="2252"/>
                  </a:cubicBezTo>
                  <a:close/>
                </a:path>
              </a:pathLst>
            </a:custGeom>
            <a:solidFill>
              <a:srgbClr val="4B649F">
                <a:alpha val="100000"/>
              </a:srgbClr>
            </a:solidFill>
            <a:ln w="9525">
              <a:noFill/>
            </a:ln>
          </p:spPr>
          <p:txBody>
            <a:bodyPr/>
            <a:lstStyle/>
            <a:p>
              <a:endParaRPr lang="zh-CN" altLang="en-US"/>
            </a:p>
          </p:txBody>
        </p:sp>
      </p:grpSp>
      <p:sp>
        <p:nvSpPr>
          <p:cNvPr id="25" name="矩形 24"/>
          <p:cNvSpPr/>
          <p:nvPr/>
        </p:nvSpPr>
        <p:spPr>
          <a:xfrm>
            <a:off x="1151689" y="6525929"/>
            <a:ext cx="1553010" cy="179471"/>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sp>
        <p:nvSpPr>
          <p:cNvPr id="9" name="文本框 8"/>
          <p:cNvSpPr txBox="1"/>
          <p:nvPr/>
        </p:nvSpPr>
        <p:spPr>
          <a:xfrm>
            <a:off x="335915" y="1088390"/>
            <a:ext cx="11327130" cy="2861310"/>
          </a:xfrm>
          <a:prstGeom prst="rect">
            <a:avLst/>
          </a:prstGeom>
          <a:noFill/>
        </p:spPr>
        <p:txBody>
          <a:bodyPr wrap="square">
            <a:spAutoFit/>
          </a:bodyPr>
          <a:lstStyle/>
          <a:p>
            <a:pPr marL="285750" indent="-285750">
              <a:buFont typeface="Wingdings" panose="05000000000000000000" pitchFamily="2" charset="2"/>
              <a:buChar char="Ø"/>
            </a:pPr>
            <a:r>
              <a:rPr lang="zh-CN" altLang="en-US" sz="2000" b="1">
                <a:latin typeface="宋体" panose="02010600030101010101" pitchFamily="2" charset="-122"/>
                <a:ea typeface="宋体" panose="02010600030101010101" pitchFamily="2" charset="-122"/>
                <a:cs typeface="宋体" panose="02010600030101010101" pitchFamily="2" charset="-122"/>
                <a:sym typeface="+mn-lt"/>
              </a:rPr>
              <a:t>被试与实验设计</a:t>
            </a:r>
            <a:endParaRPr lang="zh-CN" altLang="en-US" sz="2000" b="1">
              <a:latin typeface="宋体" panose="02010600030101010101" pitchFamily="2" charset="-122"/>
              <a:ea typeface="宋体" panose="02010600030101010101" pitchFamily="2" charset="-122"/>
              <a:cs typeface="宋体" panose="02010600030101010101" pitchFamily="2" charset="-122"/>
              <a:sym typeface="+mn-lt"/>
            </a:endParaRPr>
          </a:p>
          <a:p>
            <a:pPr>
              <a:buFont typeface="Wingdings" panose="05000000000000000000" pitchFamily="2" charset="2"/>
            </a:pPr>
            <a:r>
              <a:rPr lang="zh-CN" altLang="en-US" sz="2000">
                <a:latin typeface="宋体" panose="02010600030101010101" pitchFamily="2" charset="-122"/>
                <a:ea typeface="宋体" panose="02010600030101010101" pitchFamily="2" charset="-122"/>
                <a:cs typeface="宋体" panose="02010600030101010101" pitchFamily="2" charset="-122"/>
                <a:sym typeface="+mn-lt"/>
              </a:rPr>
              <a:t>本研究从麦吉尔大学被试库及校内群体招募</a:t>
            </a:r>
            <a:r>
              <a:rPr lang="en-US" altLang="zh-CN" sz="2000">
                <a:latin typeface="宋体" panose="02010600030101010101" pitchFamily="2" charset="-122"/>
                <a:ea typeface="宋体" panose="02010600030101010101" pitchFamily="2" charset="-122"/>
                <a:cs typeface="宋体" panose="02010600030101010101" pitchFamily="2" charset="-122"/>
                <a:sym typeface="+mn-lt"/>
              </a:rPr>
              <a:t>54</a:t>
            </a:r>
            <a:r>
              <a:rPr lang="zh-CN" altLang="en-US" sz="2000">
                <a:latin typeface="宋体" panose="02010600030101010101" pitchFamily="2" charset="-122"/>
                <a:ea typeface="宋体" panose="02010600030101010101" pitchFamily="2" charset="-122"/>
                <a:cs typeface="宋体" panose="02010600030101010101" pitchFamily="2" charset="-122"/>
                <a:sym typeface="+mn-lt"/>
              </a:rPr>
              <a:t>名受试者，正式实验开始前，被试填写认知需求量表。研究同时施测行为抑制</a:t>
            </a:r>
            <a:r>
              <a:rPr lang="en-US" altLang="zh-CN" sz="2000">
                <a:latin typeface="宋体" panose="02010600030101010101" pitchFamily="2" charset="-122"/>
                <a:ea typeface="宋体" panose="02010600030101010101" pitchFamily="2" charset="-122"/>
                <a:cs typeface="宋体" panose="02010600030101010101" pitchFamily="2" charset="-122"/>
                <a:sym typeface="+mn-lt"/>
              </a:rPr>
              <a:t>/</a:t>
            </a:r>
            <a:r>
              <a:rPr lang="zh-CN" altLang="en-US" sz="2000">
                <a:latin typeface="宋体" panose="02010600030101010101" pitchFamily="2" charset="-122"/>
                <a:ea typeface="宋体" panose="02010600030101010101" pitchFamily="2" charset="-122"/>
                <a:cs typeface="宋体" panose="02010600030101010101" pitchFamily="2" charset="-122"/>
                <a:sym typeface="+mn-lt"/>
              </a:rPr>
              <a:t>行为激活量表（</a:t>
            </a:r>
            <a:r>
              <a:rPr lang="en-US" altLang="zh-CN" sz="2000">
                <a:latin typeface="宋体" panose="02010600030101010101" pitchFamily="2" charset="-122"/>
                <a:ea typeface="宋体" panose="02010600030101010101" pitchFamily="2" charset="-122"/>
                <a:cs typeface="宋体" panose="02010600030101010101" pitchFamily="2" charset="-122"/>
                <a:sym typeface="+mn-lt"/>
              </a:rPr>
              <a:t>BIS/BAS），</a:t>
            </a:r>
            <a:r>
              <a:rPr lang="zh-CN" altLang="en-US" sz="2000">
                <a:latin typeface="宋体" panose="02010600030101010101" pitchFamily="2" charset="-122"/>
                <a:ea typeface="宋体" panose="02010600030101010101" pitchFamily="2" charset="-122"/>
                <a:cs typeface="宋体" panose="02010600030101010101" pitchFamily="2" charset="-122"/>
                <a:sym typeface="+mn-lt"/>
              </a:rPr>
              <a:t>分别评估个体的内在动机与奖赏敏感性。还采用了巴瑞冲动量表与广泛性焦虑量表（</a:t>
            </a:r>
            <a:r>
              <a:rPr lang="en-US" altLang="zh-CN" sz="2000">
                <a:latin typeface="宋体" panose="02010600030101010101" pitchFamily="2" charset="-122"/>
                <a:ea typeface="宋体" panose="02010600030101010101" pitchFamily="2" charset="-122"/>
                <a:cs typeface="宋体" panose="02010600030101010101" pitchFamily="2" charset="-122"/>
                <a:sym typeface="+mn-lt"/>
              </a:rPr>
              <a:t>GAD-7）</a:t>
            </a:r>
            <a:r>
              <a:rPr lang="zh-CN" altLang="en-US" sz="2000">
                <a:latin typeface="宋体" panose="02010600030101010101" pitchFamily="2" charset="-122"/>
                <a:ea typeface="宋体" panose="02010600030101010101" pitchFamily="2" charset="-122"/>
                <a:cs typeface="宋体" panose="02010600030101010101" pitchFamily="2" charset="-122"/>
                <a:sym typeface="+mn-lt"/>
              </a:rPr>
              <a:t>。</a:t>
            </a:r>
            <a:r>
              <a:rPr lang="zh-CN" altLang="en-US" sz="2000" b="1">
                <a:latin typeface="宋体" panose="02010600030101010101" pitchFamily="2" charset="-122"/>
                <a:ea typeface="宋体" panose="02010600030101010101" pitchFamily="2" charset="-122"/>
                <a:cs typeface="宋体" panose="02010600030101010101" pitchFamily="2" charset="-122"/>
                <a:sym typeface="+mn-lt"/>
              </a:rPr>
              <a:t>筛选标准：</a:t>
            </a:r>
            <a:r>
              <a:rPr lang="zh-CN" altLang="en-US" sz="2000">
                <a:latin typeface="宋体" panose="02010600030101010101" pitchFamily="2" charset="-122"/>
                <a:ea typeface="宋体" panose="02010600030101010101" pitchFamily="2" charset="-122"/>
                <a:cs typeface="宋体" panose="02010600030101010101" pitchFamily="2" charset="-122"/>
                <a:sym typeface="+mn-lt"/>
              </a:rPr>
              <a:t>①斯特鲁普、任务转换任一任务总正确率＜80%，剔除 7 人；②单区块漏答 + 超时作答≥15 次，剔除 2 人。筛选后主分析有效样本为 45 人。</a:t>
            </a:r>
            <a:r>
              <a:rPr lang="zh-CN" altLang="en-US" sz="2000" b="1">
                <a:latin typeface="宋体" panose="02010600030101010101" pitchFamily="2" charset="-122"/>
                <a:ea typeface="宋体" panose="02010600030101010101" pitchFamily="2" charset="-122"/>
                <a:cs typeface="宋体" panose="02010600030101010101" pitchFamily="2" charset="-122"/>
                <a:sym typeface="+mn-lt"/>
              </a:rPr>
              <a:t>实验流程如下：</a:t>
            </a:r>
            <a:r>
              <a:rPr lang="zh-CN" altLang="en-US" sz="2000">
                <a:latin typeface="宋体" panose="02010600030101010101" pitchFamily="2" charset="-122"/>
                <a:ea typeface="宋体" panose="02010600030101010101" pitchFamily="2" charset="-122"/>
                <a:cs typeface="宋体" panose="02010600030101010101" pitchFamily="2" charset="-122"/>
                <a:sym typeface="+mn-lt"/>
              </a:rPr>
              <a:t>被试首先完成一个试次组的斯特鲁普任务，随后完成两组任务转换任务。本研究将奖赏水平（高奖赏、低奖赏）设置为被试内变量，并对实验顺序进行平衡处理。</a:t>
            </a:r>
            <a:endParaRPr lang="zh-CN" altLang="en-US" sz="2000">
              <a:latin typeface="宋体" panose="02010600030101010101" pitchFamily="2" charset="-122"/>
              <a:ea typeface="宋体" panose="02010600030101010101" pitchFamily="2" charset="-122"/>
              <a:cs typeface="宋体" panose="02010600030101010101" pitchFamily="2" charset="-122"/>
              <a:sym typeface="+mn-lt"/>
            </a:endParaRPr>
          </a:p>
          <a:p>
            <a:pPr marL="342900" indent="-342900">
              <a:buFont typeface="Wingdings" panose="05000000000000000000" charset="0"/>
              <a:buChar char="Ø"/>
            </a:pPr>
            <a:r>
              <a:rPr lang="zh-CN" altLang="en-US" sz="2000" b="1">
                <a:latin typeface="宋体" panose="02010600030101010101" pitchFamily="2" charset="-122"/>
                <a:ea typeface="宋体" panose="02010600030101010101" pitchFamily="2" charset="-122"/>
                <a:cs typeface="宋体" panose="02010600030101010101" pitchFamily="2" charset="-122"/>
                <a:sym typeface="+mn-lt"/>
              </a:rPr>
              <a:t>斯特鲁普任务</a:t>
            </a:r>
            <a:endParaRPr lang="zh-CN" altLang="en-US" sz="2000" b="1">
              <a:latin typeface="宋体" panose="02010600030101010101" pitchFamily="2" charset="-122"/>
              <a:ea typeface="宋体" panose="02010600030101010101" pitchFamily="2" charset="-122"/>
              <a:cs typeface="宋体" panose="02010600030101010101" pitchFamily="2" charset="-122"/>
              <a:sym typeface="+mn-lt"/>
            </a:endParaRPr>
          </a:p>
          <a:p>
            <a:pPr marL="342900" indent="-342900">
              <a:buFont typeface="Wingdings" panose="05000000000000000000" charset="0"/>
              <a:buChar char="Ø"/>
            </a:pPr>
            <a:endParaRPr lang="zh-CN" altLang="en-US" sz="2000" b="1">
              <a:latin typeface="宋体" panose="02010600030101010101" pitchFamily="2" charset="-122"/>
              <a:ea typeface="宋体" panose="02010600030101010101" pitchFamily="2" charset="-122"/>
              <a:cs typeface="宋体" panose="02010600030101010101" pitchFamily="2" charset="-122"/>
              <a:sym typeface="+mn-lt"/>
            </a:endParaRPr>
          </a:p>
        </p:txBody>
      </p:sp>
      <p:pic>
        <p:nvPicPr>
          <p:cNvPr id="2" name="图片 1"/>
          <p:cNvPicPr>
            <a:picLocks noChangeAspect="1"/>
          </p:cNvPicPr>
          <p:nvPr/>
        </p:nvPicPr>
        <p:blipFill>
          <a:blip r:embed="rId2"/>
          <a:stretch>
            <a:fillRect/>
          </a:stretch>
        </p:blipFill>
        <p:spPr>
          <a:xfrm>
            <a:off x="3161030" y="3367405"/>
            <a:ext cx="5870575" cy="327723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10" name="图片 1"/>
          <p:cNvPicPr>
            <a:picLocks noChangeAspect="1"/>
          </p:cNvPicPr>
          <p:nvPr/>
        </p:nvPicPr>
        <p:blipFill>
          <a:blip r:embed="rId1"/>
          <a:stretch>
            <a:fillRect/>
          </a:stretch>
        </p:blipFill>
        <p:spPr>
          <a:xfrm>
            <a:off x="8610600" y="0"/>
            <a:ext cx="3581400" cy="1006475"/>
          </a:xfrm>
          <a:prstGeom prst="rect">
            <a:avLst/>
          </a:prstGeom>
          <a:noFill/>
          <a:ln w="9525">
            <a:noFill/>
          </a:ln>
        </p:spPr>
      </p:pic>
      <p:sp>
        <p:nvSpPr>
          <p:cNvPr id="17411" name="文本框 2"/>
          <p:cNvSpPr txBox="1"/>
          <p:nvPr/>
        </p:nvSpPr>
        <p:spPr>
          <a:xfrm>
            <a:off x="868363" y="25400"/>
            <a:ext cx="4541837" cy="737235"/>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50000"/>
              </a:lnSpc>
              <a:spcBef>
                <a:spcPct val="0"/>
              </a:spcBef>
              <a:buFontTx/>
              <a:buNone/>
            </a:pPr>
            <a:r>
              <a:rPr lang="zh-CN" altLang="en-US" b="1">
                <a:solidFill>
                  <a:srgbClr val="4B649F"/>
                </a:solidFill>
              </a:rPr>
              <a:t>研究</a:t>
            </a:r>
            <a:r>
              <a:rPr lang="zh-CN" altLang="en-US" b="1">
                <a:solidFill>
                  <a:srgbClr val="4B649F"/>
                </a:solidFill>
              </a:rPr>
              <a:t>方法</a:t>
            </a:r>
            <a:endParaRPr lang="zh-CN" altLang="en-US" b="1">
              <a:solidFill>
                <a:srgbClr val="4B649F"/>
              </a:solidFill>
            </a:endParaRPr>
          </a:p>
        </p:txBody>
      </p:sp>
      <p:cxnSp>
        <p:nvCxnSpPr>
          <p:cNvPr id="4" name="直接连接符 3"/>
          <p:cNvCxnSpPr/>
          <p:nvPr/>
        </p:nvCxnSpPr>
        <p:spPr>
          <a:xfrm>
            <a:off x="0" y="798513"/>
            <a:ext cx="11176000" cy="0"/>
          </a:xfrm>
          <a:prstGeom prst="line">
            <a:avLst/>
          </a:prstGeom>
          <a:ln w="25400">
            <a:gradFill>
              <a:gsLst>
                <a:gs pos="0">
                  <a:srgbClr val="4B649F"/>
                </a:gs>
                <a:gs pos="100000">
                  <a:srgbClr val="7DB1CD">
                    <a:alpha val="0"/>
                  </a:srgbClr>
                </a:gs>
              </a:gsLst>
              <a:lin ang="0" scaled="0"/>
            </a:gradFill>
          </a:ln>
        </p:spPr>
        <p:style>
          <a:lnRef idx="1">
            <a:schemeClr val="accent1"/>
          </a:lnRef>
          <a:fillRef idx="0">
            <a:schemeClr val="accent1"/>
          </a:fillRef>
          <a:effectRef idx="0">
            <a:schemeClr val="accent1"/>
          </a:effectRef>
          <a:fontRef idx="minor">
            <a:schemeClr val="tx1"/>
          </a:fontRef>
        </p:style>
      </p:cxnSp>
      <p:sp>
        <p:nvSpPr>
          <p:cNvPr id="5" name="矩形 4"/>
          <p:cNvSpPr/>
          <p:nvPr/>
        </p:nvSpPr>
        <p:spPr>
          <a:xfrm>
            <a:off x="0" y="6724650"/>
            <a:ext cx="12192000" cy="133350"/>
          </a:xfrm>
          <a:prstGeom prst="rect">
            <a:avLst/>
          </a:prstGeom>
          <a:solidFill>
            <a:srgbClr val="4B649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1">
              <a:ln>
                <a:noFill/>
              </a:ln>
              <a:solidFill>
                <a:schemeClr val="lt1"/>
              </a:solidFill>
              <a:effectLst/>
              <a:uLnTx/>
              <a:uFillTx/>
              <a:latin typeface="+mn-lt"/>
              <a:ea typeface="+mn-ea"/>
              <a:cs typeface="+mn-cs"/>
            </a:endParaRPr>
          </a:p>
        </p:txBody>
      </p:sp>
      <p:grpSp>
        <p:nvGrpSpPr>
          <p:cNvPr id="17414" name="组合 5"/>
          <p:cNvGrpSpPr/>
          <p:nvPr/>
        </p:nvGrpSpPr>
        <p:grpSpPr>
          <a:xfrm>
            <a:off x="233363" y="125413"/>
            <a:ext cx="635000" cy="635000"/>
            <a:chOff x="5288161" y="2234042"/>
            <a:chExt cx="1607262" cy="1607262"/>
          </a:xfrm>
        </p:grpSpPr>
        <p:sp>
          <p:nvSpPr>
            <p:cNvPr id="7" name="椭圆 6"/>
            <p:cNvSpPr/>
            <p:nvPr/>
          </p:nvSpPr>
          <p:spPr>
            <a:xfrm>
              <a:off x="5288161" y="2234042"/>
              <a:ext cx="1607262" cy="1607262"/>
            </a:xfrm>
            <a:prstGeom prst="ellipse">
              <a:avLst/>
            </a:prstGeom>
            <a:solidFill>
              <a:srgbClr val="4B649F"/>
            </a:solidFill>
            <a:ln w="19050">
              <a:solidFill>
                <a:srgbClr val="4B649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1">
                <a:ln>
                  <a:noFill/>
                </a:ln>
                <a:solidFill>
                  <a:schemeClr val="lt1"/>
                </a:solidFill>
                <a:effectLst/>
                <a:uLnTx/>
                <a:uFillTx/>
                <a:latin typeface="+mn-lt"/>
                <a:ea typeface="+mn-ea"/>
                <a:cs typeface="+mn-cs"/>
              </a:endParaRPr>
            </a:p>
          </p:txBody>
        </p:sp>
        <p:sp>
          <p:nvSpPr>
            <p:cNvPr id="8" name="椭圆 7"/>
            <p:cNvSpPr/>
            <p:nvPr/>
          </p:nvSpPr>
          <p:spPr>
            <a:xfrm>
              <a:off x="5396650" y="2334495"/>
              <a:ext cx="1390282" cy="1390282"/>
            </a:xfrm>
            <a:prstGeom prst="ellipse">
              <a:avLst/>
            </a:prstGeom>
            <a:solidFill>
              <a:schemeClr val="bg1"/>
            </a:solidFill>
            <a:ln w="19050">
              <a:solidFill>
                <a:srgbClr val="4B649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1">
                <a:ln>
                  <a:noFill/>
                </a:ln>
                <a:solidFill>
                  <a:schemeClr val="lt1"/>
                </a:solidFill>
                <a:effectLst/>
                <a:uLnTx/>
                <a:uFillTx/>
                <a:latin typeface="+mn-lt"/>
                <a:ea typeface="+mn-ea"/>
                <a:cs typeface="+mn-cs"/>
              </a:endParaRPr>
            </a:p>
          </p:txBody>
        </p:sp>
        <p:sp>
          <p:nvSpPr>
            <p:cNvPr id="17440" name="KSO_Shape"/>
            <p:cNvSpPr/>
            <p:nvPr/>
          </p:nvSpPr>
          <p:spPr>
            <a:xfrm>
              <a:off x="5547153" y="2697761"/>
              <a:ext cx="1089278" cy="662788"/>
            </a:xfrm>
            <a:custGeom>
              <a:avLst/>
              <a:gdLst>
                <a:gd name="txL" fmla="*/ 0 w 3931"/>
                <a:gd name="txT" fmla="*/ 0 h 2392"/>
                <a:gd name="txR" fmla="*/ 3931 w 3931"/>
                <a:gd name="txB" fmla="*/ 2392 h 2392"/>
              </a:gdLst>
              <a:ahLst/>
              <a:cxnLst>
                <a:cxn ang="0">
                  <a:pos x="844045" y="356609"/>
                </a:cxn>
                <a:cxn ang="0">
                  <a:pos x="561681" y="235522"/>
                </a:cxn>
                <a:cxn ang="0">
                  <a:pos x="243848" y="356609"/>
                </a:cxn>
                <a:cxn ang="0">
                  <a:pos x="155176" y="319756"/>
                </a:cxn>
                <a:cxn ang="0">
                  <a:pos x="155176" y="428374"/>
                </a:cxn>
                <a:cxn ang="0">
                  <a:pos x="179283" y="461624"/>
                </a:cxn>
                <a:cxn ang="0">
                  <a:pos x="154622" y="494874"/>
                </a:cxn>
                <a:cxn ang="0">
                  <a:pos x="180946" y="611804"/>
                </a:cxn>
                <a:cxn ang="0">
                  <a:pos x="103358" y="611804"/>
                </a:cxn>
                <a:cxn ang="0">
                  <a:pos x="129960" y="494320"/>
                </a:cxn>
                <a:cxn ang="0">
                  <a:pos x="108346" y="461624"/>
                </a:cxn>
                <a:cxn ang="0">
                  <a:pos x="129128" y="429205"/>
                </a:cxn>
                <a:cxn ang="0">
                  <a:pos x="129128" y="308950"/>
                </a:cxn>
                <a:cxn ang="0">
                  <a:pos x="0" y="254918"/>
                </a:cxn>
                <a:cxn ang="0">
                  <a:pos x="568054" y="0"/>
                </a:cxn>
                <a:cxn ang="0">
                  <a:pos x="1089278" y="258243"/>
                </a:cxn>
                <a:cxn ang="0">
                  <a:pos x="844045" y="356609"/>
                </a:cxn>
                <a:cxn ang="0">
                  <a:pos x="555307" y="297035"/>
                </a:cxn>
                <a:cxn ang="0">
                  <a:pos x="811624" y="384040"/>
                </a:cxn>
                <a:cxn ang="0">
                  <a:pos x="811624" y="594902"/>
                </a:cxn>
                <a:cxn ang="0">
                  <a:pos x="542284" y="662788"/>
                </a:cxn>
                <a:cxn ang="0">
                  <a:pos x="304532" y="594902"/>
                </a:cxn>
                <a:cxn ang="0">
                  <a:pos x="304532" y="384040"/>
                </a:cxn>
                <a:cxn ang="0">
                  <a:pos x="555307" y="297035"/>
                </a:cxn>
                <a:cxn ang="0">
                  <a:pos x="551982" y="623996"/>
                </a:cxn>
                <a:cxn ang="0">
                  <a:pos x="758698" y="572458"/>
                </a:cxn>
                <a:cxn ang="0">
                  <a:pos x="551982" y="520643"/>
                </a:cxn>
                <a:cxn ang="0">
                  <a:pos x="345543" y="572458"/>
                </a:cxn>
                <a:cxn ang="0">
                  <a:pos x="551982" y="623996"/>
                </a:cxn>
              </a:cxnLst>
              <a:rect l="txL" t="txT" r="txR" b="txB"/>
              <a:pathLst>
                <a:path w="3931" h="2392">
                  <a:moveTo>
                    <a:pt x="3046" y="1287"/>
                  </a:moveTo>
                  <a:cubicBezTo>
                    <a:pt x="3046" y="1287"/>
                    <a:pt x="2618" y="850"/>
                    <a:pt x="2027" y="850"/>
                  </a:cubicBezTo>
                  <a:cubicBezTo>
                    <a:pt x="1450" y="850"/>
                    <a:pt x="880" y="1287"/>
                    <a:pt x="880" y="1287"/>
                  </a:cubicBezTo>
                  <a:cubicBezTo>
                    <a:pt x="560" y="1154"/>
                    <a:pt x="560" y="1154"/>
                    <a:pt x="560" y="1154"/>
                  </a:cubicBezTo>
                  <a:cubicBezTo>
                    <a:pt x="560" y="1546"/>
                    <a:pt x="560" y="1546"/>
                    <a:pt x="560" y="1546"/>
                  </a:cubicBezTo>
                  <a:cubicBezTo>
                    <a:pt x="610" y="1563"/>
                    <a:pt x="647" y="1610"/>
                    <a:pt x="647" y="1666"/>
                  </a:cubicBezTo>
                  <a:cubicBezTo>
                    <a:pt x="647" y="1723"/>
                    <a:pt x="609" y="1769"/>
                    <a:pt x="558" y="1786"/>
                  </a:cubicBezTo>
                  <a:cubicBezTo>
                    <a:pt x="653" y="2208"/>
                    <a:pt x="653" y="2208"/>
                    <a:pt x="653" y="2208"/>
                  </a:cubicBezTo>
                  <a:cubicBezTo>
                    <a:pt x="373" y="2208"/>
                    <a:pt x="373" y="2208"/>
                    <a:pt x="373" y="2208"/>
                  </a:cubicBezTo>
                  <a:cubicBezTo>
                    <a:pt x="469" y="1784"/>
                    <a:pt x="469" y="1784"/>
                    <a:pt x="469" y="1784"/>
                  </a:cubicBezTo>
                  <a:cubicBezTo>
                    <a:pt x="423" y="1764"/>
                    <a:pt x="391" y="1719"/>
                    <a:pt x="391" y="1666"/>
                  </a:cubicBezTo>
                  <a:cubicBezTo>
                    <a:pt x="391" y="1614"/>
                    <a:pt x="422" y="1570"/>
                    <a:pt x="466" y="1549"/>
                  </a:cubicBezTo>
                  <a:cubicBezTo>
                    <a:pt x="466" y="1115"/>
                    <a:pt x="466" y="1115"/>
                    <a:pt x="466" y="1115"/>
                  </a:cubicBezTo>
                  <a:cubicBezTo>
                    <a:pt x="0" y="920"/>
                    <a:pt x="0" y="920"/>
                    <a:pt x="0" y="920"/>
                  </a:cubicBezTo>
                  <a:cubicBezTo>
                    <a:pt x="2050" y="0"/>
                    <a:pt x="2050" y="0"/>
                    <a:pt x="2050" y="0"/>
                  </a:cubicBezTo>
                  <a:cubicBezTo>
                    <a:pt x="3931" y="932"/>
                    <a:pt x="3931" y="932"/>
                    <a:pt x="3931" y="932"/>
                  </a:cubicBezTo>
                  <a:lnTo>
                    <a:pt x="3046" y="1287"/>
                  </a:lnTo>
                  <a:close/>
                  <a:moveTo>
                    <a:pt x="2004" y="1072"/>
                  </a:moveTo>
                  <a:cubicBezTo>
                    <a:pt x="2598" y="1072"/>
                    <a:pt x="2929" y="1386"/>
                    <a:pt x="2929" y="1386"/>
                  </a:cubicBezTo>
                  <a:cubicBezTo>
                    <a:pt x="2929" y="2147"/>
                    <a:pt x="2929" y="2147"/>
                    <a:pt x="2929" y="2147"/>
                  </a:cubicBezTo>
                  <a:cubicBezTo>
                    <a:pt x="2929" y="2147"/>
                    <a:pt x="2586" y="2392"/>
                    <a:pt x="1957" y="2392"/>
                  </a:cubicBezTo>
                  <a:cubicBezTo>
                    <a:pt x="1328" y="2392"/>
                    <a:pt x="1099" y="2147"/>
                    <a:pt x="1099" y="2147"/>
                  </a:cubicBezTo>
                  <a:cubicBezTo>
                    <a:pt x="1099" y="1386"/>
                    <a:pt x="1099" y="1386"/>
                    <a:pt x="1099" y="1386"/>
                  </a:cubicBezTo>
                  <a:cubicBezTo>
                    <a:pt x="1099" y="1386"/>
                    <a:pt x="1410" y="1072"/>
                    <a:pt x="2004" y="1072"/>
                  </a:cubicBezTo>
                  <a:close/>
                  <a:moveTo>
                    <a:pt x="1992" y="2252"/>
                  </a:moveTo>
                  <a:cubicBezTo>
                    <a:pt x="2404" y="2252"/>
                    <a:pt x="2738" y="2168"/>
                    <a:pt x="2738" y="2066"/>
                  </a:cubicBezTo>
                  <a:cubicBezTo>
                    <a:pt x="2738" y="1963"/>
                    <a:pt x="2404" y="1879"/>
                    <a:pt x="1992" y="1879"/>
                  </a:cubicBezTo>
                  <a:cubicBezTo>
                    <a:pt x="1581" y="1879"/>
                    <a:pt x="1247" y="1963"/>
                    <a:pt x="1247" y="2066"/>
                  </a:cubicBezTo>
                  <a:cubicBezTo>
                    <a:pt x="1247" y="2168"/>
                    <a:pt x="1581" y="2252"/>
                    <a:pt x="1992" y="2252"/>
                  </a:cubicBezTo>
                  <a:close/>
                </a:path>
              </a:pathLst>
            </a:custGeom>
            <a:solidFill>
              <a:srgbClr val="4B649F">
                <a:alpha val="100000"/>
              </a:srgbClr>
            </a:solidFill>
            <a:ln w="9525">
              <a:noFill/>
            </a:ln>
          </p:spPr>
          <p:txBody>
            <a:bodyPr/>
            <a:lstStyle/>
            <a:p>
              <a:endParaRPr lang="zh-CN" altLang="en-US" sz="1800"/>
            </a:p>
          </p:txBody>
        </p:sp>
      </p:grpSp>
      <p:sp>
        <p:nvSpPr>
          <p:cNvPr id="25" name="矩形 24"/>
          <p:cNvSpPr/>
          <p:nvPr/>
        </p:nvSpPr>
        <p:spPr>
          <a:xfrm>
            <a:off x="1151689" y="6525929"/>
            <a:ext cx="1553010" cy="179471"/>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sz="1800"/>
          </a:p>
        </p:txBody>
      </p:sp>
      <p:sp>
        <p:nvSpPr>
          <p:cNvPr id="9" name="文本框 8"/>
          <p:cNvSpPr txBox="1"/>
          <p:nvPr/>
        </p:nvSpPr>
        <p:spPr>
          <a:xfrm>
            <a:off x="335915" y="1075690"/>
            <a:ext cx="11285855" cy="1938020"/>
          </a:xfrm>
          <a:prstGeom prst="rect">
            <a:avLst/>
          </a:prstGeom>
          <a:noFill/>
        </p:spPr>
        <p:txBody>
          <a:bodyPr wrap="square">
            <a:spAutoFit/>
          </a:bodyPr>
          <a:lstStyle/>
          <a:p>
            <a:pPr marL="285750" indent="-285750">
              <a:buFont typeface="Wingdings" panose="05000000000000000000" pitchFamily="2" charset="2"/>
              <a:buChar char="Ø"/>
            </a:pPr>
            <a:r>
              <a:rPr lang="zh-CN" altLang="en-US" sz="2000" b="1">
                <a:latin typeface="宋体" panose="02010600030101010101" pitchFamily="2" charset="-122"/>
                <a:ea typeface="宋体" panose="02010600030101010101" pitchFamily="2" charset="-122"/>
                <a:cs typeface="宋体" panose="02010600030101010101" pitchFamily="2" charset="-122"/>
                <a:sym typeface="+mn-lt"/>
              </a:rPr>
              <a:t>任务转换范式</a:t>
            </a:r>
            <a:endParaRPr lang="zh-CN" altLang="en-US" sz="2000" b="1">
              <a:latin typeface="宋体" panose="02010600030101010101" pitchFamily="2" charset="-122"/>
              <a:ea typeface="宋体" panose="02010600030101010101" pitchFamily="2" charset="-122"/>
              <a:cs typeface="宋体" panose="02010600030101010101" pitchFamily="2" charset="-122"/>
              <a:sym typeface="+mn-lt"/>
            </a:endParaRPr>
          </a:p>
          <a:p>
            <a:pPr>
              <a:buFont typeface="Wingdings" panose="05000000000000000000" pitchFamily="2" charset="2"/>
            </a:pPr>
            <a:r>
              <a:rPr lang="zh-CN" altLang="en-US" sz="2000">
                <a:latin typeface="宋体" panose="02010600030101010101" pitchFamily="2" charset="-122"/>
                <a:ea typeface="宋体" panose="02010600030101010101" pitchFamily="2" charset="-122"/>
                <a:cs typeface="宋体" panose="02010600030101010101" pitchFamily="2" charset="-122"/>
                <a:sym typeface="+mn-lt"/>
              </a:rPr>
              <a:t>完成斯特鲁普任务后，主试告知被试，在接下来的任务转换实验中可根据作答表现获得现金奖励。该实验分为两个任务组，奖赏水平（高奖赏、低奖赏）作为被试内变量，实验顺序进行平衡处理。</a:t>
            </a:r>
            <a:endParaRPr lang="zh-CN" altLang="en-US" sz="2000">
              <a:latin typeface="宋体" panose="02010600030101010101" pitchFamily="2" charset="-122"/>
              <a:ea typeface="宋体" panose="02010600030101010101" pitchFamily="2" charset="-122"/>
              <a:cs typeface="宋体" panose="02010600030101010101" pitchFamily="2" charset="-122"/>
              <a:sym typeface="+mn-lt"/>
            </a:endParaRPr>
          </a:p>
          <a:p>
            <a:pPr>
              <a:buFont typeface="Wingdings" panose="05000000000000000000" pitchFamily="2" charset="2"/>
            </a:pPr>
            <a:r>
              <a:rPr lang="zh-CN" altLang="en-US" sz="2000">
                <a:latin typeface="宋体" panose="02010600030101010101" pitchFamily="2" charset="-122"/>
                <a:ea typeface="宋体" panose="02010600030101010101" pitchFamily="2" charset="-122"/>
                <a:cs typeface="宋体" panose="02010600030101010101" pitchFamily="2" charset="-122"/>
                <a:sym typeface="+mn-lt"/>
              </a:rPr>
              <a:t>本任务转换范式使用的纸牌选择任务</a:t>
            </a:r>
            <a:r>
              <a:rPr lang="en-US" altLang="zh-CN" sz="2000">
                <a:latin typeface="宋体" panose="02010600030101010101" pitchFamily="2" charset="-122"/>
                <a:ea typeface="宋体" panose="02010600030101010101" pitchFamily="2" charset="-122"/>
                <a:cs typeface="宋体" panose="02010600030101010101" pitchFamily="2" charset="-122"/>
                <a:sym typeface="+mn-lt"/>
              </a:rPr>
              <a:t>,</a:t>
            </a:r>
            <a:r>
              <a:rPr lang="zh-CN" altLang="en-US" sz="2000">
                <a:latin typeface="宋体" panose="02010600030101010101" pitchFamily="2" charset="-122"/>
                <a:ea typeface="宋体" panose="02010600030101010101" pitchFamily="2" charset="-122"/>
                <a:cs typeface="宋体" panose="02010600030101010101" pitchFamily="2" charset="-122"/>
                <a:sym typeface="+mn-lt"/>
              </a:rPr>
              <a:t>出现红桃牌时，被试需按下对应按键，判断牌面数字是否大于 5</a:t>
            </a:r>
            <a:r>
              <a:rPr lang="zh-CN" altLang="en-US" sz="2000">
                <a:solidFill>
                  <a:srgbClr val="FF0000"/>
                </a:solidFill>
                <a:latin typeface="宋体" panose="02010600030101010101" pitchFamily="2" charset="-122"/>
                <a:ea typeface="宋体" panose="02010600030101010101" pitchFamily="2" charset="-122"/>
                <a:cs typeface="宋体" panose="02010600030101010101" pitchFamily="2" charset="-122"/>
                <a:sym typeface="+mn-lt"/>
              </a:rPr>
              <a:t>（大小判断任务）</a:t>
            </a:r>
            <a:r>
              <a:rPr lang="zh-CN" altLang="en-US" sz="2000">
                <a:latin typeface="宋体" panose="02010600030101010101" pitchFamily="2" charset="-122"/>
                <a:ea typeface="宋体" panose="02010600030101010101" pitchFamily="2" charset="-122"/>
                <a:cs typeface="宋体" panose="02010600030101010101" pitchFamily="2" charset="-122"/>
                <a:sym typeface="+mn-lt"/>
              </a:rPr>
              <a:t>；出现黑桃牌时，则需判断数字是奇数还是偶数</a:t>
            </a:r>
            <a:r>
              <a:rPr lang="zh-CN" altLang="en-US" sz="2000">
                <a:solidFill>
                  <a:srgbClr val="FF0000"/>
                </a:solidFill>
                <a:latin typeface="宋体" panose="02010600030101010101" pitchFamily="2" charset="-122"/>
                <a:ea typeface="宋体" panose="02010600030101010101" pitchFamily="2" charset="-122"/>
                <a:cs typeface="宋体" panose="02010600030101010101" pitchFamily="2" charset="-122"/>
                <a:sym typeface="+mn-lt"/>
              </a:rPr>
              <a:t>（奇偶判断任务）</a:t>
            </a:r>
            <a:r>
              <a:rPr lang="zh-CN" altLang="en-US" sz="2000">
                <a:latin typeface="宋体" panose="02010600030101010101" pitchFamily="2" charset="-122"/>
                <a:ea typeface="宋体" panose="02010600030101010101" pitchFamily="2" charset="-122"/>
                <a:cs typeface="宋体" panose="02010600030101010101" pitchFamily="2" charset="-122"/>
                <a:sym typeface="+mn-lt"/>
              </a:rPr>
              <a:t>。每组任务开始前，会提前告知被试本次的奖励标准：答对一题可获得</a:t>
            </a:r>
            <a:r>
              <a:rPr lang="en-US" altLang="zh-CN" sz="2000">
                <a:latin typeface="宋体" panose="02010600030101010101" pitchFamily="2" charset="-122"/>
                <a:ea typeface="宋体" panose="02010600030101010101" pitchFamily="2" charset="-122"/>
                <a:cs typeface="宋体" panose="02010600030101010101" pitchFamily="2" charset="-122"/>
                <a:sym typeface="+mn-lt"/>
              </a:rPr>
              <a:t>5</a:t>
            </a:r>
            <a:r>
              <a:rPr lang="zh-CN" altLang="en-US" sz="2000">
                <a:latin typeface="宋体" panose="02010600030101010101" pitchFamily="2" charset="-122"/>
                <a:ea typeface="宋体" panose="02010600030101010101" pitchFamily="2" charset="-122"/>
                <a:cs typeface="宋体" panose="02010600030101010101" pitchFamily="2" charset="-122"/>
                <a:sym typeface="+mn-lt"/>
              </a:rPr>
              <a:t>美分（高奖赏组）或</a:t>
            </a:r>
            <a:r>
              <a:rPr lang="en-US" altLang="zh-CN" sz="2000">
                <a:latin typeface="宋体" panose="02010600030101010101" pitchFamily="2" charset="-122"/>
                <a:ea typeface="宋体" panose="02010600030101010101" pitchFamily="2" charset="-122"/>
                <a:cs typeface="宋体" panose="02010600030101010101" pitchFamily="2" charset="-122"/>
                <a:sym typeface="+mn-lt"/>
              </a:rPr>
              <a:t>1</a:t>
            </a:r>
            <a:r>
              <a:rPr lang="zh-CN" altLang="en-US" sz="2000">
                <a:latin typeface="宋体" panose="02010600030101010101" pitchFamily="2" charset="-122"/>
                <a:ea typeface="宋体" panose="02010600030101010101" pitchFamily="2" charset="-122"/>
                <a:cs typeface="宋体" panose="02010600030101010101" pitchFamily="2" charset="-122"/>
                <a:sym typeface="+mn-lt"/>
              </a:rPr>
              <a:t>美分（低奖赏组）</a:t>
            </a:r>
            <a:endParaRPr lang="zh-CN" altLang="en-US" sz="2000">
              <a:latin typeface="宋体" panose="02010600030101010101" pitchFamily="2" charset="-122"/>
              <a:ea typeface="宋体" panose="02010600030101010101" pitchFamily="2" charset="-122"/>
              <a:cs typeface="宋体" panose="02010600030101010101" pitchFamily="2" charset="-122"/>
              <a:sym typeface="+mn-lt"/>
            </a:endParaRPr>
          </a:p>
        </p:txBody>
      </p:sp>
      <p:pic>
        <p:nvPicPr>
          <p:cNvPr id="6" name="图片 5"/>
          <p:cNvPicPr>
            <a:picLocks noChangeAspect="1"/>
          </p:cNvPicPr>
          <p:nvPr/>
        </p:nvPicPr>
        <p:blipFill>
          <a:blip r:embed="rId2"/>
          <a:stretch>
            <a:fillRect/>
          </a:stretch>
        </p:blipFill>
        <p:spPr>
          <a:xfrm>
            <a:off x="2435225" y="2982595"/>
            <a:ext cx="6657975" cy="34163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10" name="图片 1"/>
          <p:cNvPicPr>
            <a:picLocks noChangeAspect="1"/>
          </p:cNvPicPr>
          <p:nvPr/>
        </p:nvPicPr>
        <p:blipFill>
          <a:blip r:embed="rId1"/>
          <a:stretch>
            <a:fillRect/>
          </a:stretch>
        </p:blipFill>
        <p:spPr>
          <a:xfrm>
            <a:off x="8610600" y="0"/>
            <a:ext cx="3581400" cy="1006475"/>
          </a:xfrm>
          <a:prstGeom prst="rect">
            <a:avLst/>
          </a:prstGeom>
          <a:noFill/>
          <a:ln w="9525">
            <a:noFill/>
          </a:ln>
        </p:spPr>
      </p:pic>
      <p:sp>
        <p:nvSpPr>
          <p:cNvPr id="17411" name="文本框 2"/>
          <p:cNvSpPr txBox="1"/>
          <p:nvPr/>
        </p:nvSpPr>
        <p:spPr>
          <a:xfrm>
            <a:off x="868363" y="25400"/>
            <a:ext cx="4541837" cy="737235"/>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50000"/>
              </a:lnSpc>
              <a:spcBef>
                <a:spcPct val="0"/>
              </a:spcBef>
              <a:buFontTx/>
              <a:buNone/>
            </a:pPr>
            <a:r>
              <a:rPr lang="zh-CN" altLang="en-US" b="1">
                <a:solidFill>
                  <a:srgbClr val="4B649F"/>
                </a:solidFill>
              </a:rPr>
              <a:t>研究</a:t>
            </a:r>
            <a:r>
              <a:rPr lang="zh-CN" altLang="en-US" b="1">
                <a:solidFill>
                  <a:srgbClr val="4B649F"/>
                </a:solidFill>
              </a:rPr>
              <a:t>内容</a:t>
            </a:r>
            <a:endParaRPr lang="zh-CN" altLang="en-US" b="1">
              <a:solidFill>
                <a:srgbClr val="4B649F"/>
              </a:solidFill>
            </a:endParaRPr>
          </a:p>
        </p:txBody>
      </p:sp>
      <p:cxnSp>
        <p:nvCxnSpPr>
          <p:cNvPr id="4" name="直接连接符 3"/>
          <p:cNvCxnSpPr/>
          <p:nvPr/>
        </p:nvCxnSpPr>
        <p:spPr>
          <a:xfrm>
            <a:off x="0" y="798513"/>
            <a:ext cx="11176000" cy="0"/>
          </a:xfrm>
          <a:prstGeom prst="line">
            <a:avLst/>
          </a:prstGeom>
          <a:ln w="25400">
            <a:gradFill>
              <a:gsLst>
                <a:gs pos="0">
                  <a:srgbClr val="4B649F"/>
                </a:gs>
                <a:gs pos="100000">
                  <a:srgbClr val="7DB1CD">
                    <a:alpha val="0"/>
                  </a:srgbClr>
                </a:gs>
              </a:gsLst>
              <a:lin ang="0" scaled="0"/>
            </a:gradFill>
          </a:ln>
        </p:spPr>
        <p:style>
          <a:lnRef idx="1">
            <a:schemeClr val="accent1"/>
          </a:lnRef>
          <a:fillRef idx="0">
            <a:schemeClr val="accent1"/>
          </a:fillRef>
          <a:effectRef idx="0">
            <a:schemeClr val="accent1"/>
          </a:effectRef>
          <a:fontRef idx="minor">
            <a:schemeClr val="tx1"/>
          </a:fontRef>
        </p:style>
      </p:cxnSp>
      <p:sp>
        <p:nvSpPr>
          <p:cNvPr id="5" name="矩形 4"/>
          <p:cNvSpPr/>
          <p:nvPr/>
        </p:nvSpPr>
        <p:spPr>
          <a:xfrm>
            <a:off x="0" y="6724650"/>
            <a:ext cx="12192000" cy="133350"/>
          </a:xfrm>
          <a:prstGeom prst="rect">
            <a:avLst/>
          </a:prstGeom>
          <a:solidFill>
            <a:srgbClr val="4B649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1">
              <a:ln>
                <a:noFill/>
              </a:ln>
              <a:solidFill>
                <a:schemeClr val="lt1"/>
              </a:solidFill>
              <a:effectLst/>
              <a:uLnTx/>
              <a:uFillTx/>
              <a:latin typeface="+mn-lt"/>
              <a:ea typeface="+mn-ea"/>
              <a:cs typeface="+mn-cs"/>
            </a:endParaRPr>
          </a:p>
        </p:txBody>
      </p:sp>
      <p:grpSp>
        <p:nvGrpSpPr>
          <p:cNvPr id="17414" name="组合 5"/>
          <p:cNvGrpSpPr/>
          <p:nvPr/>
        </p:nvGrpSpPr>
        <p:grpSpPr>
          <a:xfrm>
            <a:off x="233363" y="125413"/>
            <a:ext cx="635000" cy="635000"/>
            <a:chOff x="5288161" y="2234042"/>
            <a:chExt cx="1607262" cy="1607262"/>
          </a:xfrm>
        </p:grpSpPr>
        <p:sp>
          <p:nvSpPr>
            <p:cNvPr id="7" name="椭圆 6"/>
            <p:cNvSpPr/>
            <p:nvPr/>
          </p:nvSpPr>
          <p:spPr>
            <a:xfrm>
              <a:off x="5288161" y="2234042"/>
              <a:ext cx="1607262" cy="1607262"/>
            </a:xfrm>
            <a:prstGeom prst="ellipse">
              <a:avLst/>
            </a:prstGeom>
            <a:solidFill>
              <a:srgbClr val="4B649F"/>
            </a:solidFill>
            <a:ln w="19050">
              <a:solidFill>
                <a:srgbClr val="4B649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1">
                <a:ln>
                  <a:noFill/>
                </a:ln>
                <a:solidFill>
                  <a:schemeClr val="lt1"/>
                </a:solidFill>
                <a:effectLst/>
                <a:uLnTx/>
                <a:uFillTx/>
                <a:latin typeface="+mn-lt"/>
                <a:ea typeface="+mn-ea"/>
                <a:cs typeface="+mn-cs"/>
              </a:endParaRPr>
            </a:p>
          </p:txBody>
        </p:sp>
        <p:sp>
          <p:nvSpPr>
            <p:cNvPr id="8" name="椭圆 7"/>
            <p:cNvSpPr/>
            <p:nvPr/>
          </p:nvSpPr>
          <p:spPr>
            <a:xfrm>
              <a:off x="5396650" y="2334495"/>
              <a:ext cx="1390282" cy="1390282"/>
            </a:xfrm>
            <a:prstGeom prst="ellipse">
              <a:avLst/>
            </a:prstGeom>
            <a:solidFill>
              <a:schemeClr val="bg1"/>
            </a:solidFill>
            <a:ln w="19050">
              <a:solidFill>
                <a:srgbClr val="4B649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1">
                <a:ln>
                  <a:noFill/>
                </a:ln>
                <a:solidFill>
                  <a:schemeClr val="lt1"/>
                </a:solidFill>
                <a:effectLst/>
                <a:uLnTx/>
                <a:uFillTx/>
                <a:latin typeface="+mn-lt"/>
                <a:ea typeface="+mn-ea"/>
                <a:cs typeface="+mn-cs"/>
              </a:endParaRPr>
            </a:p>
          </p:txBody>
        </p:sp>
        <p:sp>
          <p:nvSpPr>
            <p:cNvPr id="17440" name="KSO_Shape"/>
            <p:cNvSpPr/>
            <p:nvPr/>
          </p:nvSpPr>
          <p:spPr>
            <a:xfrm>
              <a:off x="5547153" y="2697761"/>
              <a:ext cx="1089278" cy="662788"/>
            </a:xfrm>
            <a:custGeom>
              <a:avLst/>
              <a:gdLst>
                <a:gd name="txL" fmla="*/ 0 w 3931"/>
                <a:gd name="txT" fmla="*/ 0 h 2392"/>
                <a:gd name="txR" fmla="*/ 3931 w 3931"/>
                <a:gd name="txB" fmla="*/ 2392 h 2392"/>
              </a:gdLst>
              <a:ahLst/>
              <a:cxnLst>
                <a:cxn ang="0">
                  <a:pos x="844045" y="356609"/>
                </a:cxn>
                <a:cxn ang="0">
                  <a:pos x="561681" y="235522"/>
                </a:cxn>
                <a:cxn ang="0">
                  <a:pos x="243848" y="356609"/>
                </a:cxn>
                <a:cxn ang="0">
                  <a:pos x="155176" y="319756"/>
                </a:cxn>
                <a:cxn ang="0">
                  <a:pos x="155176" y="428374"/>
                </a:cxn>
                <a:cxn ang="0">
                  <a:pos x="179283" y="461624"/>
                </a:cxn>
                <a:cxn ang="0">
                  <a:pos x="154622" y="494874"/>
                </a:cxn>
                <a:cxn ang="0">
                  <a:pos x="180946" y="611804"/>
                </a:cxn>
                <a:cxn ang="0">
                  <a:pos x="103358" y="611804"/>
                </a:cxn>
                <a:cxn ang="0">
                  <a:pos x="129960" y="494320"/>
                </a:cxn>
                <a:cxn ang="0">
                  <a:pos x="108346" y="461624"/>
                </a:cxn>
                <a:cxn ang="0">
                  <a:pos x="129128" y="429205"/>
                </a:cxn>
                <a:cxn ang="0">
                  <a:pos x="129128" y="308950"/>
                </a:cxn>
                <a:cxn ang="0">
                  <a:pos x="0" y="254918"/>
                </a:cxn>
                <a:cxn ang="0">
                  <a:pos x="568054" y="0"/>
                </a:cxn>
                <a:cxn ang="0">
                  <a:pos x="1089278" y="258243"/>
                </a:cxn>
                <a:cxn ang="0">
                  <a:pos x="844045" y="356609"/>
                </a:cxn>
                <a:cxn ang="0">
                  <a:pos x="555307" y="297035"/>
                </a:cxn>
                <a:cxn ang="0">
                  <a:pos x="811624" y="384040"/>
                </a:cxn>
                <a:cxn ang="0">
                  <a:pos x="811624" y="594902"/>
                </a:cxn>
                <a:cxn ang="0">
                  <a:pos x="542284" y="662788"/>
                </a:cxn>
                <a:cxn ang="0">
                  <a:pos x="304532" y="594902"/>
                </a:cxn>
                <a:cxn ang="0">
                  <a:pos x="304532" y="384040"/>
                </a:cxn>
                <a:cxn ang="0">
                  <a:pos x="555307" y="297035"/>
                </a:cxn>
                <a:cxn ang="0">
                  <a:pos x="551982" y="623996"/>
                </a:cxn>
                <a:cxn ang="0">
                  <a:pos x="758698" y="572458"/>
                </a:cxn>
                <a:cxn ang="0">
                  <a:pos x="551982" y="520643"/>
                </a:cxn>
                <a:cxn ang="0">
                  <a:pos x="345543" y="572458"/>
                </a:cxn>
                <a:cxn ang="0">
                  <a:pos x="551982" y="623996"/>
                </a:cxn>
              </a:cxnLst>
              <a:rect l="txL" t="txT" r="txR" b="txB"/>
              <a:pathLst>
                <a:path w="3931" h="2392">
                  <a:moveTo>
                    <a:pt x="3046" y="1287"/>
                  </a:moveTo>
                  <a:cubicBezTo>
                    <a:pt x="3046" y="1287"/>
                    <a:pt x="2618" y="850"/>
                    <a:pt x="2027" y="850"/>
                  </a:cubicBezTo>
                  <a:cubicBezTo>
                    <a:pt x="1450" y="850"/>
                    <a:pt x="880" y="1287"/>
                    <a:pt x="880" y="1287"/>
                  </a:cubicBezTo>
                  <a:cubicBezTo>
                    <a:pt x="560" y="1154"/>
                    <a:pt x="560" y="1154"/>
                    <a:pt x="560" y="1154"/>
                  </a:cubicBezTo>
                  <a:cubicBezTo>
                    <a:pt x="560" y="1546"/>
                    <a:pt x="560" y="1546"/>
                    <a:pt x="560" y="1546"/>
                  </a:cubicBezTo>
                  <a:cubicBezTo>
                    <a:pt x="610" y="1563"/>
                    <a:pt x="647" y="1610"/>
                    <a:pt x="647" y="1666"/>
                  </a:cubicBezTo>
                  <a:cubicBezTo>
                    <a:pt x="647" y="1723"/>
                    <a:pt x="609" y="1769"/>
                    <a:pt x="558" y="1786"/>
                  </a:cubicBezTo>
                  <a:cubicBezTo>
                    <a:pt x="653" y="2208"/>
                    <a:pt x="653" y="2208"/>
                    <a:pt x="653" y="2208"/>
                  </a:cubicBezTo>
                  <a:cubicBezTo>
                    <a:pt x="373" y="2208"/>
                    <a:pt x="373" y="2208"/>
                    <a:pt x="373" y="2208"/>
                  </a:cubicBezTo>
                  <a:cubicBezTo>
                    <a:pt x="469" y="1784"/>
                    <a:pt x="469" y="1784"/>
                    <a:pt x="469" y="1784"/>
                  </a:cubicBezTo>
                  <a:cubicBezTo>
                    <a:pt x="423" y="1764"/>
                    <a:pt x="391" y="1719"/>
                    <a:pt x="391" y="1666"/>
                  </a:cubicBezTo>
                  <a:cubicBezTo>
                    <a:pt x="391" y="1614"/>
                    <a:pt x="422" y="1570"/>
                    <a:pt x="466" y="1549"/>
                  </a:cubicBezTo>
                  <a:cubicBezTo>
                    <a:pt x="466" y="1115"/>
                    <a:pt x="466" y="1115"/>
                    <a:pt x="466" y="1115"/>
                  </a:cubicBezTo>
                  <a:cubicBezTo>
                    <a:pt x="0" y="920"/>
                    <a:pt x="0" y="920"/>
                    <a:pt x="0" y="920"/>
                  </a:cubicBezTo>
                  <a:cubicBezTo>
                    <a:pt x="2050" y="0"/>
                    <a:pt x="2050" y="0"/>
                    <a:pt x="2050" y="0"/>
                  </a:cubicBezTo>
                  <a:cubicBezTo>
                    <a:pt x="3931" y="932"/>
                    <a:pt x="3931" y="932"/>
                    <a:pt x="3931" y="932"/>
                  </a:cubicBezTo>
                  <a:lnTo>
                    <a:pt x="3046" y="1287"/>
                  </a:lnTo>
                  <a:close/>
                  <a:moveTo>
                    <a:pt x="2004" y="1072"/>
                  </a:moveTo>
                  <a:cubicBezTo>
                    <a:pt x="2598" y="1072"/>
                    <a:pt x="2929" y="1386"/>
                    <a:pt x="2929" y="1386"/>
                  </a:cubicBezTo>
                  <a:cubicBezTo>
                    <a:pt x="2929" y="2147"/>
                    <a:pt x="2929" y="2147"/>
                    <a:pt x="2929" y="2147"/>
                  </a:cubicBezTo>
                  <a:cubicBezTo>
                    <a:pt x="2929" y="2147"/>
                    <a:pt x="2586" y="2392"/>
                    <a:pt x="1957" y="2392"/>
                  </a:cubicBezTo>
                  <a:cubicBezTo>
                    <a:pt x="1328" y="2392"/>
                    <a:pt x="1099" y="2147"/>
                    <a:pt x="1099" y="2147"/>
                  </a:cubicBezTo>
                  <a:cubicBezTo>
                    <a:pt x="1099" y="1386"/>
                    <a:pt x="1099" y="1386"/>
                    <a:pt x="1099" y="1386"/>
                  </a:cubicBezTo>
                  <a:cubicBezTo>
                    <a:pt x="1099" y="1386"/>
                    <a:pt x="1410" y="1072"/>
                    <a:pt x="2004" y="1072"/>
                  </a:cubicBezTo>
                  <a:close/>
                  <a:moveTo>
                    <a:pt x="1992" y="2252"/>
                  </a:moveTo>
                  <a:cubicBezTo>
                    <a:pt x="2404" y="2252"/>
                    <a:pt x="2738" y="2168"/>
                    <a:pt x="2738" y="2066"/>
                  </a:cubicBezTo>
                  <a:cubicBezTo>
                    <a:pt x="2738" y="1963"/>
                    <a:pt x="2404" y="1879"/>
                    <a:pt x="1992" y="1879"/>
                  </a:cubicBezTo>
                  <a:cubicBezTo>
                    <a:pt x="1581" y="1879"/>
                    <a:pt x="1247" y="1963"/>
                    <a:pt x="1247" y="2066"/>
                  </a:cubicBezTo>
                  <a:cubicBezTo>
                    <a:pt x="1247" y="2168"/>
                    <a:pt x="1581" y="2252"/>
                    <a:pt x="1992" y="2252"/>
                  </a:cubicBezTo>
                  <a:close/>
                </a:path>
              </a:pathLst>
            </a:custGeom>
            <a:solidFill>
              <a:srgbClr val="4B649F">
                <a:alpha val="100000"/>
              </a:srgbClr>
            </a:solidFill>
            <a:ln w="9525">
              <a:noFill/>
            </a:ln>
          </p:spPr>
          <p:txBody>
            <a:bodyPr/>
            <a:lstStyle/>
            <a:p>
              <a:endParaRPr lang="zh-CN" altLang="en-US"/>
            </a:p>
          </p:txBody>
        </p:sp>
      </p:grpSp>
      <p:sp>
        <p:nvSpPr>
          <p:cNvPr id="2" name="文本框 1"/>
          <p:cNvSpPr txBox="1"/>
          <p:nvPr/>
        </p:nvSpPr>
        <p:spPr>
          <a:xfrm>
            <a:off x="765810" y="1661795"/>
            <a:ext cx="10113010" cy="922020"/>
          </a:xfrm>
          <a:prstGeom prst="rect">
            <a:avLst/>
          </a:prstGeom>
          <a:noFill/>
        </p:spPr>
        <p:txBody>
          <a:bodyPr wrap="square" rtlCol="0">
            <a:spAutoFit/>
          </a:bodyPr>
          <a:p>
            <a:pPr marL="285750" indent="-285750">
              <a:buFont typeface="Wingdings" panose="05000000000000000000" charset="0"/>
              <a:buChar char="Ø"/>
            </a:pPr>
            <a:r>
              <a:rPr lang="zh-CN" altLang="en-US"/>
              <a:t>数据分析</a:t>
            </a:r>
            <a:endParaRPr lang="zh-CN" altLang="en-US"/>
          </a:p>
          <a:p>
            <a:pPr>
              <a:buFont typeface="Wingdings" panose="05000000000000000000" charset="0"/>
            </a:pPr>
            <a:r>
              <a:rPr lang="zh-CN" altLang="en-US"/>
              <a:t>本研究采用 </a:t>
            </a:r>
            <a:r>
              <a:rPr lang="en-US" altLang="zh-CN">
                <a:solidFill>
                  <a:srgbClr val="FF0000"/>
                </a:solidFill>
              </a:rPr>
              <a:t>R </a:t>
            </a:r>
            <a:r>
              <a:rPr lang="zh-CN" altLang="en-US">
                <a:solidFill>
                  <a:srgbClr val="FF0000"/>
                </a:solidFill>
              </a:rPr>
              <a:t>语言中的</a:t>
            </a:r>
            <a:r>
              <a:rPr lang="en-US" altLang="zh-CN">
                <a:solidFill>
                  <a:srgbClr val="FF0000"/>
                </a:solidFill>
              </a:rPr>
              <a:t>lme4</a:t>
            </a:r>
            <a:r>
              <a:rPr lang="zh-CN" altLang="en-US">
                <a:solidFill>
                  <a:srgbClr val="FF0000"/>
                </a:solidFill>
              </a:rPr>
              <a:t>程序包</a:t>
            </a:r>
            <a:r>
              <a:rPr lang="zh-CN" altLang="en-US"/>
              <a:t>进行混合效应回归分析</a:t>
            </a:r>
            <a:r>
              <a:rPr lang="en-US" altLang="zh-CN"/>
              <a:t>，</a:t>
            </a:r>
            <a:r>
              <a:rPr lang="zh-CN" altLang="en-US"/>
              <a:t>完成所有推断统计检验。针对正确率指标，本研究采用</a:t>
            </a:r>
            <a:r>
              <a:rPr lang="zh-CN" altLang="en-US">
                <a:solidFill>
                  <a:srgbClr val="FF0000"/>
                </a:solidFill>
              </a:rPr>
              <a:t>逻辑回归构建分析模型。</a:t>
            </a:r>
            <a:endParaRPr lang="zh-CN" altLang="en-US">
              <a:solidFill>
                <a:srgbClr val="FF0000"/>
              </a:solidFill>
            </a:endParaRPr>
          </a:p>
        </p:txBody>
      </p:sp>
      <p:pic>
        <p:nvPicPr>
          <p:cNvPr id="3" name="图片 2"/>
          <p:cNvPicPr>
            <a:picLocks noChangeAspect="1"/>
          </p:cNvPicPr>
          <p:nvPr/>
        </p:nvPicPr>
        <p:blipFill>
          <a:blip r:embed="rId2"/>
          <a:stretch>
            <a:fillRect/>
          </a:stretch>
        </p:blipFill>
        <p:spPr>
          <a:xfrm>
            <a:off x="1123315" y="2667000"/>
            <a:ext cx="8929370" cy="23749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2540000"/>
            <a:ext cx="5619750" cy="1965325"/>
          </a:xfrm>
          <a:prstGeom prst="rect">
            <a:avLst/>
          </a:prstGeom>
          <a:solidFill>
            <a:srgbClr val="4B649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1">
              <a:ln>
                <a:noFill/>
              </a:ln>
              <a:solidFill>
                <a:schemeClr val="lt1"/>
              </a:solidFill>
              <a:effectLst/>
              <a:uLnTx/>
              <a:uFillTx/>
              <a:latin typeface="+mn-lt"/>
              <a:ea typeface="+mn-ea"/>
              <a:cs typeface="+mn-cs"/>
            </a:endParaRPr>
          </a:p>
        </p:txBody>
      </p:sp>
      <p:grpSp>
        <p:nvGrpSpPr>
          <p:cNvPr id="7173" name="组合 5"/>
          <p:cNvGrpSpPr/>
          <p:nvPr/>
        </p:nvGrpSpPr>
        <p:grpSpPr>
          <a:xfrm>
            <a:off x="1519238" y="2232025"/>
            <a:ext cx="2581275" cy="2582863"/>
            <a:chOff x="1131485" y="2234042"/>
            <a:chExt cx="1607262" cy="1607262"/>
          </a:xfrm>
        </p:grpSpPr>
        <p:sp>
          <p:nvSpPr>
            <p:cNvPr id="7" name="椭圆 6"/>
            <p:cNvSpPr/>
            <p:nvPr/>
          </p:nvSpPr>
          <p:spPr>
            <a:xfrm>
              <a:off x="1131485" y="2234042"/>
              <a:ext cx="1607262" cy="1607262"/>
            </a:xfrm>
            <a:prstGeom prst="ellipse">
              <a:avLst/>
            </a:prstGeom>
            <a:solidFill>
              <a:srgbClr val="4B649F"/>
            </a:solidFill>
            <a:ln w="19050">
              <a:solidFill>
                <a:srgbClr val="4B649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1">
                <a:ln>
                  <a:noFill/>
                </a:ln>
                <a:solidFill>
                  <a:schemeClr val="lt1"/>
                </a:solidFill>
                <a:effectLst/>
                <a:uLnTx/>
                <a:uFillTx/>
                <a:latin typeface="+mn-lt"/>
                <a:ea typeface="+mn-ea"/>
                <a:cs typeface="+mn-cs"/>
              </a:endParaRPr>
            </a:p>
          </p:txBody>
        </p:sp>
        <p:sp>
          <p:nvSpPr>
            <p:cNvPr id="8" name="椭圆 7"/>
            <p:cNvSpPr/>
            <p:nvPr/>
          </p:nvSpPr>
          <p:spPr>
            <a:xfrm>
              <a:off x="1241206" y="2343696"/>
              <a:ext cx="1387820" cy="1387955"/>
            </a:xfrm>
            <a:prstGeom prst="ellipse">
              <a:avLst/>
            </a:prstGeom>
            <a:solidFill>
              <a:schemeClr val="bg1"/>
            </a:solidFill>
            <a:ln w="19050">
              <a:solidFill>
                <a:srgbClr val="4B649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1">
                <a:ln>
                  <a:noFill/>
                </a:ln>
                <a:solidFill>
                  <a:schemeClr val="lt1"/>
                </a:solidFill>
                <a:effectLst/>
                <a:uLnTx/>
                <a:uFillTx/>
                <a:latin typeface="+mn-lt"/>
                <a:ea typeface="+mn-ea"/>
                <a:cs typeface="+mn-cs"/>
              </a:endParaRPr>
            </a:p>
          </p:txBody>
        </p:sp>
        <p:sp>
          <p:nvSpPr>
            <p:cNvPr id="7178" name="KSO_Shape"/>
            <p:cNvSpPr/>
            <p:nvPr/>
          </p:nvSpPr>
          <p:spPr>
            <a:xfrm>
              <a:off x="1480150" y="2597150"/>
              <a:ext cx="909932" cy="881046"/>
            </a:xfrm>
            <a:custGeom>
              <a:avLst/>
              <a:gdLst>
                <a:gd name="txL" fmla="*/ 0 w 8965002"/>
                <a:gd name="txT" fmla="*/ 0 h 8673857"/>
                <a:gd name="txR" fmla="*/ 8965002 w 8965002"/>
                <a:gd name="txB" fmla="*/ 8673857 h 8673857"/>
              </a:gdLst>
              <a:ahLst/>
              <a:cxnLst>
                <a:cxn ang="0">
                  <a:pos x="839090" y="366042"/>
                </a:cxn>
                <a:cxn ang="0">
                  <a:pos x="863104" y="366042"/>
                </a:cxn>
                <a:cxn ang="0">
                  <a:pos x="902746" y="441180"/>
                </a:cxn>
                <a:cxn ang="0">
                  <a:pos x="706823" y="736389"/>
                </a:cxn>
                <a:cxn ang="0">
                  <a:pos x="660701" y="759273"/>
                </a:cxn>
                <a:cxn ang="0">
                  <a:pos x="545586" y="759273"/>
                </a:cxn>
                <a:cxn ang="0">
                  <a:pos x="545586" y="852336"/>
                </a:cxn>
                <a:cxn ang="0">
                  <a:pos x="530339" y="877509"/>
                </a:cxn>
                <a:cxn ang="0">
                  <a:pos x="516236" y="880942"/>
                </a:cxn>
                <a:cxn ang="0">
                  <a:pos x="498320" y="875602"/>
                </a:cxn>
                <a:cxn ang="0">
                  <a:pos x="408745" y="814959"/>
                </a:cxn>
                <a:cxn ang="0">
                  <a:pos x="321074" y="875602"/>
                </a:cxn>
                <a:cxn ang="0">
                  <a:pos x="289056" y="877509"/>
                </a:cxn>
                <a:cxn ang="0">
                  <a:pos x="272665" y="852336"/>
                </a:cxn>
                <a:cxn ang="0">
                  <a:pos x="272665" y="619678"/>
                </a:cxn>
                <a:cxn ang="0">
                  <a:pos x="321837" y="521275"/>
                </a:cxn>
                <a:cxn ang="0">
                  <a:pos x="337465" y="517080"/>
                </a:cxn>
                <a:cxn ang="0">
                  <a:pos x="577605" y="517080"/>
                </a:cxn>
                <a:cxn ang="0">
                  <a:pos x="544824" y="637986"/>
                </a:cxn>
                <a:cxn ang="0">
                  <a:pos x="632113" y="637986"/>
                </a:cxn>
                <a:cxn ang="0">
                  <a:pos x="839090" y="366042"/>
                </a:cxn>
                <a:cxn ang="0">
                  <a:pos x="620142" y="13"/>
                </a:cxn>
                <a:cxn ang="0">
                  <a:pos x="832163" y="13977"/>
                </a:cxn>
                <a:cxn ang="0">
                  <a:pos x="870659" y="89869"/>
                </a:cxn>
                <a:cxn ang="0">
                  <a:pos x="630157" y="403735"/>
                </a:cxn>
                <a:cxn ang="0">
                  <a:pos x="586707" y="424329"/>
                </a:cxn>
                <a:cxn ang="0">
                  <a:pos x="224239" y="424329"/>
                </a:cxn>
                <a:cxn ang="0">
                  <a:pos x="116756" y="556282"/>
                </a:cxn>
                <a:cxn ang="0">
                  <a:pos x="182694" y="632175"/>
                </a:cxn>
                <a:cxn ang="0">
                  <a:pos x="211661" y="637895"/>
                </a:cxn>
                <a:cxn ang="0">
                  <a:pos x="211661" y="759170"/>
                </a:cxn>
                <a:cxn ang="0">
                  <a:pos x="5462" y="581071"/>
                </a:cxn>
                <a:cxn ang="0">
                  <a:pos x="6605" y="480390"/>
                </a:cxn>
                <a:cxn ang="0">
                  <a:pos x="275693" y="68131"/>
                </a:cxn>
                <a:cxn ang="0">
                  <a:pos x="356877" y="23130"/>
                </a:cxn>
                <a:cxn ang="0">
                  <a:pos x="620142" y="13"/>
                </a:cxn>
              </a:cxnLst>
              <a:rect l="txL" t="txT" r="txR" b="txB"/>
              <a:pathLst>
                <a:path w="8965002" h="8673857">
                  <a:moveTo>
                    <a:pt x="8267042" y="3603669"/>
                  </a:moveTo>
                  <a:cubicBezTo>
                    <a:pt x="8267042" y="3603669"/>
                    <a:pt x="8267042" y="3603669"/>
                    <a:pt x="8503636" y="3603669"/>
                  </a:cubicBezTo>
                  <a:cubicBezTo>
                    <a:pt x="8770275" y="3603669"/>
                    <a:pt x="9115779" y="3885289"/>
                    <a:pt x="8894206" y="4343392"/>
                  </a:cubicBezTo>
                  <a:cubicBezTo>
                    <a:pt x="8894206" y="4343392"/>
                    <a:pt x="8894206" y="4343392"/>
                    <a:pt x="6963891" y="7249712"/>
                  </a:cubicBezTo>
                  <a:cubicBezTo>
                    <a:pt x="6817428" y="7463743"/>
                    <a:pt x="6610877" y="7475008"/>
                    <a:pt x="6509479" y="7475008"/>
                  </a:cubicBezTo>
                  <a:cubicBezTo>
                    <a:pt x="6509479" y="7475008"/>
                    <a:pt x="6509479" y="7475008"/>
                    <a:pt x="5375325" y="7475008"/>
                  </a:cubicBezTo>
                  <a:cubicBezTo>
                    <a:pt x="5375325" y="7475008"/>
                    <a:pt x="5375325" y="7475008"/>
                    <a:pt x="5375325" y="8391212"/>
                  </a:cubicBezTo>
                  <a:cubicBezTo>
                    <a:pt x="5375325" y="8503860"/>
                    <a:pt x="5326504" y="8586469"/>
                    <a:pt x="5225106" y="8639038"/>
                  </a:cubicBezTo>
                  <a:cubicBezTo>
                    <a:pt x="5180040" y="8661567"/>
                    <a:pt x="5131219" y="8672833"/>
                    <a:pt x="5086153" y="8672833"/>
                  </a:cubicBezTo>
                  <a:cubicBezTo>
                    <a:pt x="5026066" y="8672833"/>
                    <a:pt x="4962223" y="8654057"/>
                    <a:pt x="4909646" y="8620263"/>
                  </a:cubicBezTo>
                  <a:cubicBezTo>
                    <a:pt x="4909646" y="8620263"/>
                    <a:pt x="4909646" y="8620263"/>
                    <a:pt x="4027109" y="8023229"/>
                  </a:cubicBezTo>
                  <a:cubicBezTo>
                    <a:pt x="4027109" y="8023229"/>
                    <a:pt x="4027109" y="8023229"/>
                    <a:pt x="3163349" y="8620263"/>
                  </a:cubicBezTo>
                  <a:cubicBezTo>
                    <a:pt x="3069463" y="8684097"/>
                    <a:pt x="2949287" y="8691607"/>
                    <a:pt x="2847889" y="8639038"/>
                  </a:cubicBezTo>
                  <a:cubicBezTo>
                    <a:pt x="2750247" y="8586469"/>
                    <a:pt x="2686404" y="8503860"/>
                    <a:pt x="2686404" y="8391212"/>
                  </a:cubicBezTo>
                  <a:cubicBezTo>
                    <a:pt x="2686404" y="8391212"/>
                    <a:pt x="2686404" y="8391212"/>
                    <a:pt x="2686404" y="6100701"/>
                  </a:cubicBezTo>
                  <a:cubicBezTo>
                    <a:pt x="2686404" y="5559991"/>
                    <a:pt x="2990598" y="5237066"/>
                    <a:pt x="3170860" y="5131928"/>
                  </a:cubicBezTo>
                  <a:cubicBezTo>
                    <a:pt x="3215926" y="5105644"/>
                    <a:pt x="3268503" y="5090624"/>
                    <a:pt x="3324835" y="5090624"/>
                  </a:cubicBezTo>
                  <a:cubicBezTo>
                    <a:pt x="3324835" y="5090624"/>
                    <a:pt x="3324835" y="5090624"/>
                    <a:pt x="5690785" y="5090624"/>
                  </a:cubicBezTo>
                  <a:cubicBezTo>
                    <a:pt x="5371570" y="5406038"/>
                    <a:pt x="5367814" y="5980543"/>
                    <a:pt x="5367814" y="6280938"/>
                  </a:cubicBezTo>
                  <a:cubicBezTo>
                    <a:pt x="5367814" y="6280938"/>
                    <a:pt x="5367814" y="6280938"/>
                    <a:pt x="6227818" y="6280938"/>
                  </a:cubicBezTo>
                  <a:cubicBezTo>
                    <a:pt x="6227818" y="6280938"/>
                    <a:pt x="6227818" y="6280938"/>
                    <a:pt x="8267042" y="3603669"/>
                  </a:cubicBezTo>
                  <a:close/>
                  <a:moveTo>
                    <a:pt x="6109875" y="128"/>
                  </a:moveTo>
                  <a:cubicBezTo>
                    <a:pt x="6829153" y="-2490"/>
                    <a:pt x="7579192" y="34821"/>
                    <a:pt x="8198796" y="137601"/>
                  </a:cubicBezTo>
                  <a:cubicBezTo>
                    <a:pt x="8705745" y="220201"/>
                    <a:pt x="8739542" y="678257"/>
                    <a:pt x="8578069" y="884757"/>
                  </a:cubicBezTo>
                  <a:cubicBezTo>
                    <a:pt x="8578069" y="884757"/>
                    <a:pt x="6234838" y="3955980"/>
                    <a:pt x="6208552" y="3974753"/>
                  </a:cubicBezTo>
                  <a:cubicBezTo>
                    <a:pt x="6107162" y="4098653"/>
                    <a:pt x="5953199" y="4177498"/>
                    <a:pt x="5780461" y="4177498"/>
                  </a:cubicBezTo>
                  <a:cubicBezTo>
                    <a:pt x="5780461" y="4177498"/>
                    <a:pt x="5780461" y="4177498"/>
                    <a:pt x="2209285" y="4177498"/>
                  </a:cubicBezTo>
                  <a:cubicBezTo>
                    <a:pt x="1818747" y="4177498"/>
                    <a:pt x="970076" y="4545444"/>
                    <a:pt x="1150325" y="5476573"/>
                  </a:cubicBezTo>
                  <a:cubicBezTo>
                    <a:pt x="1217918" y="5825746"/>
                    <a:pt x="1465760" y="6103583"/>
                    <a:pt x="1799971" y="6223729"/>
                  </a:cubicBezTo>
                  <a:cubicBezTo>
                    <a:pt x="1875075" y="6253765"/>
                    <a:pt x="2002751" y="6268783"/>
                    <a:pt x="2085365" y="6280047"/>
                  </a:cubicBezTo>
                  <a:cubicBezTo>
                    <a:pt x="2085365" y="6280047"/>
                    <a:pt x="2085365" y="6280047"/>
                    <a:pt x="2085365" y="7473994"/>
                  </a:cubicBezTo>
                  <a:cubicBezTo>
                    <a:pt x="1582171" y="7440203"/>
                    <a:pt x="335451" y="7004675"/>
                    <a:pt x="53813" y="5720619"/>
                  </a:cubicBezTo>
                  <a:cubicBezTo>
                    <a:pt x="-25046" y="5397728"/>
                    <a:pt x="-13780" y="5056063"/>
                    <a:pt x="65078" y="4729417"/>
                  </a:cubicBezTo>
                  <a:cubicBezTo>
                    <a:pt x="282879" y="3283915"/>
                    <a:pt x="2351982" y="944830"/>
                    <a:pt x="2716235" y="670748"/>
                  </a:cubicBezTo>
                  <a:cubicBezTo>
                    <a:pt x="2960321" y="471756"/>
                    <a:pt x="3234449" y="310311"/>
                    <a:pt x="3516088" y="227711"/>
                  </a:cubicBezTo>
                  <a:cubicBezTo>
                    <a:pt x="3797726" y="119767"/>
                    <a:pt x="4911078" y="4491"/>
                    <a:pt x="6109875" y="128"/>
                  </a:cubicBezTo>
                  <a:close/>
                </a:path>
              </a:pathLst>
            </a:custGeom>
            <a:solidFill>
              <a:srgbClr val="4B649F">
                <a:alpha val="100000"/>
              </a:srgbClr>
            </a:solidFill>
            <a:ln w="9525">
              <a:noFill/>
            </a:ln>
          </p:spPr>
          <p:txBody>
            <a:bodyPr/>
            <a:lstStyle/>
            <a:p>
              <a:endParaRPr lang="zh-CN" altLang="en-US"/>
            </a:p>
          </p:txBody>
        </p:sp>
      </p:grpSp>
      <p:pic>
        <p:nvPicPr>
          <p:cNvPr id="7174" name="图片 9"/>
          <p:cNvPicPr>
            <a:picLocks noChangeAspect="1"/>
          </p:cNvPicPr>
          <p:nvPr/>
        </p:nvPicPr>
        <p:blipFill>
          <a:blip r:embed="rId1"/>
          <a:stretch>
            <a:fillRect/>
          </a:stretch>
        </p:blipFill>
        <p:spPr>
          <a:xfrm>
            <a:off x="6326188" y="5200650"/>
            <a:ext cx="5865812" cy="1657350"/>
          </a:xfrm>
          <a:prstGeom prst="rect">
            <a:avLst/>
          </a:prstGeom>
          <a:noFill/>
          <a:ln w="9525">
            <a:noFill/>
          </a:ln>
        </p:spPr>
      </p:pic>
      <p:pic>
        <p:nvPicPr>
          <p:cNvPr id="7175" name="图片 10"/>
          <p:cNvPicPr>
            <a:picLocks noChangeAspect="1"/>
          </p:cNvPicPr>
          <p:nvPr/>
        </p:nvPicPr>
        <p:blipFill>
          <a:blip r:embed="rId2"/>
          <a:stretch>
            <a:fillRect/>
          </a:stretch>
        </p:blipFill>
        <p:spPr>
          <a:xfrm>
            <a:off x="0" y="0"/>
            <a:ext cx="7878763" cy="2216150"/>
          </a:xfrm>
          <a:prstGeom prst="rect">
            <a:avLst/>
          </a:prstGeom>
          <a:noFill/>
          <a:ln w="9525">
            <a:noFill/>
          </a:ln>
        </p:spPr>
      </p:pic>
      <p:sp>
        <p:nvSpPr>
          <p:cNvPr id="12291" name="文本框 2"/>
          <p:cNvSpPr txBox="1"/>
          <p:nvPr/>
        </p:nvSpPr>
        <p:spPr>
          <a:xfrm>
            <a:off x="6003496" y="3000514"/>
            <a:ext cx="5708650" cy="706755"/>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indent="0" defTabSz="1600200">
              <a:lnSpc>
                <a:spcPct val="100000"/>
              </a:lnSpc>
              <a:spcBef>
                <a:spcPct val="0"/>
              </a:spcBef>
              <a:spcAft>
                <a:spcPct val="35000"/>
              </a:spcAft>
              <a:buNone/>
            </a:pPr>
            <a:r>
              <a:rPr lang="en-US" altLang="zh-CN" sz="4000" b="1">
                <a:solidFill>
                  <a:srgbClr val="4B649F"/>
                </a:solidFill>
                <a:latin typeface="+mj-lt"/>
                <a:cs typeface="Times New Roman" panose="02020603050405020304" pitchFamily="18" charset="0"/>
              </a:rPr>
              <a:t>3.</a:t>
            </a:r>
            <a:r>
              <a:rPr lang="zh-CN" altLang="en-US" sz="4000" b="1">
                <a:solidFill>
                  <a:srgbClr val="4B649F"/>
                </a:solidFill>
                <a:latin typeface="+mj-lt"/>
                <a:cs typeface="Times New Roman" panose="02020603050405020304" pitchFamily="18" charset="0"/>
              </a:rPr>
              <a:t>结</a:t>
            </a:r>
            <a:r>
              <a:rPr lang="zh-CN" altLang="en-US" sz="4000" b="1">
                <a:solidFill>
                  <a:srgbClr val="4B649F"/>
                </a:solidFill>
                <a:latin typeface="+mj-lt"/>
                <a:cs typeface="Times New Roman" panose="02020603050405020304" pitchFamily="18" charset="0"/>
              </a:rPr>
              <a:t>果</a:t>
            </a:r>
            <a:endParaRPr lang="zh-CN" altLang="en-US" sz="4000" b="1">
              <a:solidFill>
                <a:srgbClr val="4B649F"/>
              </a:solidFill>
              <a:latin typeface="+mj-lt"/>
              <a:cs typeface="Times New Roman" panose="02020603050405020304" pitchFamily="18" charset="0"/>
            </a:endParaRPr>
          </a:p>
        </p:txBody>
      </p:sp>
      <p:sp>
        <p:nvSpPr>
          <p:cNvPr id="3" name="文本框 2"/>
          <p:cNvSpPr txBox="1"/>
          <p:nvPr/>
        </p:nvSpPr>
        <p:spPr>
          <a:xfrm>
            <a:off x="-737870" y="-347345"/>
            <a:ext cx="4064000" cy="368300"/>
          </a:xfrm>
          <a:prstGeom prst="rect">
            <a:avLst/>
          </a:prstGeom>
          <a:noFill/>
        </p:spPr>
        <p:txBody>
          <a:bodyPr wrap="square" rtlCol="0">
            <a:spAutoFit/>
          </a:bodyPr>
          <a:lstStyle/>
          <a:p>
            <a:endParaRPr lang="zh-CN" alt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10" name="图片 1"/>
          <p:cNvPicPr>
            <a:picLocks noChangeAspect="1"/>
          </p:cNvPicPr>
          <p:nvPr/>
        </p:nvPicPr>
        <p:blipFill>
          <a:blip r:embed="rId1"/>
          <a:stretch>
            <a:fillRect/>
          </a:stretch>
        </p:blipFill>
        <p:spPr>
          <a:xfrm>
            <a:off x="8610600" y="0"/>
            <a:ext cx="3581400" cy="1006475"/>
          </a:xfrm>
          <a:prstGeom prst="rect">
            <a:avLst/>
          </a:prstGeom>
          <a:noFill/>
          <a:ln w="9525">
            <a:noFill/>
          </a:ln>
        </p:spPr>
      </p:pic>
      <p:cxnSp>
        <p:nvCxnSpPr>
          <p:cNvPr id="4" name="直接连接符 3"/>
          <p:cNvCxnSpPr/>
          <p:nvPr/>
        </p:nvCxnSpPr>
        <p:spPr>
          <a:xfrm>
            <a:off x="0" y="798513"/>
            <a:ext cx="11176000" cy="0"/>
          </a:xfrm>
          <a:prstGeom prst="line">
            <a:avLst/>
          </a:prstGeom>
          <a:ln w="25400">
            <a:gradFill>
              <a:gsLst>
                <a:gs pos="0">
                  <a:srgbClr val="4B649F"/>
                </a:gs>
                <a:gs pos="100000">
                  <a:srgbClr val="7DB1CD">
                    <a:alpha val="0"/>
                  </a:srgbClr>
                </a:gs>
              </a:gsLst>
              <a:lin ang="0" scaled="0"/>
            </a:gradFill>
          </a:ln>
        </p:spPr>
        <p:style>
          <a:lnRef idx="1">
            <a:schemeClr val="accent1"/>
          </a:lnRef>
          <a:fillRef idx="0">
            <a:schemeClr val="accent1"/>
          </a:fillRef>
          <a:effectRef idx="0">
            <a:schemeClr val="accent1"/>
          </a:effectRef>
          <a:fontRef idx="minor">
            <a:schemeClr val="tx1"/>
          </a:fontRef>
        </p:style>
      </p:cxnSp>
      <p:sp>
        <p:nvSpPr>
          <p:cNvPr id="5" name="矩形 4"/>
          <p:cNvSpPr/>
          <p:nvPr/>
        </p:nvSpPr>
        <p:spPr>
          <a:xfrm>
            <a:off x="0" y="6724650"/>
            <a:ext cx="12192000" cy="133350"/>
          </a:xfrm>
          <a:prstGeom prst="rect">
            <a:avLst/>
          </a:prstGeom>
          <a:solidFill>
            <a:srgbClr val="4B649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1">
              <a:ln>
                <a:noFill/>
              </a:ln>
              <a:solidFill>
                <a:schemeClr val="lt1"/>
              </a:solidFill>
              <a:effectLst/>
              <a:uLnTx/>
              <a:uFillTx/>
              <a:latin typeface="+mn-lt"/>
              <a:ea typeface="+mn-ea"/>
              <a:cs typeface="+mn-cs"/>
            </a:endParaRPr>
          </a:p>
        </p:txBody>
      </p:sp>
      <p:grpSp>
        <p:nvGrpSpPr>
          <p:cNvPr id="17414" name="组合 5"/>
          <p:cNvGrpSpPr/>
          <p:nvPr/>
        </p:nvGrpSpPr>
        <p:grpSpPr>
          <a:xfrm>
            <a:off x="233363" y="125413"/>
            <a:ext cx="635000" cy="635000"/>
            <a:chOff x="5288161" y="2234042"/>
            <a:chExt cx="1607262" cy="1607262"/>
          </a:xfrm>
        </p:grpSpPr>
        <p:sp>
          <p:nvSpPr>
            <p:cNvPr id="7" name="椭圆 6"/>
            <p:cNvSpPr/>
            <p:nvPr/>
          </p:nvSpPr>
          <p:spPr>
            <a:xfrm>
              <a:off x="5288161" y="2234042"/>
              <a:ext cx="1607262" cy="1607262"/>
            </a:xfrm>
            <a:prstGeom prst="ellipse">
              <a:avLst/>
            </a:prstGeom>
            <a:solidFill>
              <a:srgbClr val="4B649F"/>
            </a:solidFill>
            <a:ln w="19050">
              <a:solidFill>
                <a:srgbClr val="4B649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1">
                <a:ln>
                  <a:noFill/>
                </a:ln>
                <a:solidFill>
                  <a:schemeClr val="lt1"/>
                </a:solidFill>
                <a:effectLst/>
                <a:uLnTx/>
                <a:uFillTx/>
                <a:latin typeface="+mn-lt"/>
                <a:ea typeface="+mn-ea"/>
                <a:cs typeface="+mn-cs"/>
              </a:endParaRPr>
            </a:p>
          </p:txBody>
        </p:sp>
        <p:sp>
          <p:nvSpPr>
            <p:cNvPr id="8" name="椭圆 7"/>
            <p:cNvSpPr/>
            <p:nvPr/>
          </p:nvSpPr>
          <p:spPr>
            <a:xfrm>
              <a:off x="5396650" y="2334495"/>
              <a:ext cx="1390282" cy="1390282"/>
            </a:xfrm>
            <a:prstGeom prst="ellipse">
              <a:avLst/>
            </a:prstGeom>
            <a:solidFill>
              <a:schemeClr val="bg1"/>
            </a:solidFill>
            <a:ln w="19050">
              <a:solidFill>
                <a:srgbClr val="4B649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1">
                <a:ln>
                  <a:noFill/>
                </a:ln>
                <a:solidFill>
                  <a:schemeClr val="lt1"/>
                </a:solidFill>
                <a:effectLst/>
                <a:uLnTx/>
                <a:uFillTx/>
                <a:latin typeface="+mn-lt"/>
                <a:ea typeface="+mn-ea"/>
                <a:cs typeface="+mn-cs"/>
              </a:endParaRPr>
            </a:p>
          </p:txBody>
        </p:sp>
        <p:sp>
          <p:nvSpPr>
            <p:cNvPr id="17440" name="KSO_Shape"/>
            <p:cNvSpPr/>
            <p:nvPr/>
          </p:nvSpPr>
          <p:spPr>
            <a:xfrm>
              <a:off x="5547153" y="2697761"/>
              <a:ext cx="1089278" cy="662788"/>
            </a:xfrm>
            <a:custGeom>
              <a:avLst/>
              <a:gdLst>
                <a:gd name="txL" fmla="*/ 0 w 3931"/>
                <a:gd name="txT" fmla="*/ 0 h 2392"/>
                <a:gd name="txR" fmla="*/ 3931 w 3931"/>
                <a:gd name="txB" fmla="*/ 2392 h 2392"/>
              </a:gdLst>
              <a:ahLst/>
              <a:cxnLst>
                <a:cxn ang="0">
                  <a:pos x="844045" y="356609"/>
                </a:cxn>
                <a:cxn ang="0">
                  <a:pos x="561681" y="235522"/>
                </a:cxn>
                <a:cxn ang="0">
                  <a:pos x="243848" y="356609"/>
                </a:cxn>
                <a:cxn ang="0">
                  <a:pos x="155176" y="319756"/>
                </a:cxn>
                <a:cxn ang="0">
                  <a:pos x="155176" y="428374"/>
                </a:cxn>
                <a:cxn ang="0">
                  <a:pos x="179283" y="461624"/>
                </a:cxn>
                <a:cxn ang="0">
                  <a:pos x="154622" y="494874"/>
                </a:cxn>
                <a:cxn ang="0">
                  <a:pos x="180946" y="611804"/>
                </a:cxn>
                <a:cxn ang="0">
                  <a:pos x="103358" y="611804"/>
                </a:cxn>
                <a:cxn ang="0">
                  <a:pos x="129960" y="494320"/>
                </a:cxn>
                <a:cxn ang="0">
                  <a:pos x="108346" y="461624"/>
                </a:cxn>
                <a:cxn ang="0">
                  <a:pos x="129128" y="429205"/>
                </a:cxn>
                <a:cxn ang="0">
                  <a:pos x="129128" y="308950"/>
                </a:cxn>
                <a:cxn ang="0">
                  <a:pos x="0" y="254918"/>
                </a:cxn>
                <a:cxn ang="0">
                  <a:pos x="568054" y="0"/>
                </a:cxn>
                <a:cxn ang="0">
                  <a:pos x="1089278" y="258243"/>
                </a:cxn>
                <a:cxn ang="0">
                  <a:pos x="844045" y="356609"/>
                </a:cxn>
                <a:cxn ang="0">
                  <a:pos x="555307" y="297035"/>
                </a:cxn>
                <a:cxn ang="0">
                  <a:pos x="811624" y="384040"/>
                </a:cxn>
                <a:cxn ang="0">
                  <a:pos x="811624" y="594902"/>
                </a:cxn>
                <a:cxn ang="0">
                  <a:pos x="542284" y="662788"/>
                </a:cxn>
                <a:cxn ang="0">
                  <a:pos x="304532" y="594902"/>
                </a:cxn>
                <a:cxn ang="0">
                  <a:pos x="304532" y="384040"/>
                </a:cxn>
                <a:cxn ang="0">
                  <a:pos x="555307" y="297035"/>
                </a:cxn>
                <a:cxn ang="0">
                  <a:pos x="551982" y="623996"/>
                </a:cxn>
                <a:cxn ang="0">
                  <a:pos x="758698" y="572458"/>
                </a:cxn>
                <a:cxn ang="0">
                  <a:pos x="551982" y="520643"/>
                </a:cxn>
                <a:cxn ang="0">
                  <a:pos x="345543" y="572458"/>
                </a:cxn>
                <a:cxn ang="0">
                  <a:pos x="551982" y="623996"/>
                </a:cxn>
              </a:cxnLst>
              <a:rect l="txL" t="txT" r="txR" b="txB"/>
              <a:pathLst>
                <a:path w="3931" h="2392">
                  <a:moveTo>
                    <a:pt x="3046" y="1287"/>
                  </a:moveTo>
                  <a:cubicBezTo>
                    <a:pt x="3046" y="1287"/>
                    <a:pt x="2618" y="850"/>
                    <a:pt x="2027" y="850"/>
                  </a:cubicBezTo>
                  <a:cubicBezTo>
                    <a:pt x="1450" y="850"/>
                    <a:pt x="880" y="1287"/>
                    <a:pt x="880" y="1287"/>
                  </a:cubicBezTo>
                  <a:cubicBezTo>
                    <a:pt x="560" y="1154"/>
                    <a:pt x="560" y="1154"/>
                    <a:pt x="560" y="1154"/>
                  </a:cubicBezTo>
                  <a:cubicBezTo>
                    <a:pt x="560" y="1546"/>
                    <a:pt x="560" y="1546"/>
                    <a:pt x="560" y="1546"/>
                  </a:cubicBezTo>
                  <a:cubicBezTo>
                    <a:pt x="610" y="1563"/>
                    <a:pt x="647" y="1610"/>
                    <a:pt x="647" y="1666"/>
                  </a:cubicBezTo>
                  <a:cubicBezTo>
                    <a:pt x="647" y="1723"/>
                    <a:pt x="609" y="1769"/>
                    <a:pt x="558" y="1786"/>
                  </a:cubicBezTo>
                  <a:cubicBezTo>
                    <a:pt x="653" y="2208"/>
                    <a:pt x="653" y="2208"/>
                    <a:pt x="653" y="2208"/>
                  </a:cubicBezTo>
                  <a:cubicBezTo>
                    <a:pt x="373" y="2208"/>
                    <a:pt x="373" y="2208"/>
                    <a:pt x="373" y="2208"/>
                  </a:cubicBezTo>
                  <a:cubicBezTo>
                    <a:pt x="469" y="1784"/>
                    <a:pt x="469" y="1784"/>
                    <a:pt x="469" y="1784"/>
                  </a:cubicBezTo>
                  <a:cubicBezTo>
                    <a:pt x="423" y="1764"/>
                    <a:pt x="391" y="1719"/>
                    <a:pt x="391" y="1666"/>
                  </a:cubicBezTo>
                  <a:cubicBezTo>
                    <a:pt x="391" y="1614"/>
                    <a:pt x="422" y="1570"/>
                    <a:pt x="466" y="1549"/>
                  </a:cubicBezTo>
                  <a:cubicBezTo>
                    <a:pt x="466" y="1115"/>
                    <a:pt x="466" y="1115"/>
                    <a:pt x="466" y="1115"/>
                  </a:cubicBezTo>
                  <a:cubicBezTo>
                    <a:pt x="0" y="920"/>
                    <a:pt x="0" y="920"/>
                    <a:pt x="0" y="920"/>
                  </a:cubicBezTo>
                  <a:cubicBezTo>
                    <a:pt x="2050" y="0"/>
                    <a:pt x="2050" y="0"/>
                    <a:pt x="2050" y="0"/>
                  </a:cubicBezTo>
                  <a:cubicBezTo>
                    <a:pt x="3931" y="932"/>
                    <a:pt x="3931" y="932"/>
                    <a:pt x="3931" y="932"/>
                  </a:cubicBezTo>
                  <a:lnTo>
                    <a:pt x="3046" y="1287"/>
                  </a:lnTo>
                  <a:close/>
                  <a:moveTo>
                    <a:pt x="2004" y="1072"/>
                  </a:moveTo>
                  <a:cubicBezTo>
                    <a:pt x="2598" y="1072"/>
                    <a:pt x="2929" y="1386"/>
                    <a:pt x="2929" y="1386"/>
                  </a:cubicBezTo>
                  <a:cubicBezTo>
                    <a:pt x="2929" y="2147"/>
                    <a:pt x="2929" y="2147"/>
                    <a:pt x="2929" y="2147"/>
                  </a:cubicBezTo>
                  <a:cubicBezTo>
                    <a:pt x="2929" y="2147"/>
                    <a:pt x="2586" y="2392"/>
                    <a:pt x="1957" y="2392"/>
                  </a:cubicBezTo>
                  <a:cubicBezTo>
                    <a:pt x="1328" y="2392"/>
                    <a:pt x="1099" y="2147"/>
                    <a:pt x="1099" y="2147"/>
                  </a:cubicBezTo>
                  <a:cubicBezTo>
                    <a:pt x="1099" y="1386"/>
                    <a:pt x="1099" y="1386"/>
                    <a:pt x="1099" y="1386"/>
                  </a:cubicBezTo>
                  <a:cubicBezTo>
                    <a:pt x="1099" y="1386"/>
                    <a:pt x="1410" y="1072"/>
                    <a:pt x="2004" y="1072"/>
                  </a:cubicBezTo>
                  <a:close/>
                  <a:moveTo>
                    <a:pt x="1992" y="2252"/>
                  </a:moveTo>
                  <a:cubicBezTo>
                    <a:pt x="2404" y="2252"/>
                    <a:pt x="2738" y="2168"/>
                    <a:pt x="2738" y="2066"/>
                  </a:cubicBezTo>
                  <a:cubicBezTo>
                    <a:pt x="2738" y="1963"/>
                    <a:pt x="2404" y="1879"/>
                    <a:pt x="1992" y="1879"/>
                  </a:cubicBezTo>
                  <a:cubicBezTo>
                    <a:pt x="1581" y="1879"/>
                    <a:pt x="1247" y="1963"/>
                    <a:pt x="1247" y="2066"/>
                  </a:cubicBezTo>
                  <a:cubicBezTo>
                    <a:pt x="1247" y="2168"/>
                    <a:pt x="1581" y="2252"/>
                    <a:pt x="1992" y="2252"/>
                  </a:cubicBezTo>
                  <a:close/>
                </a:path>
              </a:pathLst>
            </a:custGeom>
            <a:solidFill>
              <a:srgbClr val="4B649F">
                <a:alpha val="100000"/>
              </a:srgbClr>
            </a:solidFill>
            <a:ln w="9525">
              <a:noFill/>
            </a:ln>
          </p:spPr>
          <p:txBody>
            <a:bodyPr/>
            <a:lstStyle/>
            <a:p>
              <a:endParaRPr lang="zh-CN" altLang="en-US" sz="1800"/>
            </a:p>
          </p:txBody>
        </p:sp>
      </p:grpSp>
      <p:sp>
        <p:nvSpPr>
          <p:cNvPr id="19" name="文本框 2"/>
          <p:cNvSpPr txBox="1"/>
          <p:nvPr/>
        </p:nvSpPr>
        <p:spPr>
          <a:xfrm>
            <a:off x="917258" y="194310"/>
            <a:ext cx="4541837" cy="478155"/>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indent="0" eaLnBrk="1" hangingPunct="1">
              <a:buNone/>
            </a:pPr>
            <a:r>
              <a:rPr lang="zh-CN" altLang="en-US" b="1" dirty="0">
                <a:gradFill>
                  <a:gsLst>
                    <a:gs pos="0">
                      <a:srgbClr val="012D86"/>
                    </a:gs>
                    <a:gs pos="100000">
                      <a:srgbClr val="0E2557"/>
                    </a:gs>
                  </a:gsLst>
                  <a:lin scaled="0"/>
                </a:gradFill>
                <a:latin typeface="Arial" panose="020B0604020202020204" pitchFamily="34" charset="0"/>
                <a:sym typeface="+mn-ea"/>
              </a:rPr>
              <a:t>研究</a:t>
            </a:r>
            <a:r>
              <a:rPr lang="zh-CN" altLang="en-US" b="1" dirty="0">
                <a:gradFill>
                  <a:gsLst>
                    <a:gs pos="0">
                      <a:srgbClr val="012D86"/>
                    </a:gs>
                    <a:gs pos="100000">
                      <a:srgbClr val="0E2557"/>
                    </a:gs>
                  </a:gsLst>
                  <a:lin scaled="0"/>
                </a:gradFill>
                <a:latin typeface="Arial" panose="020B0604020202020204" pitchFamily="34" charset="0"/>
                <a:sym typeface="+mn-ea"/>
              </a:rPr>
              <a:t>结果</a:t>
            </a:r>
            <a:endParaRPr lang="zh-CN" altLang="en-US" b="1" dirty="0">
              <a:gradFill>
                <a:gsLst>
                  <a:gs pos="0">
                    <a:srgbClr val="012D86"/>
                  </a:gs>
                  <a:gs pos="100000">
                    <a:srgbClr val="0E2557"/>
                  </a:gs>
                </a:gsLst>
                <a:lin scaled="0"/>
              </a:gradFill>
              <a:latin typeface="Arial" panose="020B0604020202020204" pitchFamily="34" charset="0"/>
              <a:sym typeface="+mn-ea"/>
            </a:endParaRPr>
          </a:p>
        </p:txBody>
      </p:sp>
      <p:pic>
        <p:nvPicPr>
          <p:cNvPr id="12" name="图片 11" descr="屏幕截图 2026-06-18 120759"/>
          <p:cNvPicPr>
            <a:picLocks noChangeAspect="1"/>
          </p:cNvPicPr>
          <p:nvPr/>
        </p:nvPicPr>
        <p:blipFill>
          <a:blip r:embed="rId2"/>
          <a:stretch>
            <a:fillRect/>
          </a:stretch>
        </p:blipFill>
        <p:spPr>
          <a:xfrm>
            <a:off x="0" y="836930"/>
            <a:ext cx="8609965" cy="499872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10" name="图片 1"/>
          <p:cNvPicPr>
            <a:picLocks noChangeAspect="1"/>
          </p:cNvPicPr>
          <p:nvPr/>
        </p:nvPicPr>
        <p:blipFill>
          <a:blip r:embed="rId1"/>
          <a:stretch>
            <a:fillRect/>
          </a:stretch>
        </p:blipFill>
        <p:spPr>
          <a:xfrm>
            <a:off x="8610600" y="0"/>
            <a:ext cx="3581400" cy="1006475"/>
          </a:xfrm>
          <a:prstGeom prst="rect">
            <a:avLst/>
          </a:prstGeom>
          <a:noFill/>
          <a:ln w="9525">
            <a:noFill/>
          </a:ln>
        </p:spPr>
      </p:pic>
      <p:cxnSp>
        <p:nvCxnSpPr>
          <p:cNvPr id="4" name="直接连接符 3"/>
          <p:cNvCxnSpPr/>
          <p:nvPr/>
        </p:nvCxnSpPr>
        <p:spPr>
          <a:xfrm>
            <a:off x="0" y="798513"/>
            <a:ext cx="11176000" cy="0"/>
          </a:xfrm>
          <a:prstGeom prst="line">
            <a:avLst/>
          </a:prstGeom>
          <a:ln w="25400">
            <a:gradFill>
              <a:gsLst>
                <a:gs pos="0">
                  <a:srgbClr val="4B649F"/>
                </a:gs>
                <a:gs pos="100000">
                  <a:srgbClr val="7DB1CD">
                    <a:alpha val="0"/>
                  </a:srgbClr>
                </a:gs>
              </a:gsLst>
              <a:lin ang="0" scaled="0"/>
            </a:gradFill>
          </a:ln>
        </p:spPr>
        <p:style>
          <a:lnRef idx="1">
            <a:schemeClr val="accent1"/>
          </a:lnRef>
          <a:fillRef idx="0">
            <a:schemeClr val="accent1"/>
          </a:fillRef>
          <a:effectRef idx="0">
            <a:schemeClr val="accent1"/>
          </a:effectRef>
          <a:fontRef idx="minor">
            <a:schemeClr val="tx1"/>
          </a:fontRef>
        </p:style>
      </p:cxnSp>
      <p:sp>
        <p:nvSpPr>
          <p:cNvPr id="5" name="矩形 4"/>
          <p:cNvSpPr/>
          <p:nvPr/>
        </p:nvSpPr>
        <p:spPr>
          <a:xfrm>
            <a:off x="0" y="6724650"/>
            <a:ext cx="12192000" cy="133350"/>
          </a:xfrm>
          <a:prstGeom prst="rect">
            <a:avLst/>
          </a:prstGeom>
          <a:solidFill>
            <a:srgbClr val="4B649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1">
              <a:ln>
                <a:noFill/>
              </a:ln>
              <a:solidFill>
                <a:schemeClr val="lt1"/>
              </a:solidFill>
              <a:effectLst/>
              <a:uLnTx/>
              <a:uFillTx/>
              <a:latin typeface="+mn-lt"/>
              <a:ea typeface="+mn-ea"/>
              <a:cs typeface="+mn-cs"/>
            </a:endParaRPr>
          </a:p>
        </p:txBody>
      </p:sp>
      <p:pic>
        <p:nvPicPr>
          <p:cNvPr id="2" name="图片 1" descr="屏幕截图 2026-06-18 120822"/>
          <p:cNvPicPr>
            <a:picLocks noChangeAspect="1"/>
          </p:cNvPicPr>
          <p:nvPr/>
        </p:nvPicPr>
        <p:blipFill>
          <a:blip r:embed="rId2"/>
          <a:stretch>
            <a:fillRect/>
          </a:stretch>
        </p:blipFill>
        <p:spPr>
          <a:xfrm>
            <a:off x="0" y="382905"/>
            <a:ext cx="7978140" cy="2367915"/>
          </a:xfrm>
          <a:prstGeom prst="rect">
            <a:avLst/>
          </a:prstGeom>
        </p:spPr>
      </p:pic>
      <p:cxnSp>
        <p:nvCxnSpPr>
          <p:cNvPr id="13" name="直接箭头连接符 12"/>
          <p:cNvCxnSpPr/>
          <p:nvPr/>
        </p:nvCxnSpPr>
        <p:spPr>
          <a:xfrm>
            <a:off x="6581140" y="1483995"/>
            <a:ext cx="1556385" cy="2540"/>
          </a:xfrm>
          <a:prstGeom prst="straightConnector1">
            <a:avLst/>
          </a:prstGeom>
          <a:ln>
            <a:solidFill>
              <a:schemeClr val="tx1"/>
            </a:solidFill>
            <a:tailEnd type="arrow"/>
          </a:ln>
        </p:spPr>
        <p:style>
          <a:lnRef idx="2">
            <a:schemeClr val="accent1"/>
          </a:lnRef>
          <a:fillRef idx="0">
            <a:srgbClr val="FFFFFF"/>
          </a:fillRef>
          <a:effectRef idx="0">
            <a:srgbClr val="FFFFFF"/>
          </a:effectRef>
          <a:fontRef idx="minor">
            <a:schemeClr val="tx1"/>
          </a:fontRef>
        </p:style>
      </p:cxnSp>
      <p:sp>
        <p:nvSpPr>
          <p:cNvPr id="7" name="文本框 6"/>
          <p:cNvSpPr txBox="1"/>
          <p:nvPr/>
        </p:nvSpPr>
        <p:spPr>
          <a:xfrm>
            <a:off x="8070850" y="579755"/>
            <a:ext cx="3829685" cy="2676525"/>
          </a:xfrm>
          <a:prstGeom prst="rect">
            <a:avLst/>
          </a:prstGeom>
          <a:noFill/>
        </p:spPr>
        <p:txBody>
          <a:bodyPr wrap="square" rtlCol="0" anchor="t">
            <a:spAutoFit/>
          </a:bodyPr>
          <a:p>
            <a:pPr algn="just"/>
            <a:r>
              <a:rPr lang="zh-CN" altLang="en-US" sz="1400" b="1">
                <a:latin typeface="宋体" panose="02010600030101010101" pitchFamily="2" charset="-122"/>
                <a:ea typeface="宋体" panose="02010600030101010101" pitchFamily="2" charset="-122"/>
                <a:cs typeface="宋体" panose="02010600030101010101" pitchFamily="2" charset="-122"/>
              </a:rPr>
              <a:t>这段代码为任务切换数据添加关键的试次类型（</a:t>
            </a:r>
            <a:r>
              <a:rPr lang="en-US" altLang="zh-CN" sz="1400" b="1">
                <a:latin typeface="宋体" panose="02010600030101010101" pitchFamily="2" charset="-122"/>
                <a:ea typeface="宋体" panose="02010600030101010101" pitchFamily="2" charset="-122"/>
                <a:cs typeface="宋体" panose="02010600030101010101" pitchFamily="2" charset="-122"/>
              </a:rPr>
              <a:t>trial_type） </a:t>
            </a:r>
            <a:r>
              <a:rPr lang="zh-CN" altLang="en-US" sz="1400" b="1">
                <a:latin typeface="宋体" panose="02010600030101010101" pitchFamily="2" charset="-122"/>
                <a:ea typeface="宋体" panose="02010600030101010101" pitchFamily="2" charset="-122"/>
                <a:cs typeface="宋体" panose="02010600030101010101" pitchFamily="2" charset="-122"/>
              </a:rPr>
              <a:t>和</a:t>
            </a:r>
            <a:r>
              <a:rPr lang="en-US" altLang="zh-CN" sz="1400" b="1">
                <a:latin typeface="宋体" panose="02010600030101010101" pitchFamily="2" charset="-122"/>
                <a:ea typeface="宋体" panose="02010600030101010101" pitchFamily="2" charset="-122"/>
                <a:cs typeface="宋体" panose="02010600030101010101" pitchFamily="2" charset="-122"/>
              </a:rPr>
              <a:t>block</a:t>
            </a:r>
            <a:r>
              <a:rPr lang="zh-CN" altLang="en-US" sz="1400" b="1">
                <a:latin typeface="宋体" panose="02010600030101010101" pitchFamily="2" charset="-122"/>
                <a:ea typeface="宋体" panose="02010600030101010101" pitchFamily="2" charset="-122"/>
                <a:cs typeface="宋体" panose="02010600030101010101" pitchFamily="2" charset="-122"/>
              </a:rPr>
              <a:t>编号。</a:t>
            </a:r>
            <a:r>
              <a:rPr lang="en-US" altLang="zh-CN" sz="1400" b="1">
                <a:latin typeface="宋体" panose="02010600030101010101" pitchFamily="2" charset="-122"/>
                <a:ea typeface="宋体" panose="02010600030101010101" pitchFamily="2" charset="-122"/>
                <a:cs typeface="宋体" panose="02010600030101010101" pitchFamily="2" charset="-122"/>
              </a:rPr>
              <a:t>block </a:t>
            </a:r>
            <a:r>
              <a:rPr lang="zh-CN" altLang="en-US" sz="1400" b="1">
                <a:latin typeface="宋体" panose="02010600030101010101" pitchFamily="2" charset="-122"/>
                <a:ea typeface="宋体" panose="02010600030101010101" pitchFamily="2" charset="-122"/>
                <a:cs typeface="宋体" panose="02010600030101010101" pitchFamily="2" charset="-122"/>
              </a:rPr>
              <a:t>变量创建: 它为每个被试的每个</a:t>
            </a:r>
            <a:r>
              <a:rPr lang="en-US" altLang="zh-CN" sz="1400" b="1">
                <a:latin typeface="宋体" panose="02010600030101010101" pitchFamily="2" charset="-122"/>
                <a:ea typeface="宋体" panose="02010600030101010101" pitchFamily="2" charset="-122"/>
                <a:cs typeface="宋体" panose="02010600030101010101" pitchFamily="2" charset="-122"/>
              </a:rPr>
              <a:t>file_ts</a:t>
            </a:r>
            <a:r>
              <a:rPr lang="zh-CN" altLang="en-US" sz="1400" b="1">
                <a:latin typeface="宋体" panose="02010600030101010101" pitchFamily="2" charset="-122"/>
                <a:ea typeface="宋体" panose="02010600030101010101" pitchFamily="2" charset="-122"/>
                <a:cs typeface="宋体" panose="02010600030101010101" pitchFamily="2" charset="-122"/>
              </a:rPr>
              <a:t>文件（代表一个</a:t>
            </a:r>
            <a:r>
              <a:rPr lang="en-US" altLang="zh-CN" sz="1400" b="1">
                <a:latin typeface="宋体" panose="02010600030101010101" pitchFamily="2" charset="-122"/>
                <a:ea typeface="宋体" panose="02010600030101010101" pitchFamily="2" charset="-122"/>
                <a:cs typeface="宋体" panose="02010600030101010101" pitchFamily="2" charset="-122"/>
              </a:rPr>
              <a:t>block）</a:t>
            </a:r>
            <a:r>
              <a:rPr lang="zh-CN" altLang="en-US" sz="1400" b="1">
                <a:latin typeface="宋体" panose="02010600030101010101" pitchFamily="2" charset="-122"/>
                <a:ea typeface="宋体" panose="02010600030101010101" pitchFamily="2" charset="-122"/>
                <a:cs typeface="宋体" panose="02010600030101010101" pitchFamily="2" charset="-122"/>
              </a:rPr>
              <a:t>分配一个序号（1, 2, 3...）。</a:t>
            </a:r>
            <a:r>
              <a:rPr lang="en-US" altLang="zh-CN" sz="1400" b="1">
                <a:latin typeface="宋体" panose="02010600030101010101" pitchFamily="2" charset="-122"/>
                <a:ea typeface="宋体" panose="02010600030101010101" pitchFamily="2" charset="-122"/>
                <a:cs typeface="宋体" panose="02010600030101010101" pitchFamily="2" charset="-122"/>
              </a:rPr>
              <a:t>trial_type </a:t>
            </a:r>
            <a:r>
              <a:rPr lang="zh-CN" altLang="en-US" sz="1400" b="1">
                <a:latin typeface="宋体" panose="02010600030101010101" pitchFamily="2" charset="-122"/>
                <a:ea typeface="宋体" panose="02010600030101010101" pitchFamily="2" charset="-122"/>
                <a:cs typeface="宋体" panose="02010600030101010101" pitchFamily="2" charset="-122"/>
              </a:rPr>
              <a:t>变量创建: 它按被试和</a:t>
            </a:r>
            <a:r>
              <a:rPr lang="en-US" altLang="zh-CN" sz="1400" b="1">
                <a:latin typeface="宋体" panose="02010600030101010101" pitchFamily="2" charset="-122"/>
                <a:ea typeface="宋体" panose="02010600030101010101" pitchFamily="2" charset="-122"/>
                <a:cs typeface="宋体" panose="02010600030101010101" pitchFamily="2" charset="-122"/>
              </a:rPr>
              <a:t>block</a:t>
            </a:r>
            <a:r>
              <a:rPr lang="zh-CN" altLang="en-US" sz="1400" b="1">
                <a:latin typeface="宋体" panose="02010600030101010101" pitchFamily="2" charset="-122"/>
                <a:ea typeface="宋体" panose="02010600030101010101" pitchFamily="2" charset="-122"/>
                <a:cs typeface="宋体" panose="02010600030101010101" pitchFamily="2" charset="-122"/>
              </a:rPr>
              <a:t>分组，并按试次顺序（</a:t>
            </a:r>
            <a:r>
              <a:rPr lang="en-US" altLang="zh-CN" sz="1400" b="1">
                <a:latin typeface="宋体" panose="02010600030101010101" pitchFamily="2" charset="-122"/>
                <a:ea typeface="宋体" panose="02010600030101010101" pitchFamily="2" charset="-122"/>
                <a:cs typeface="宋体" panose="02010600030101010101" pitchFamily="2" charset="-122"/>
              </a:rPr>
              <a:t>trial）</a:t>
            </a:r>
            <a:r>
              <a:rPr lang="zh-CN" altLang="en-US" sz="1400" b="1">
                <a:latin typeface="宋体" panose="02010600030101010101" pitchFamily="2" charset="-122"/>
                <a:ea typeface="宋体" panose="02010600030101010101" pitchFamily="2" charset="-122"/>
                <a:cs typeface="宋体" panose="02010600030101010101" pitchFamily="2" charset="-122"/>
              </a:rPr>
              <a:t>排序。然后，通过比较当前试次的任务（</a:t>
            </a:r>
            <a:r>
              <a:rPr lang="en-US" altLang="zh-CN" sz="1400" b="1">
                <a:latin typeface="宋体" panose="02010600030101010101" pitchFamily="2" charset="-122"/>
                <a:ea typeface="宋体" panose="02010600030101010101" pitchFamily="2" charset="-122"/>
                <a:cs typeface="宋体" panose="02010600030101010101" pitchFamily="2" charset="-122"/>
              </a:rPr>
              <a:t>task）</a:t>
            </a:r>
            <a:r>
              <a:rPr lang="zh-CN" altLang="en-US" sz="1400" b="1">
                <a:latin typeface="宋体" panose="02010600030101010101" pitchFamily="2" charset="-122"/>
                <a:ea typeface="宋体" panose="02010600030101010101" pitchFamily="2" charset="-122"/>
                <a:cs typeface="宋体" panose="02010600030101010101" pitchFamily="2" charset="-122"/>
              </a:rPr>
              <a:t>和前一个试次的任务（</a:t>
            </a:r>
            <a:r>
              <a:rPr lang="en-US" altLang="zh-CN" sz="1400" b="1">
                <a:latin typeface="宋体" panose="02010600030101010101" pitchFamily="2" charset="-122"/>
                <a:ea typeface="宋体" panose="02010600030101010101" pitchFamily="2" charset="-122"/>
                <a:cs typeface="宋体" panose="02010600030101010101" pitchFamily="2" charset="-122"/>
              </a:rPr>
              <a:t>prev_task），</a:t>
            </a:r>
            <a:r>
              <a:rPr lang="zh-CN" altLang="en-US" sz="1400" b="1">
                <a:latin typeface="宋体" panose="02010600030101010101" pitchFamily="2" charset="-122"/>
                <a:ea typeface="宋体" panose="02010600030101010101" pitchFamily="2" charset="-122"/>
                <a:cs typeface="宋体" panose="02010600030101010101" pitchFamily="2" charset="-122"/>
              </a:rPr>
              <a:t>来判断当前试次是“切换”（</a:t>
            </a:r>
            <a:r>
              <a:rPr lang="en-US" altLang="zh-CN" sz="1400" b="1">
                <a:latin typeface="宋体" panose="02010600030101010101" pitchFamily="2" charset="-122"/>
                <a:ea typeface="宋体" panose="02010600030101010101" pitchFamily="2" charset="-122"/>
                <a:cs typeface="宋体" panose="02010600030101010101" pitchFamily="2" charset="-122"/>
              </a:rPr>
              <a:t>switch）</a:t>
            </a:r>
            <a:r>
              <a:rPr lang="zh-CN" altLang="en-US" sz="1400" b="1">
                <a:latin typeface="宋体" panose="02010600030101010101" pitchFamily="2" charset="-122"/>
                <a:ea typeface="宋体" panose="02010600030101010101" pitchFamily="2" charset="-122"/>
                <a:cs typeface="宋体" panose="02010600030101010101" pitchFamily="2" charset="-122"/>
              </a:rPr>
              <a:t>还是“重复”（</a:t>
            </a:r>
            <a:r>
              <a:rPr lang="en-US" altLang="zh-CN" sz="1400" b="1">
                <a:latin typeface="宋体" panose="02010600030101010101" pitchFamily="2" charset="-122"/>
                <a:ea typeface="宋体" panose="02010600030101010101" pitchFamily="2" charset="-122"/>
                <a:cs typeface="宋体" panose="02010600030101010101" pitchFamily="2" charset="-122"/>
              </a:rPr>
              <a:t>repeat）。</a:t>
            </a:r>
            <a:r>
              <a:rPr lang="zh-CN" altLang="en-US" sz="1400" b="1">
                <a:latin typeface="宋体" panose="02010600030101010101" pitchFamily="2" charset="-122"/>
                <a:ea typeface="宋体" panose="02010600030101010101" pitchFamily="2" charset="-122"/>
                <a:cs typeface="宋体" panose="02010600030101010101" pitchFamily="2" charset="-122"/>
              </a:rPr>
              <a:t>第一个试次的</a:t>
            </a:r>
            <a:r>
              <a:rPr lang="en-US" altLang="zh-CN" sz="1400" b="1">
                <a:latin typeface="宋体" panose="02010600030101010101" pitchFamily="2" charset="-122"/>
                <a:ea typeface="宋体" panose="02010600030101010101" pitchFamily="2" charset="-122"/>
                <a:cs typeface="宋体" panose="02010600030101010101" pitchFamily="2" charset="-122"/>
              </a:rPr>
              <a:t>trial_type</a:t>
            </a:r>
            <a:r>
              <a:rPr lang="zh-CN" altLang="en-US" sz="1400" b="1">
                <a:latin typeface="宋体" panose="02010600030101010101" pitchFamily="2" charset="-122"/>
                <a:ea typeface="宋体" panose="02010600030101010101" pitchFamily="2" charset="-122"/>
                <a:cs typeface="宋体" panose="02010600030101010101" pitchFamily="2" charset="-122"/>
              </a:rPr>
              <a:t>为</a:t>
            </a:r>
            <a:r>
              <a:rPr lang="en-US" altLang="zh-CN" sz="1400" b="1">
                <a:latin typeface="宋体" panose="02010600030101010101" pitchFamily="2" charset="-122"/>
                <a:ea typeface="宋体" panose="02010600030101010101" pitchFamily="2" charset="-122"/>
                <a:cs typeface="宋体" panose="02010600030101010101" pitchFamily="2" charset="-122"/>
              </a:rPr>
              <a:t>NA。</a:t>
            </a:r>
            <a:r>
              <a:rPr lang="zh-CN" altLang="en-US" sz="1400" b="1">
                <a:latin typeface="宋体" panose="02010600030101010101" pitchFamily="2" charset="-122"/>
                <a:ea typeface="宋体" panose="02010600030101010101" pitchFamily="2" charset="-122"/>
                <a:cs typeface="宋体" panose="02010600030101010101" pitchFamily="2" charset="-122"/>
              </a:rPr>
              <a:t>问卷数据读取: 读取问卷数据，并将</a:t>
            </a:r>
            <a:r>
              <a:rPr lang="en-US" altLang="zh-CN" sz="1400" b="1">
                <a:latin typeface="宋体" panose="02010600030101010101" pitchFamily="2" charset="-122"/>
                <a:ea typeface="宋体" panose="02010600030101010101" pitchFamily="2" charset="-122"/>
                <a:cs typeface="宋体" panose="02010600030101010101" pitchFamily="2" charset="-122"/>
              </a:rPr>
              <a:t>BIS-11</a:t>
            </a:r>
            <a:r>
              <a:rPr lang="zh-CN" altLang="en-US" sz="1400" b="1">
                <a:latin typeface="宋体" panose="02010600030101010101" pitchFamily="2" charset="-122"/>
                <a:ea typeface="宋体" panose="02010600030101010101" pitchFamily="2" charset="-122"/>
                <a:cs typeface="宋体" panose="02010600030101010101" pitchFamily="2" charset="-122"/>
              </a:rPr>
              <a:t>量表重命名为</a:t>
            </a:r>
            <a:r>
              <a:rPr lang="en-US" altLang="zh-CN" sz="1400" b="1">
                <a:latin typeface="宋体" panose="02010600030101010101" pitchFamily="2" charset="-122"/>
                <a:ea typeface="宋体" panose="02010600030101010101" pitchFamily="2" charset="-122"/>
                <a:cs typeface="宋体" panose="02010600030101010101" pitchFamily="2" charset="-122"/>
              </a:rPr>
              <a:t>bis11，</a:t>
            </a:r>
            <a:r>
              <a:rPr lang="zh-CN" altLang="en-US" sz="1400" b="1">
                <a:latin typeface="宋体" panose="02010600030101010101" pitchFamily="2" charset="-122"/>
                <a:ea typeface="宋体" panose="02010600030101010101" pitchFamily="2" charset="-122"/>
                <a:cs typeface="宋体" panose="02010600030101010101" pitchFamily="2" charset="-122"/>
              </a:rPr>
              <a:t>同时确保</a:t>
            </a:r>
            <a:r>
              <a:rPr lang="en-US" altLang="zh-CN" sz="1400" b="1">
                <a:latin typeface="宋体" panose="02010600030101010101" pitchFamily="2" charset="-122"/>
                <a:ea typeface="宋体" panose="02010600030101010101" pitchFamily="2" charset="-122"/>
                <a:cs typeface="宋体" panose="02010600030101010101" pitchFamily="2" charset="-122"/>
              </a:rPr>
              <a:t>subject</a:t>
            </a:r>
            <a:r>
              <a:rPr lang="zh-CN" altLang="en-US" sz="1400" b="1">
                <a:latin typeface="宋体" panose="02010600030101010101" pitchFamily="2" charset="-122"/>
                <a:ea typeface="宋体" panose="02010600030101010101" pitchFamily="2" charset="-122"/>
                <a:cs typeface="宋体" panose="02010600030101010101" pitchFamily="2" charset="-122"/>
              </a:rPr>
              <a:t>列是整数型。</a:t>
            </a:r>
            <a:endParaRPr lang="zh-CN" altLang="en-US" sz="1400" b="1">
              <a:latin typeface="宋体" panose="02010600030101010101" pitchFamily="2" charset="-122"/>
              <a:ea typeface="宋体" panose="02010600030101010101" pitchFamily="2" charset="-122"/>
              <a:cs typeface="宋体" panose="02010600030101010101" pitchFamily="2" charset="-122"/>
            </a:endParaRPr>
          </a:p>
        </p:txBody>
      </p:sp>
      <p:pic>
        <p:nvPicPr>
          <p:cNvPr id="8" name="图片 7" descr="屏幕截图 2026-06-18 120932"/>
          <p:cNvPicPr>
            <a:picLocks noChangeAspect="1"/>
          </p:cNvPicPr>
          <p:nvPr/>
        </p:nvPicPr>
        <p:blipFill>
          <a:blip r:embed="rId3"/>
          <a:stretch>
            <a:fillRect/>
          </a:stretch>
        </p:blipFill>
        <p:spPr>
          <a:xfrm>
            <a:off x="68580" y="2276475"/>
            <a:ext cx="7045325" cy="4177665"/>
          </a:xfrm>
          <a:prstGeom prst="rect">
            <a:avLst/>
          </a:prstGeom>
        </p:spPr>
      </p:pic>
      <p:cxnSp>
        <p:nvCxnSpPr>
          <p:cNvPr id="14" name="直接箭头连接符 13"/>
          <p:cNvCxnSpPr/>
          <p:nvPr/>
        </p:nvCxnSpPr>
        <p:spPr>
          <a:xfrm>
            <a:off x="6421755" y="4852670"/>
            <a:ext cx="1556385" cy="2540"/>
          </a:xfrm>
          <a:prstGeom prst="straightConnector1">
            <a:avLst/>
          </a:prstGeom>
          <a:ln>
            <a:solidFill>
              <a:schemeClr val="tx1"/>
            </a:solidFill>
            <a:tailEnd type="arrow"/>
          </a:ln>
        </p:spPr>
        <p:style>
          <a:lnRef idx="2">
            <a:schemeClr val="accent1"/>
          </a:lnRef>
          <a:fillRef idx="0">
            <a:srgbClr val="FFFFFF"/>
          </a:fillRef>
          <a:effectRef idx="0">
            <a:srgbClr val="FFFFFF"/>
          </a:effectRef>
          <a:fontRef idx="minor">
            <a:schemeClr val="tx1"/>
          </a:fontRef>
        </p:style>
      </p:cxnSp>
      <p:sp>
        <p:nvSpPr>
          <p:cNvPr id="17" name="文本框 16"/>
          <p:cNvSpPr txBox="1"/>
          <p:nvPr/>
        </p:nvSpPr>
        <p:spPr>
          <a:xfrm>
            <a:off x="8070850" y="3818255"/>
            <a:ext cx="3868420" cy="2245360"/>
          </a:xfrm>
          <a:prstGeom prst="rect">
            <a:avLst/>
          </a:prstGeom>
          <a:noFill/>
        </p:spPr>
        <p:txBody>
          <a:bodyPr wrap="square" rtlCol="0" anchor="t">
            <a:spAutoFit/>
          </a:bodyPr>
          <a:p>
            <a:pPr algn="just"/>
            <a:r>
              <a:rPr lang="zh-CN" altLang="en-US" sz="1400" b="1">
                <a:latin typeface="宋体" panose="02010600030101010101" pitchFamily="2" charset="-122"/>
                <a:ea typeface="宋体" panose="02010600030101010101" pitchFamily="2" charset="-122"/>
                <a:cs typeface="宋体" panose="02010600030101010101" pitchFamily="2" charset="-122"/>
              </a:rPr>
              <a:t>数据清洗首先从</a:t>
            </a:r>
            <a:r>
              <a:rPr lang="en-US" altLang="zh-CN" sz="1400" b="1">
                <a:latin typeface="宋体" panose="02010600030101010101" pitchFamily="2" charset="-122"/>
                <a:ea typeface="宋体" panose="02010600030101010101" pitchFamily="2" charset="-122"/>
                <a:cs typeface="宋体" panose="02010600030101010101" pitchFamily="2" charset="-122"/>
              </a:rPr>
              <a:t>Stroop</a:t>
            </a:r>
            <a:r>
              <a:rPr lang="zh-CN" altLang="en-US" sz="1400" b="1">
                <a:latin typeface="宋体" panose="02010600030101010101" pitchFamily="2" charset="-122"/>
                <a:ea typeface="宋体" panose="02010600030101010101" pitchFamily="2" charset="-122"/>
                <a:cs typeface="宋体" panose="02010600030101010101" pitchFamily="2" charset="-122"/>
              </a:rPr>
              <a:t>任务、任务切换任务和问卷数据中分别提取参与者</a:t>
            </a:r>
            <a:r>
              <a:rPr lang="en-US" altLang="zh-CN" sz="1400" b="1">
                <a:latin typeface="宋体" panose="02010600030101010101" pitchFamily="2" charset="-122"/>
                <a:ea typeface="宋体" panose="02010600030101010101" pitchFamily="2" charset="-122"/>
                <a:cs typeface="宋体" panose="02010600030101010101" pitchFamily="2" charset="-122"/>
              </a:rPr>
              <a:t>ID，</a:t>
            </a:r>
            <a:r>
              <a:rPr lang="zh-CN" altLang="en-US" sz="1400" b="1">
                <a:latin typeface="宋体" panose="02010600030101010101" pitchFamily="2" charset="-122"/>
                <a:ea typeface="宋体" panose="02010600030101010101" pitchFamily="2" charset="-122"/>
                <a:cs typeface="宋体" panose="02010600030101010101" pitchFamily="2" charset="-122"/>
              </a:rPr>
              <a:t>取</a:t>
            </a:r>
            <a:r>
              <a:rPr lang="en-US" altLang="zh-CN" sz="1400" b="1">
                <a:latin typeface="宋体" panose="02010600030101010101" pitchFamily="2" charset="-122"/>
                <a:ea typeface="宋体" panose="02010600030101010101" pitchFamily="2" charset="-122"/>
                <a:cs typeface="宋体" panose="02010600030101010101" pitchFamily="2" charset="-122"/>
              </a:rPr>
              <a:t>Stroop</a:t>
            </a:r>
            <a:r>
              <a:rPr lang="zh-CN" altLang="en-US" sz="1400" b="1">
                <a:latin typeface="宋体" panose="02010600030101010101" pitchFamily="2" charset="-122"/>
                <a:ea typeface="宋体" panose="02010600030101010101" pitchFamily="2" charset="-122"/>
                <a:cs typeface="宋体" panose="02010600030101010101" pitchFamily="2" charset="-122"/>
              </a:rPr>
              <a:t>与任务切换的交集作为候选样本，确保后续分析均基于完成这两项核心任务的被试。随后分别计算每个被试在</a:t>
            </a:r>
            <a:r>
              <a:rPr lang="en-US" altLang="zh-CN" sz="1400" b="1">
                <a:latin typeface="宋体" panose="02010600030101010101" pitchFamily="2" charset="-122"/>
                <a:ea typeface="宋体" panose="02010600030101010101" pitchFamily="2" charset="-122"/>
                <a:cs typeface="宋体" panose="02010600030101010101" pitchFamily="2" charset="-122"/>
              </a:rPr>
              <a:t>Stroop</a:t>
            </a:r>
            <a:r>
              <a:rPr lang="zh-CN" altLang="en-US" sz="1400" b="1">
                <a:latin typeface="宋体" panose="02010600030101010101" pitchFamily="2" charset="-122"/>
                <a:ea typeface="宋体" panose="02010600030101010101" pitchFamily="2" charset="-122"/>
                <a:cs typeface="宋体" panose="02010600030101010101" pitchFamily="2" charset="-122"/>
              </a:rPr>
              <a:t>和任务切换任务中的平均正确率，将任一任务正确率低于80%者标记排除，并在任务切换数据中检查每个</a:t>
            </a:r>
            <a:r>
              <a:rPr lang="en-US" altLang="zh-CN" sz="1400" b="1">
                <a:latin typeface="宋体" panose="02010600030101010101" pitchFamily="2" charset="-122"/>
                <a:ea typeface="宋体" panose="02010600030101010101" pitchFamily="2" charset="-122"/>
                <a:cs typeface="宋体" panose="02010600030101010101" pitchFamily="2" charset="-122"/>
              </a:rPr>
              <a:t>block</a:t>
            </a:r>
            <a:r>
              <a:rPr lang="zh-CN" altLang="en-US" sz="1400" b="1">
                <a:latin typeface="宋体" panose="02010600030101010101" pitchFamily="2" charset="-122"/>
                <a:ea typeface="宋体" panose="02010600030101010101" pitchFamily="2" charset="-122"/>
                <a:cs typeface="宋体" panose="02010600030101010101" pitchFamily="2" charset="-122"/>
              </a:rPr>
              <a:t>内无反应试次超过15次的被试予以剔除，最终得到主样本53人，其中拥有有效</a:t>
            </a:r>
            <a:r>
              <a:rPr lang="en-US" altLang="zh-CN" sz="1400" b="1">
                <a:latin typeface="宋体" panose="02010600030101010101" pitchFamily="2" charset="-122"/>
                <a:ea typeface="宋体" panose="02010600030101010101" pitchFamily="2" charset="-122"/>
                <a:cs typeface="宋体" panose="02010600030101010101" pitchFamily="2" charset="-122"/>
              </a:rPr>
              <a:t>NFC</a:t>
            </a:r>
            <a:r>
              <a:rPr lang="zh-CN" altLang="en-US" sz="1400" b="1">
                <a:latin typeface="宋体" panose="02010600030101010101" pitchFamily="2" charset="-122"/>
                <a:ea typeface="宋体" panose="02010600030101010101" pitchFamily="2" charset="-122"/>
                <a:cs typeface="宋体" panose="02010600030101010101" pitchFamily="2" charset="-122"/>
              </a:rPr>
              <a:t>问卷数据的子样本为51人。</a:t>
            </a:r>
            <a:endParaRPr lang="zh-CN" altLang="en-US" sz="1400" b="1">
              <a:latin typeface="宋体" panose="02010600030101010101" pitchFamily="2" charset="-122"/>
              <a:ea typeface="宋体" panose="02010600030101010101" pitchFamily="2" charset="-122"/>
              <a:cs typeface="宋体" panose="02010600030101010101" pitchFamily="2" charset="-122"/>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10" name="图片 1"/>
          <p:cNvPicPr>
            <a:picLocks noChangeAspect="1"/>
          </p:cNvPicPr>
          <p:nvPr/>
        </p:nvPicPr>
        <p:blipFill>
          <a:blip r:embed="rId1"/>
          <a:stretch>
            <a:fillRect/>
          </a:stretch>
        </p:blipFill>
        <p:spPr>
          <a:xfrm>
            <a:off x="8610600" y="0"/>
            <a:ext cx="3581400" cy="1006475"/>
          </a:xfrm>
          <a:prstGeom prst="rect">
            <a:avLst/>
          </a:prstGeom>
          <a:noFill/>
          <a:ln w="9525">
            <a:noFill/>
          </a:ln>
        </p:spPr>
      </p:pic>
      <p:cxnSp>
        <p:nvCxnSpPr>
          <p:cNvPr id="4" name="直接连接符 3"/>
          <p:cNvCxnSpPr/>
          <p:nvPr/>
        </p:nvCxnSpPr>
        <p:spPr>
          <a:xfrm>
            <a:off x="0" y="798513"/>
            <a:ext cx="11176000" cy="0"/>
          </a:xfrm>
          <a:prstGeom prst="line">
            <a:avLst/>
          </a:prstGeom>
          <a:ln w="25400">
            <a:gradFill>
              <a:gsLst>
                <a:gs pos="0">
                  <a:srgbClr val="4B649F"/>
                </a:gs>
                <a:gs pos="100000">
                  <a:srgbClr val="7DB1CD">
                    <a:alpha val="0"/>
                  </a:srgbClr>
                </a:gs>
              </a:gsLst>
              <a:lin ang="0" scaled="0"/>
            </a:gradFill>
          </a:ln>
        </p:spPr>
        <p:style>
          <a:lnRef idx="1">
            <a:schemeClr val="accent1"/>
          </a:lnRef>
          <a:fillRef idx="0">
            <a:schemeClr val="accent1"/>
          </a:fillRef>
          <a:effectRef idx="0">
            <a:schemeClr val="accent1"/>
          </a:effectRef>
          <a:fontRef idx="minor">
            <a:schemeClr val="tx1"/>
          </a:fontRef>
        </p:style>
      </p:cxnSp>
      <p:sp>
        <p:nvSpPr>
          <p:cNvPr id="5" name="矩形 4"/>
          <p:cNvSpPr/>
          <p:nvPr/>
        </p:nvSpPr>
        <p:spPr>
          <a:xfrm>
            <a:off x="0" y="6724650"/>
            <a:ext cx="12192000" cy="133350"/>
          </a:xfrm>
          <a:prstGeom prst="rect">
            <a:avLst/>
          </a:prstGeom>
          <a:solidFill>
            <a:srgbClr val="4B649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1">
              <a:ln>
                <a:noFill/>
              </a:ln>
              <a:solidFill>
                <a:schemeClr val="lt1"/>
              </a:solidFill>
              <a:effectLst/>
              <a:uLnTx/>
              <a:uFillTx/>
              <a:latin typeface="+mn-lt"/>
              <a:ea typeface="+mn-ea"/>
              <a:cs typeface="+mn-cs"/>
            </a:endParaRPr>
          </a:p>
        </p:txBody>
      </p:sp>
      <p:grpSp>
        <p:nvGrpSpPr>
          <p:cNvPr id="17414" name="组合 5"/>
          <p:cNvGrpSpPr/>
          <p:nvPr/>
        </p:nvGrpSpPr>
        <p:grpSpPr>
          <a:xfrm>
            <a:off x="233363" y="125413"/>
            <a:ext cx="635000" cy="635000"/>
            <a:chOff x="5288161" y="2234042"/>
            <a:chExt cx="1607262" cy="1607262"/>
          </a:xfrm>
        </p:grpSpPr>
        <p:sp>
          <p:nvSpPr>
            <p:cNvPr id="7" name="椭圆 6"/>
            <p:cNvSpPr/>
            <p:nvPr/>
          </p:nvSpPr>
          <p:spPr>
            <a:xfrm>
              <a:off x="5288161" y="2234042"/>
              <a:ext cx="1607262" cy="1607262"/>
            </a:xfrm>
            <a:prstGeom prst="ellipse">
              <a:avLst/>
            </a:prstGeom>
            <a:solidFill>
              <a:srgbClr val="4B649F"/>
            </a:solidFill>
            <a:ln w="19050">
              <a:solidFill>
                <a:srgbClr val="4B649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1">
                <a:ln>
                  <a:noFill/>
                </a:ln>
                <a:solidFill>
                  <a:schemeClr val="lt1"/>
                </a:solidFill>
                <a:effectLst/>
                <a:uLnTx/>
                <a:uFillTx/>
                <a:latin typeface="+mn-lt"/>
                <a:ea typeface="+mn-ea"/>
                <a:cs typeface="+mn-cs"/>
              </a:endParaRPr>
            </a:p>
          </p:txBody>
        </p:sp>
        <p:sp>
          <p:nvSpPr>
            <p:cNvPr id="8" name="椭圆 7"/>
            <p:cNvSpPr/>
            <p:nvPr/>
          </p:nvSpPr>
          <p:spPr>
            <a:xfrm>
              <a:off x="5396650" y="2334495"/>
              <a:ext cx="1390282" cy="1390282"/>
            </a:xfrm>
            <a:prstGeom prst="ellipse">
              <a:avLst/>
            </a:prstGeom>
            <a:solidFill>
              <a:schemeClr val="bg1"/>
            </a:solidFill>
            <a:ln w="19050">
              <a:solidFill>
                <a:srgbClr val="4B649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1">
                <a:ln>
                  <a:noFill/>
                </a:ln>
                <a:solidFill>
                  <a:schemeClr val="lt1"/>
                </a:solidFill>
                <a:effectLst/>
                <a:uLnTx/>
                <a:uFillTx/>
                <a:latin typeface="+mn-lt"/>
                <a:ea typeface="+mn-ea"/>
                <a:cs typeface="+mn-cs"/>
              </a:endParaRPr>
            </a:p>
          </p:txBody>
        </p:sp>
        <p:sp>
          <p:nvSpPr>
            <p:cNvPr id="17440" name="KSO_Shape"/>
            <p:cNvSpPr/>
            <p:nvPr/>
          </p:nvSpPr>
          <p:spPr>
            <a:xfrm>
              <a:off x="5547153" y="2697761"/>
              <a:ext cx="1089278" cy="662788"/>
            </a:xfrm>
            <a:custGeom>
              <a:avLst/>
              <a:gdLst>
                <a:gd name="txL" fmla="*/ 0 w 3931"/>
                <a:gd name="txT" fmla="*/ 0 h 2392"/>
                <a:gd name="txR" fmla="*/ 3931 w 3931"/>
                <a:gd name="txB" fmla="*/ 2392 h 2392"/>
              </a:gdLst>
              <a:ahLst/>
              <a:cxnLst>
                <a:cxn ang="0">
                  <a:pos x="844045" y="356609"/>
                </a:cxn>
                <a:cxn ang="0">
                  <a:pos x="561681" y="235522"/>
                </a:cxn>
                <a:cxn ang="0">
                  <a:pos x="243848" y="356609"/>
                </a:cxn>
                <a:cxn ang="0">
                  <a:pos x="155176" y="319756"/>
                </a:cxn>
                <a:cxn ang="0">
                  <a:pos x="155176" y="428374"/>
                </a:cxn>
                <a:cxn ang="0">
                  <a:pos x="179283" y="461624"/>
                </a:cxn>
                <a:cxn ang="0">
                  <a:pos x="154622" y="494874"/>
                </a:cxn>
                <a:cxn ang="0">
                  <a:pos x="180946" y="611804"/>
                </a:cxn>
                <a:cxn ang="0">
                  <a:pos x="103358" y="611804"/>
                </a:cxn>
                <a:cxn ang="0">
                  <a:pos x="129960" y="494320"/>
                </a:cxn>
                <a:cxn ang="0">
                  <a:pos x="108346" y="461624"/>
                </a:cxn>
                <a:cxn ang="0">
                  <a:pos x="129128" y="429205"/>
                </a:cxn>
                <a:cxn ang="0">
                  <a:pos x="129128" y="308950"/>
                </a:cxn>
                <a:cxn ang="0">
                  <a:pos x="0" y="254918"/>
                </a:cxn>
                <a:cxn ang="0">
                  <a:pos x="568054" y="0"/>
                </a:cxn>
                <a:cxn ang="0">
                  <a:pos x="1089278" y="258243"/>
                </a:cxn>
                <a:cxn ang="0">
                  <a:pos x="844045" y="356609"/>
                </a:cxn>
                <a:cxn ang="0">
                  <a:pos x="555307" y="297035"/>
                </a:cxn>
                <a:cxn ang="0">
                  <a:pos x="811624" y="384040"/>
                </a:cxn>
                <a:cxn ang="0">
                  <a:pos x="811624" y="594902"/>
                </a:cxn>
                <a:cxn ang="0">
                  <a:pos x="542284" y="662788"/>
                </a:cxn>
                <a:cxn ang="0">
                  <a:pos x="304532" y="594902"/>
                </a:cxn>
                <a:cxn ang="0">
                  <a:pos x="304532" y="384040"/>
                </a:cxn>
                <a:cxn ang="0">
                  <a:pos x="555307" y="297035"/>
                </a:cxn>
                <a:cxn ang="0">
                  <a:pos x="551982" y="623996"/>
                </a:cxn>
                <a:cxn ang="0">
                  <a:pos x="758698" y="572458"/>
                </a:cxn>
                <a:cxn ang="0">
                  <a:pos x="551982" y="520643"/>
                </a:cxn>
                <a:cxn ang="0">
                  <a:pos x="345543" y="572458"/>
                </a:cxn>
                <a:cxn ang="0">
                  <a:pos x="551982" y="623996"/>
                </a:cxn>
              </a:cxnLst>
              <a:rect l="txL" t="txT" r="txR" b="txB"/>
              <a:pathLst>
                <a:path w="3931" h="2392">
                  <a:moveTo>
                    <a:pt x="3046" y="1287"/>
                  </a:moveTo>
                  <a:cubicBezTo>
                    <a:pt x="3046" y="1287"/>
                    <a:pt x="2618" y="850"/>
                    <a:pt x="2027" y="850"/>
                  </a:cubicBezTo>
                  <a:cubicBezTo>
                    <a:pt x="1450" y="850"/>
                    <a:pt x="880" y="1287"/>
                    <a:pt x="880" y="1287"/>
                  </a:cubicBezTo>
                  <a:cubicBezTo>
                    <a:pt x="560" y="1154"/>
                    <a:pt x="560" y="1154"/>
                    <a:pt x="560" y="1154"/>
                  </a:cubicBezTo>
                  <a:cubicBezTo>
                    <a:pt x="560" y="1546"/>
                    <a:pt x="560" y="1546"/>
                    <a:pt x="560" y="1546"/>
                  </a:cubicBezTo>
                  <a:cubicBezTo>
                    <a:pt x="610" y="1563"/>
                    <a:pt x="647" y="1610"/>
                    <a:pt x="647" y="1666"/>
                  </a:cubicBezTo>
                  <a:cubicBezTo>
                    <a:pt x="647" y="1723"/>
                    <a:pt x="609" y="1769"/>
                    <a:pt x="558" y="1786"/>
                  </a:cubicBezTo>
                  <a:cubicBezTo>
                    <a:pt x="653" y="2208"/>
                    <a:pt x="653" y="2208"/>
                    <a:pt x="653" y="2208"/>
                  </a:cubicBezTo>
                  <a:cubicBezTo>
                    <a:pt x="373" y="2208"/>
                    <a:pt x="373" y="2208"/>
                    <a:pt x="373" y="2208"/>
                  </a:cubicBezTo>
                  <a:cubicBezTo>
                    <a:pt x="469" y="1784"/>
                    <a:pt x="469" y="1784"/>
                    <a:pt x="469" y="1784"/>
                  </a:cubicBezTo>
                  <a:cubicBezTo>
                    <a:pt x="423" y="1764"/>
                    <a:pt x="391" y="1719"/>
                    <a:pt x="391" y="1666"/>
                  </a:cubicBezTo>
                  <a:cubicBezTo>
                    <a:pt x="391" y="1614"/>
                    <a:pt x="422" y="1570"/>
                    <a:pt x="466" y="1549"/>
                  </a:cubicBezTo>
                  <a:cubicBezTo>
                    <a:pt x="466" y="1115"/>
                    <a:pt x="466" y="1115"/>
                    <a:pt x="466" y="1115"/>
                  </a:cubicBezTo>
                  <a:cubicBezTo>
                    <a:pt x="0" y="920"/>
                    <a:pt x="0" y="920"/>
                    <a:pt x="0" y="920"/>
                  </a:cubicBezTo>
                  <a:cubicBezTo>
                    <a:pt x="2050" y="0"/>
                    <a:pt x="2050" y="0"/>
                    <a:pt x="2050" y="0"/>
                  </a:cubicBezTo>
                  <a:cubicBezTo>
                    <a:pt x="3931" y="932"/>
                    <a:pt x="3931" y="932"/>
                    <a:pt x="3931" y="932"/>
                  </a:cubicBezTo>
                  <a:lnTo>
                    <a:pt x="3046" y="1287"/>
                  </a:lnTo>
                  <a:close/>
                  <a:moveTo>
                    <a:pt x="2004" y="1072"/>
                  </a:moveTo>
                  <a:cubicBezTo>
                    <a:pt x="2598" y="1072"/>
                    <a:pt x="2929" y="1386"/>
                    <a:pt x="2929" y="1386"/>
                  </a:cubicBezTo>
                  <a:cubicBezTo>
                    <a:pt x="2929" y="2147"/>
                    <a:pt x="2929" y="2147"/>
                    <a:pt x="2929" y="2147"/>
                  </a:cubicBezTo>
                  <a:cubicBezTo>
                    <a:pt x="2929" y="2147"/>
                    <a:pt x="2586" y="2392"/>
                    <a:pt x="1957" y="2392"/>
                  </a:cubicBezTo>
                  <a:cubicBezTo>
                    <a:pt x="1328" y="2392"/>
                    <a:pt x="1099" y="2147"/>
                    <a:pt x="1099" y="2147"/>
                  </a:cubicBezTo>
                  <a:cubicBezTo>
                    <a:pt x="1099" y="1386"/>
                    <a:pt x="1099" y="1386"/>
                    <a:pt x="1099" y="1386"/>
                  </a:cubicBezTo>
                  <a:cubicBezTo>
                    <a:pt x="1099" y="1386"/>
                    <a:pt x="1410" y="1072"/>
                    <a:pt x="2004" y="1072"/>
                  </a:cubicBezTo>
                  <a:close/>
                  <a:moveTo>
                    <a:pt x="1992" y="2252"/>
                  </a:moveTo>
                  <a:cubicBezTo>
                    <a:pt x="2404" y="2252"/>
                    <a:pt x="2738" y="2168"/>
                    <a:pt x="2738" y="2066"/>
                  </a:cubicBezTo>
                  <a:cubicBezTo>
                    <a:pt x="2738" y="1963"/>
                    <a:pt x="2404" y="1879"/>
                    <a:pt x="1992" y="1879"/>
                  </a:cubicBezTo>
                  <a:cubicBezTo>
                    <a:pt x="1581" y="1879"/>
                    <a:pt x="1247" y="1963"/>
                    <a:pt x="1247" y="2066"/>
                  </a:cubicBezTo>
                  <a:cubicBezTo>
                    <a:pt x="1247" y="2168"/>
                    <a:pt x="1581" y="2252"/>
                    <a:pt x="1992" y="2252"/>
                  </a:cubicBezTo>
                  <a:close/>
                </a:path>
              </a:pathLst>
            </a:custGeom>
            <a:solidFill>
              <a:srgbClr val="4B649F">
                <a:alpha val="100000"/>
              </a:srgbClr>
            </a:solidFill>
            <a:ln w="9525">
              <a:noFill/>
            </a:ln>
          </p:spPr>
          <p:txBody>
            <a:bodyPr/>
            <a:lstStyle/>
            <a:p>
              <a:endParaRPr lang="zh-CN" altLang="en-US" sz="1800"/>
            </a:p>
          </p:txBody>
        </p:sp>
      </p:grpSp>
      <p:sp>
        <p:nvSpPr>
          <p:cNvPr id="19" name="文本框 2"/>
          <p:cNvSpPr txBox="1"/>
          <p:nvPr/>
        </p:nvSpPr>
        <p:spPr>
          <a:xfrm>
            <a:off x="917258" y="194310"/>
            <a:ext cx="4541837" cy="478155"/>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indent="0" eaLnBrk="1" hangingPunct="1">
              <a:buNone/>
            </a:pPr>
            <a:r>
              <a:rPr lang="zh-CN" altLang="en-US" b="1" dirty="0">
                <a:gradFill>
                  <a:gsLst>
                    <a:gs pos="0">
                      <a:srgbClr val="012D86"/>
                    </a:gs>
                    <a:gs pos="100000">
                      <a:srgbClr val="0E2557"/>
                    </a:gs>
                  </a:gsLst>
                  <a:lin scaled="0"/>
                </a:gradFill>
                <a:latin typeface="Arial" panose="020B0604020202020204" pitchFamily="34" charset="0"/>
                <a:sym typeface="+mn-ea"/>
              </a:rPr>
              <a:t>研究</a:t>
            </a:r>
            <a:r>
              <a:rPr lang="zh-CN" altLang="en-US" b="1" dirty="0">
                <a:gradFill>
                  <a:gsLst>
                    <a:gs pos="0">
                      <a:srgbClr val="012D86"/>
                    </a:gs>
                    <a:gs pos="100000">
                      <a:srgbClr val="0E2557"/>
                    </a:gs>
                  </a:gsLst>
                  <a:lin scaled="0"/>
                </a:gradFill>
                <a:latin typeface="Arial" panose="020B0604020202020204" pitchFamily="34" charset="0"/>
                <a:sym typeface="+mn-ea"/>
              </a:rPr>
              <a:t>结果</a:t>
            </a:r>
            <a:endParaRPr lang="zh-CN" altLang="en-US" b="1" dirty="0">
              <a:gradFill>
                <a:gsLst>
                  <a:gs pos="0">
                    <a:srgbClr val="012D86"/>
                  </a:gs>
                  <a:gs pos="100000">
                    <a:srgbClr val="0E2557"/>
                  </a:gs>
                </a:gsLst>
                <a:lin scaled="0"/>
              </a:gradFill>
              <a:latin typeface="Arial" panose="020B0604020202020204" pitchFamily="34" charset="0"/>
              <a:sym typeface="+mn-ea"/>
            </a:endParaRPr>
          </a:p>
        </p:txBody>
      </p:sp>
      <p:pic>
        <p:nvPicPr>
          <p:cNvPr id="3" name="图片 2" descr="屏幕截图 2026-06-18 121028"/>
          <p:cNvPicPr>
            <a:picLocks noChangeAspect="1"/>
          </p:cNvPicPr>
          <p:nvPr/>
        </p:nvPicPr>
        <p:blipFill>
          <a:blip r:embed="rId2"/>
          <a:stretch>
            <a:fillRect/>
          </a:stretch>
        </p:blipFill>
        <p:spPr>
          <a:xfrm>
            <a:off x="138430" y="125730"/>
            <a:ext cx="9418320" cy="4549140"/>
          </a:xfrm>
          <a:prstGeom prst="rect">
            <a:avLst/>
          </a:prstGeom>
        </p:spPr>
      </p:pic>
      <p:cxnSp>
        <p:nvCxnSpPr>
          <p:cNvPr id="14" name="直接箭头连接符 13"/>
          <p:cNvCxnSpPr/>
          <p:nvPr/>
        </p:nvCxnSpPr>
        <p:spPr>
          <a:xfrm>
            <a:off x="6425565" y="3145155"/>
            <a:ext cx="1556385" cy="2540"/>
          </a:xfrm>
          <a:prstGeom prst="straightConnector1">
            <a:avLst/>
          </a:prstGeom>
          <a:ln>
            <a:solidFill>
              <a:schemeClr val="tx1"/>
            </a:solidFill>
            <a:tailEnd type="arrow"/>
          </a:ln>
        </p:spPr>
        <p:style>
          <a:lnRef idx="2">
            <a:schemeClr val="accent1"/>
          </a:lnRef>
          <a:fillRef idx="0">
            <a:srgbClr val="FFFFFF"/>
          </a:fillRef>
          <a:effectRef idx="0">
            <a:srgbClr val="FFFFFF"/>
          </a:effectRef>
          <a:fontRef idx="minor">
            <a:schemeClr val="tx1"/>
          </a:fontRef>
        </p:style>
      </p:cxnSp>
      <p:sp>
        <p:nvSpPr>
          <p:cNvPr id="6" name="文本框 5"/>
          <p:cNvSpPr txBox="1"/>
          <p:nvPr/>
        </p:nvSpPr>
        <p:spPr>
          <a:xfrm>
            <a:off x="8105140" y="2383790"/>
            <a:ext cx="3905250" cy="2245360"/>
          </a:xfrm>
          <a:prstGeom prst="rect">
            <a:avLst/>
          </a:prstGeom>
          <a:noFill/>
        </p:spPr>
        <p:txBody>
          <a:bodyPr wrap="square" rtlCol="0" anchor="t">
            <a:spAutoFit/>
          </a:bodyPr>
          <a:p>
            <a:pPr algn="just"/>
            <a:r>
              <a:rPr lang="zh-CN" altLang="en-US" sz="1400">
                <a:latin typeface="宋体" panose="02010600030101010101" pitchFamily="2" charset="-122"/>
                <a:ea typeface="宋体" panose="02010600030101010101" pitchFamily="2" charset="-122"/>
                <a:cs typeface="宋体" panose="02010600030101010101" pitchFamily="2" charset="-122"/>
              </a:rPr>
              <a:t>从最终数据集中筛选出正确反应且反应时不为空的试次。</a:t>
            </a:r>
            <a:endParaRPr lang="en-US" altLang="zh-CN" sz="1400">
              <a:latin typeface="宋体" panose="02010600030101010101" pitchFamily="2" charset="-122"/>
              <a:ea typeface="宋体" panose="02010600030101010101" pitchFamily="2" charset="-122"/>
              <a:cs typeface="宋体" panose="02010600030101010101" pitchFamily="2" charset="-122"/>
            </a:endParaRPr>
          </a:p>
          <a:p>
            <a:pPr algn="just"/>
            <a:r>
              <a:rPr lang="zh-CN" altLang="en-US" sz="1400">
                <a:latin typeface="宋体" panose="02010600030101010101" pitchFamily="2" charset="-122"/>
                <a:ea typeface="宋体" panose="02010600030101010101" pitchFamily="2" charset="-122"/>
                <a:cs typeface="宋体" panose="02010600030101010101" pitchFamily="2" charset="-122"/>
              </a:rPr>
              <a:t>计算每个被试的中位数: 对于</a:t>
            </a:r>
            <a:r>
              <a:rPr lang="en-US" altLang="zh-CN" sz="1400">
                <a:latin typeface="宋体" panose="02010600030101010101" pitchFamily="2" charset="-122"/>
                <a:ea typeface="宋体" panose="02010600030101010101" pitchFamily="2" charset="-122"/>
                <a:cs typeface="宋体" panose="02010600030101010101" pitchFamily="2" charset="-122"/>
              </a:rPr>
              <a:t>Stroop</a:t>
            </a:r>
            <a:r>
              <a:rPr lang="zh-CN" altLang="en-US" sz="1400">
                <a:latin typeface="宋体" panose="02010600030101010101" pitchFamily="2" charset="-122"/>
                <a:ea typeface="宋体" panose="02010600030101010101" pitchFamily="2" charset="-122"/>
                <a:cs typeface="宋体" panose="02010600030101010101" pitchFamily="2" charset="-122"/>
              </a:rPr>
              <a:t>任务，按被试和一致性（</a:t>
            </a:r>
            <a:r>
              <a:rPr lang="en-US" altLang="zh-CN" sz="1400">
                <a:latin typeface="宋体" panose="02010600030101010101" pitchFamily="2" charset="-122"/>
                <a:ea typeface="宋体" panose="02010600030101010101" pitchFamily="2" charset="-122"/>
                <a:cs typeface="宋体" panose="02010600030101010101" pitchFamily="2" charset="-122"/>
              </a:rPr>
              <a:t>congruent）</a:t>
            </a:r>
            <a:r>
              <a:rPr lang="zh-CN" altLang="en-US" sz="1400">
                <a:latin typeface="宋体" panose="02010600030101010101" pitchFamily="2" charset="-122"/>
                <a:ea typeface="宋体" panose="02010600030101010101" pitchFamily="2" charset="-122"/>
                <a:cs typeface="宋体" panose="02010600030101010101" pitchFamily="2" charset="-122"/>
              </a:rPr>
              <a:t>计算其中位数反应时；对于任务切换任务，按被试、奖励（</a:t>
            </a:r>
            <a:r>
              <a:rPr lang="en-US" altLang="zh-CN" sz="1400">
                <a:latin typeface="宋体" panose="02010600030101010101" pitchFamily="2" charset="-122"/>
                <a:ea typeface="宋体" panose="02010600030101010101" pitchFamily="2" charset="-122"/>
                <a:cs typeface="宋体" panose="02010600030101010101" pitchFamily="2" charset="-122"/>
              </a:rPr>
              <a:t>reward）</a:t>
            </a:r>
            <a:r>
              <a:rPr lang="zh-CN" altLang="en-US" sz="1400">
                <a:latin typeface="宋体" panose="02010600030101010101" pitchFamily="2" charset="-122"/>
                <a:ea typeface="宋体" panose="02010600030101010101" pitchFamily="2" charset="-122"/>
                <a:cs typeface="宋体" panose="02010600030101010101" pitchFamily="2" charset="-122"/>
              </a:rPr>
              <a:t>和试次类型（</a:t>
            </a:r>
            <a:r>
              <a:rPr lang="en-US" altLang="zh-CN" sz="1400">
                <a:latin typeface="宋体" panose="02010600030101010101" pitchFamily="2" charset="-122"/>
                <a:ea typeface="宋体" panose="02010600030101010101" pitchFamily="2" charset="-122"/>
                <a:cs typeface="宋体" panose="02010600030101010101" pitchFamily="2" charset="-122"/>
              </a:rPr>
              <a:t>trial_type）</a:t>
            </a:r>
            <a:r>
              <a:rPr lang="zh-CN" altLang="en-US" sz="1400">
                <a:latin typeface="宋体" panose="02010600030101010101" pitchFamily="2" charset="-122"/>
                <a:ea typeface="宋体" panose="02010600030101010101" pitchFamily="2" charset="-122"/>
                <a:cs typeface="宋体" panose="02010600030101010101" pitchFamily="2" charset="-122"/>
              </a:rPr>
              <a:t>计算其中位数反应时。计算组均值和标准差: 在</a:t>
            </a:r>
            <a:r>
              <a:rPr lang="en-US" altLang="zh-CN" sz="1400">
                <a:latin typeface="宋体" panose="02010600030101010101" pitchFamily="2" charset="-122"/>
                <a:ea typeface="宋体" panose="02010600030101010101" pitchFamily="2" charset="-122"/>
                <a:cs typeface="宋体" panose="02010600030101010101" pitchFamily="2" charset="-122"/>
              </a:rPr>
              <a:t>Stroop</a:t>
            </a:r>
            <a:r>
              <a:rPr lang="zh-CN" altLang="en-US" sz="1400">
                <a:latin typeface="宋体" panose="02010600030101010101" pitchFamily="2" charset="-122"/>
                <a:ea typeface="宋体" panose="02010600030101010101" pitchFamily="2" charset="-122"/>
                <a:cs typeface="宋体" panose="02010600030101010101" pitchFamily="2" charset="-122"/>
              </a:rPr>
              <a:t>任务中，按一致性分组，计算这些个体中位数的平均值和标准差；在任务切换任务中，按奖励和试次类型分组，进行同样的计算。</a:t>
            </a:r>
            <a:endParaRPr lang="zh-CN" altLang="en-US" sz="1400">
              <a:latin typeface="宋体" panose="02010600030101010101" pitchFamily="2" charset="-122"/>
              <a:ea typeface="宋体" panose="02010600030101010101" pitchFamily="2" charset="-122"/>
              <a:cs typeface="宋体" panose="02010600030101010101" pitchFamily="2"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10" name="图片 1"/>
          <p:cNvPicPr>
            <a:picLocks noChangeAspect="1"/>
          </p:cNvPicPr>
          <p:nvPr/>
        </p:nvPicPr>
        <p:blipFill>
          <a:blip r:embed="rId1"/>
          <a:stretch>
            <a:fillRect/>
          </a:stretch>
        </p:blipFill>
        <p:spPr>
          <a:xfrm>
            <a:off x="8610600" y="0"/>
            <a:ext cx="3581400" cy="1006475"/>
          </a:xfrm>
          <a:prstGeom prst="rect">
            <a:avLst/>
          </a:prstGeom>
          <a:noFill/>
          <a:ln w="9525">
            <a:noFill/>
          </a:ln>
        </p:spPr>
      </p:pic>
      <p:cxnSp>
        <p:nvCxnSpPr>
          <p:cNvPr id="4" name="直接连接符 3"/>
          <p:cNvCxnSpPr/>
          <p:nvPr/>
        </p:nvCxnSpPr>
        <p:spPr>
          <a:xfrm>
            <a:off x="0" y="798513"/>
            <a:ext cx="11176000" cy="0"/>
          </a:xfrm>
          <a:prstGeom prst="line">
            <a:avLst/>
          </a:prstGeom>
          <a:ln w="25400">
            <a:gradFill>
              <a:gsLst>
                <a:gs pos="0">
                  <a:srgbClr val="4B649F"/>
                </a:gs>
                <a:gs pos="100000">
                  <a:srgbClr val="7DB1CD">
                    <a:alpha val="0"/>
                  </a:srgbClr>
                </a:gs>
              </a:gsLst>
              <a:lin ang="0" scaled="0"/>
            </a:gradFill>
          </a:ln>
        </p:spPr>
        <p:style>
          <a:lnRef idx="1">
            <a:schemeClr val="accent1"/>
          </a:lnRef>
          <a:fillRef idx="0">
            <a:schemeClr val="accent1"/>
          </a:fillRef>
          <a:effectRef idx="0">
            <a:schemeClr val="accent1"/>
          </a:effectRef>
          <a:fontRef idx="minor">
            <a:schemeClr val="tx1"/>
          </a:fontRef>
        </p:style>
      </p:cxnSp>
      <p:sp>
        <p:nvSpPr>
          <p:cNvPr id="5" name="矩形 4"/>
          <p:cNvSpPr/>
          <p:nvPr/>
        </p:nvSpPr>
        <p:spPr>
          <a:xfrm>
            <a:off x="0" y="6724650"/>
            <a:ext cx="12192000" cy="133350"/>
          </a:xfrm>
          <a:prstGeom prst="rect">
            <a:avLst/>
          </a:prstGeom>
          <a:solidFill>
            <a:srgbClr val="4B649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1">
              <a:ln>
                <a:noFill/>
              </a:ln>
              <a:solidFill>
                <a:schemeClr val="lt1"/>
              </a:solidFill>
              <a:effectLst/>
              <a:uLnTx/>
              <a:uFillTx/>
              <a:latin typeface="+mn-lt"/>
              <a:ea typeface="+mn-ea"/>
              <a:cs typeface="+mn-cs"/>
            </a:endParaRPr>
          </a:p>
        </p:txBody>
      </p:sp>
      <p:grpSp>
        <p:nvGrpSpPr>
          <p:cNvPr id="17414" name="组合 5"/>
          <p:cNvGrpSpPr/>
          <p:nvPr/>
        </p:nvGrpSpPr>
        <p:grpSpPr>
          <a:xfrm>
            <a:off x="233363" y="125413"/>
            <a:ext cx="635000" cy="635000"/>
            <a:chOff x="5288161" y="2234042"/>
            <a:chExt cx="1607262" cy="1607262"/>
          </a:xfrm>
        </p:grpSpPr>
        <p:sp>
          <p:nvSpPr>
            <p:cNvPr id="7" name="椭圆 6"/>
            <p:cNvSpPr/>
            <p:nvPr/>
          </p:nvSpPr>
          <p:spPr>
            <a:xfrm>
              <a:off x="5288161" y="2234042"/>
              <a:ext cx="1607262" cy="1607262"/>
            </a:xfrm>
            <a:prstGeom prst="ellipse">
              <a:avLst/>
            </a:prstGeom>
            <a:solidFill>
              <a:srgbClr val="4B649F"/>
            </a:solidFill>
            <a:ln w="19050">
              <a:solidFill>
                <a:srgbClr val="4B649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1">
                <a:ln>
                  <a:noFill/>
                </a:ln>
                <a:solidFill>
                  <a:schemeClr val="lt1"/>
                </a:solidFill>
                <a:effectLst/>
                <a:uLnTx/>
                <a:uFillTx/>
                <a:latin typeface="+mn-lt"/>
                <a:ea typeface="+mn-ea"/>
                <a:cs typeface="+mn-cs"/>
              </a:endParaRPr>
            </a:p>
          </p:txBody>
        </p:sp>
        <p:sp>
          <p:nvSpPr>
            <p:cNvPr id="8" name="椭圆 7"/>
            <p:cNvSpPr/>
            <p:nvPr/>
          </p:nvSpPr>
          <p:spPr>
            <a:xfrm>
              <a:off x="5396650" y="2334495"/>
              <a:ext cx="1390282" cy="1390282"/>
            </a:xfrm>
            <a:prstGeom prst="ellipse">
              <a:avLst/>
            </a:prstGeom>
            <a:solidFill>
              <a:schemeClr val="bg1"/>
            </a:solidFill>
            <a:ln w="19050">
              <a:solidFill>
                <a:srgbClr val="4B649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1">
                <a:ln>
                  <a:noFill/>
                </a:ln>
                <a:solidFill>
                  <a:schemeClr val="lt1"/>
                </a:solidFill>
                <a:effectLst/>
                <a:uLnTx/>
                <a:uFillTx/>
                <a:latin typeface="+mn-lt"/>
                <a:ea typeface="+mn-ea"/>
                <a:cs typeface="+mn-cs"/>
              </a:endParaRPr>
            </a:p>
          </p:txBody>
        </p:sp>
        <p:sp>
          <p:nvSpPr>
            <p:cNvPr id="17440" name="KSO_Shape"/>
            <p:cNvSpPr/>
            <p:nvPr/>
          </p:nvSpPr>
          <p:spPr>
            <a:xfrm>
              <a:off x="5547153" y="2697761"/>
              <a:ext cx="1089278" cy="662788"/>
            </a:xfrm>
            <a:custGeom>
              <a:avLst/>
              <a:gdLst>
                <a:gd name="txL" fmla="*/ 0 w 3931"/>
                <a:gd name="txT" fmla="*/ 0 h 2392"/>
                <a:gd name="txR" fmla="*/ 3931 w 3931"/>
                <a:gd name="txB" fmla="*/ 2392 h 2392"/>
              </a:gdLst>
              <a:ahLst/>
              <a:cxnLst>
                <a:cxn ang="0">
                  <a:pos x="844045" y="356609"/>
                </a:cxn>
                <a:cxn ang="0">
                  <a:pos x="561681" y="235522"/>
                </a:cxn>
                <a:cxn ang="0">
                  <a:pos x="243848" y="356609"/>
                </a:cxn>
                <a:cxn ang="0">
                  <a:pos x="155176" y="319756"/>
                </a:cxn>
                <a:cxn ang="0">
                  <a:pos x="155176" y="428374"/>
                </a:cxn>
                <a:cxn ang="0">
                  <a:pos x="179283" y="461624"/>
                </a:cxn>
                <a:cxn ang="0">
                  <a:pos x="154622" y="494874"/>
                </a:cxn>
                <a:cxn ang="0">
                  <a:pos x="180946" y="611804"/>
                </a:cxn>
                <a:cxn ang="0">
                  <a:pos x="103358" y="611804"/>
                </a:cxn>
                <a:cxn ang="0">
                  <a:pos x="129960" y="494320"/>
                </a:cxn>
                <a:cxn ang="0">
                  <a:pos x="108346" y="461624"/>
                </a:cxn>
                <a:cxn ang="0">
                  <a:pos x="129128" y="429205"/>
                </a:cxn>
                <a:cxn ang="0">
                  <a:pos x="129128" y="308950"/>
                </a:cxn>
                <a:cxn ang="0">
                  <a:pos x="0" y="254918"/>
                </a:cxn>
                <a:cxn ang="0">
                  <a:pos x="568054" y="0"/>
                </a:cxn>
                <a:cxn ang="0">
                  <a:pos x="1089278" y="258243"/>
                </a:cxn>
                <a:cxn ang="0">
                  <a:pos x="844045" y="356609"/>
                </a:cxn>
                <a:cxn ang="0">
                  <a:pos x="555307" y="297035"/>
                </a:cxn>
                <a:cxn ang="0">
                  <a:pos x="811624" y="384040"/>
                </a:cxn>
                <a:cxn ang="0">
                  <a:pos x="811624" y="594902"/>
                </a:cxn>
                <a:cxn ang="0">
                  <a:pos x="542284" y="662788"/>
                </a:cxn>
                <a:cxn ang="0">
                  <a:pos x="304532" y="594902"/>
                </a:cxn>
                <a:cxn ang="0">
                  <a:pos x="304532" y="384040"/>
                </a:cxn>
                <a:cxn ang="0">
                  <a:pos x="555307" y="297035"/>
                </a:cxn>
                <a:cxn ang="0">
                  <a:pos x="551982" y="623996"/>
                </a:cxn>
                <a:cxn ang="0">
                  <a:pos x="758698" y="572458"/>
                </a:cxn>
                <a:cxn ang="0">
                  <a:pos x="551982" y="520643"/>
                </a:cxn>
                <a:cxn ang="0">
                  <a:pos x="345543" y="572458"/>
                </a:cxn>
                <a:cxn ang="0">
                  <a:pos x="551982" y="623996"/>
                </a:cxn>
              </a:cxnLst>
              <a:rect l="txL" t="txT" r="txR" b="txB"/>
              <a:pathLst>
                <a:path w="3931" h="2392">
                  <a:moveTo>
                    <a:pt x="3046" y="1287"/>
                  </a:moveTo>
                  <a:cubicBezTo>
                    <a:pt x="3046" y="1287"/>
                    <a:pt x="2618" y="850"/>
                    <a:pt x="2027" y="850"/>
                  </a:cubicBezTo>
                  <a:cubicBezTo>
                    <a:pt x="1450" y="850"/>
                    <a:pt x="880" y="1287"/>
                    <a:pt x="880" y="1287"/>
                  </a:cubicBezTo>
                  <a:cubicBezTo>
                    <a:pt x="560" y="1154"/>
                    <a:pt x="560" y="1154"/>
                    <a:pt x="560" y="1154"/>
                  </a:cubicBezTo>
                  <a:cubicBezTo>
                    <a:pt x="560" y="1546"/>
                    <a:pt x="560" y="1546"/>
                    <a:pt x="560" y="1546"/>
                  </a:cubicBezTo>
                  <a:cubicBezTo>
                    <a:pt x="610" y="1563"/>
                    <a:pt x="647" y="1610"/>
                    <a:pt x="647" y="1666"/>
                  </a:cubicBezTo>
                  <a:cubicBezTo>
                    <a:pt x="647" y="1723"/>
                    <a:pt x="609" y="1769"/>
                    <a:pt x="558" y="1786"/>
                  </a:cubicBezTo>
                  <a:cubicBezTo>
                    <a:pt x="653" y="2208"/>
                    <a:pt x="653" y="2208"/>
                    <a:pt x="653" y="2208"/>
                  </a:cubicBezTo>
                  <a:cubicBezTo>
                    <a:pt x="373" y="2208"/>
                    <a:pt x="373" y="2208"/>
                    <a:pt x="373" y="2208"/>
                  </a:cubicBezTo>
                  <a:cubicBezTo>
                    <a:pt x="469" y="1784"/>
                    <a:pt x="469" y="1784"/>
                    <a:pt x="469" y="1784"/>
                  </a:cubicBezTo>
                  <a:cubicBezTo>
                    <a:pt x="423" y="1764"/>
                    <a:pt x="391" y="1719"/>
                    <a:pt x="391" y="1666"/>
                  </a:cubicBezTo>
                  <a:cubicBezTo>
                    <a:pt x="391" y="1614"/>
                    <a:pt x="422" y="1570"/>
                    <a:pt x="466" y="1549"/>
                  </a:cubicBezTo>
                  <a:cubicBezTo>
                    <a:pt x="466" y="1115"/>
                    <a:pt x="466" y="1115"/>
                    <a:pt x="466" y="1115"/>
                  </a:cubicBezTo>
                  <a:cubicBezTo>
                    <a:pt x="0" y="920"/>
                    <a:pt x="0" y="920"/>
                    <a:pt x="0" y="920"/>
                  </a:cubicBezTo>
                  <a:cubicBezTo>
                    <a:pt x="2050" y="0"/>
                    <a:pt x="2050" y="0"/>
                    <a:pt x="2050" y="0"/>
                  </a:cubicBezTo>
                  <a:cubicBezTo>
                    <a:pt x="3931" y="932"/>
                    <a:pt x="3931" y="932"/>
                    <a:pt x="3931" y="932"/>
                  </a:cubicBezTo>
                  <a:lnTo>
                    <a:pt x="3046" y="1287"/>
                  </a:lnTo>
                  <a:close/>
                  <a:moveTo>
                    <a:pt x="2004" y="1072"/>
                  </a:moveTo>
                  <a:cubicBezTo>
                    <a:pt x="2598" y="1072"/>
                    <a:pt x="2929" y="1386"/>
                    <a:pt x="2929" y="1386"/>
                  </a:cubicBezTo>
                  <a:cubicBezTo>
                    <a:pt x="2929" y="2147"/>
                    <a:pt x="2929" y="2147"/>
                    <a:pt x="2929" y="2147"/>
                  </a:cubicBezTo>
                  <a:cubicBezTo>
                    <a:pt x="2929" y="2147"/>
                    <a:pt x="2586" y="2392"/>
                    <a:pt x="1957" y="2392"/>
                  </a:cubicBezTo>
                  <a:cubicBezTo>
                    <a:pt x="1328" y="2392"/>
                    <a:pt x="1099" y="2147"/>
                    <a:pt x="1099" y="2147"/>
                  </a:cubicBezTo>
                  <a:cubicBezTo>
                    <a:pt x="1099" y="1386"/>
                    <a:pt x="1099" y="1386"/>
                    <a:pt x="1099" y="1386"/>
                  </a:cubicBezTo>
                  <a:cubicBezTo>
                    <a:pt x="1099" y="1386"/>
                    <a:pt x="1410" y="1072"/>
                    <a:pt x="2004" y="1072"/>
                  </a:cubicBezTo>
                  <a:close/>
                  <a:moveTo>
                    <a:pt x="1992" y="2252"/>
                  </a:moveTo>
                  <a:cubicBezTo>
                    <a:pt x="2404" y="2252"/>
                    <a:pt x="2738" y="2168"/>
                    <a:pt x="2738" y="2066"/>
                  </a:cubicBezTo>
                  <a:cubicBezTo>
                    <a:pt x="2738" y="1963"/>
                    <a:pt x="2404" y="1879"/>
                    <a:pt x="1992" y="1879"/>
                  </a:cubicBezTo>
                  <a:cubicBezTo>
                    <a:pt x="1581" y="1879"/>
                    <a:pt x="1247" y="1963"/>
                    <a:pt x="1247" y="2066"/>
                  </a:cubicBezTo>
                  <a:cubicBezTo>
                    <a:pt x="1247" y="2168"/>
                    <a:pt x="1581" y="2252"/>
                    <a:pt x="1992" y="2252"/>
                  </a:cubicBezTo>
                  <a:close/>
                </a:path>
              </a:pathLst>
            </a:custGeom>
            <a:solidFill>
              <a:srgbClr val="4B649F">
                <a:alpha val="100000"/>
              </a:srgbClr>
            </a:solidFill>
            <a:ln w="9525">
              <a:noFill/>
            </a:ln>
          </p:spPr>
          <p:txBody>
            <a:bodyPr/>
            <a:lstStyle/>
            <a:p>
              <a:endParaRPr lang="zh-CN" altLang="en-US"/>
            </a:p>
          </p:txBody>
        </p:sp>
      </p:grpSp>
      <p:sp>
        <p:nvSpPr>
          <p:cNvPr id="19" name="文本框 2"/>
          <p:cNvSpPr txBox="1"/>
          <p:nvPr/>
        </p:nvSpPr>
        <p:spPr>
          <a:xfrm>
            <a:off x="917258" y="194310"/>
            <a:ext cx="4541837" cy="478155"/>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indent="0" eaLnBrk="1" hangingPunct="1">
              <a:buNone/>
            </a:pPr>
            <a:r>
              <a:rPr lang="zh-CN" altLang="en-US" b="1" dirty="0">
                <a:gradFill>
                  <a:gsLst>
                    <a:gs pos="0">
                      <a:srgbClr val="012D86"/>
                    </a:gs>
                    <a:gs pos="100000">
                      <a:srgbClr val="0E2557"/>
                    </a:gs>
                  </a:gsLst>
                  <a:lin scaled="0"/>
                </a:gradFill>
                <a:latin typeface="Arial" panose="020B0604020202020204" pitchFamily="34" charset="0"/>
                <a:sym typeface="+mn-ea"/>
              </a:rPr>
              <a:t>研究</a:t>
            </a:r>
            <a:r>
              <a:rPr lang="zh-CN" altLang="en-US" b="1" dirty="0">
                <a:gradFill>
                  <a:gsLst>
                    <a:gs pos="0">
                      <a:srgbClr val="012D86"/>
                    </a:gs>
                    <a:gs pos="100000">
                      <a:srgbClr val="0E2557"/>
                    </a:gs>
                  </a:gsLst>
                  <a:lin scaled="0"/>
                </a:gradFill>
                <a:latin typeface="Arial" panose="020B0604020202020204" pitchFamily="34" charset="0"/>
                <a:sym typeface="+mn-ea"/>
              </a:rPr>
              <a:t>结果</a:t>
            </a:r>
            <a:endParaRPr lang="zh-CN" altLang="en-US" b="1" dirty="0">
              <a:gradFill>
                <a:gsLst>
                  <a:gs pos="0">
                    <a:srgbClr val="012D86"/>
                  </a:gs>
                  <a:gs pos="100000">
                    <a:srgbClr val="0E2557"/>
                  </a:gs>
                </a:gsLst>
                <a:lin scaled="0"/>
              </a:gradFill>
              <a:latin typeface="Arial" panose="020B0604020202020204" pitchFamily="34" charset="0"/>
              <a:sym typeface="+mn-ea"/>
            </a:endParaRPr>
          </a:p>
        </p:txBody>
      </p:sp>
      <p:sp>
        <p:nvSpPr>
          <p:cNvPr id="2" name="文本框 1"/>
          <p:cNvSpPr txBox="1"/>
          <p:nvPr/>
        </p:nvSpPr>
        <p:spPr>
          <a:xfrm>
            <a:off x="505460" y="986155"/>
            <a:ext cx="11181715" cy="1493520"/>
          </a:xfrm>
          <a:prstGeom prst="rect">
            <a:avLst/>
          </a:prstGeom>
          <a:noFill/>
        </p:spPr>
        <p:txBody>
          <a:bodyPr wrap="square" rtlCol="0" anchor="t">
            <a:noAutofit/>
          </a:bodyPr>
          <a:p>
            <a:pPr marL="285750" indent="-285750">
              <a:buFont typeface="Wingdings" panose="05000000000000000000" charset="0"/>
              <a:buChar char="Ø"/>
            </a:pPr>
            <a:r>
              <a:rPr lang="zh-CN" altLang="en-US" b="1">
                <a:latin typeface="宋体" panose="02010600030101010101" pitchFamily="2" charset="-122"/>
                <a:ea typeface="宋体" panose="02010600030101010101" pitchFamily="2" charset="-122"/>
                <a:cs typeface="宋体" panose="02010600030101010101" pitchFamily="2" charset="-122"/>
              </a:rPr>
              <a:t>任务表现</a:t>
            </a:r>
            <a:endParaRPr lang="zh-CN" altLang="en-US" b="1">
              <a:latin typeface="宋体" panose="02010600030101010101" pitchFamily="2" charset="-122"/>
              <a:ea typeface="宋体" panose="02010600030101010101" pitchFamily="2" charset="-122"/>
              <a:cs typeface="宋体" panose="02010600030101010101" pitchFamily="2" charset="-122"/>
            </a:endParaRPr>
          </a:p>
          <a:p>
            <a:r>
              <a:rPr lang="zh-CN" altLang="en-US">
                <a:latin typeface="宋体" panose="02010600030101010101" pitchFamily="2" charset="-122"/>
                <a:ea typeface="宋体" panose="02010600030101010101" pitchFamily="2" charset="-122"/>
                <a:cs typeface="宋体" panose="02010600030101010101" pitchFamily="2" charset="-122"/>
              </a:rPr>
              <a:t>与过往研究结果一致，本实验观测到典型的斯特鲁普效应：不一致试次的反应时显著更长（回归系数</a:t>
            </a:r>
            <a:endParaRPr lang="zh-CN" altLang="en-US">
              <a:latin typeface="宋体" panose="02010600030101010101" pitchFamily="2" charset="-122"/>
              <a:ea typeface="宋体" panose="02010600030101010101" pitchFamily="2" charset="-122"/>
              <a:cs typeface="宋体" panose="02010600030101010101" pitchFamily="2" charset="-122"/>
            </a:endParaRPr>
          </a:p>
          <a:p>
            <a:r>
              <a:rPr lang="en-US" altLang="zh-CN">
                <a:latin typeface="宋体" panose="02010600030101010101" pitchFamily="2" charset="-122"/>
                <a:ea typeface="宋体" panose="02010600030101010101" pitchFamily="2" charset="-122"/>
                <a:cs typeface="宋体" panose="02010600030101010101" pitchFamily="2" charset="-122"/>
              </a:rPr>
              <a:t>β</a:t>
            </a:r>
            <a:r>
              <a:rPr lang="zh-CN" altLang="en-US">
                <a:latin typeface="宋体" panose="02010600030101010101" pitchFamily="2" charset="-122"/>
                <a:ea typeface="宋体" panose="02010600030101010101" pitchFamily="2" charset="-122"/>
                <a:cs typeface="宋体" panose="02010600030101010101" pitchFamily="2" charset="-122"/>
              </a:rPr>
              <a:t>=0.12，标准误</a:t>
            </a:r>
            <a:r>
              <a:rPr lang="en-US" altLang="zh-CN">
                <a:latin typeface="宋体" panose="02010600030101010101" pitchFamily="2" charset="-122"/>
                <a:ea typeface="宋体" panose="02010600030101010101" pitchFamily="2" charset="-122"/>
                <a:cs typeface="宋体" panose="02010600030101010101" pitchFamily="2" charset="-122"/>
              </a:rPr>
              <a:t>SE=0.015，p</a:t>
            </a:r>
            <a:r>
              <a:rPr lang="zh-CN" altLang="en-US">
                <a:latin typeface="宋体" panose="02010600030101010101" pitchFamily="2" charset="-122"/>
                <a:ea typeface="宋体" panose="02010600030101010101" pitchFamily="2" charset="-122"/>
                <a:cs typeface="宋体" panose="02010600030101010101" pitchFamily="2" charset="-122"/>
              </a:rPr>
              <a:t>&lt;0.0001），作答正确率显著更低（</a:t>
            </a:r>
            <a:r>
              <a:rPr lang="en-US" altLang="zh-CN">
                <a:latin typeface="宋体" panose="02010600030101010101" pitchFamily="2" charset="-122"/>
                <a:ea typeface="宋体" panose="02010600030101010101" pitchFamily="2" charset="-122"/>
                <a:cs typeface="宋体" panose="02010600030101010101" pitchFamily="2" charset="-122"/>
              </a:rPr>
              <a:t>β=-1.47，SE=0.001，p</a:t>
            </a:r>
            <a:r>
              <a:rPr lang="zh-CN" altLang="en-US">
                <a:latin typeface="宋体" panose="02010600030101010101" pitchFamily="2" charset="-122"/>
                <a:ea typeface="宋体" panose="02010600030101010101" pitchFamily="2" charset="-122"/>
                <a:cs typeface="宋体" panose="02010600030101010101" pitchFamily="2" charset="-122"/>
              </a:rPr>
              <a:t>&lt;0.0001）。</a:t>
            </a:r>
            <a:endParaRPr lang="zh-CN" altLang="en-US">
              <a:latin typeface="宋体" panose="02010600030101010101" pitchFamily="2" charset="-122"/>
              <a:ea typeface="宋体" panose="02010600030101010101" pitchFamily="2" charset="-122"/>
              <a:cs typeface="宋体" panose="02010600030101010101" pitchFamily="2" charset="-122"/>
            </a:endParaRPr>
          </a:p>
        </p:txBody>
      </p:sp>
      <p:pic>
        <p:nvPicPr>
          <p:cNvPr id="3" name="图片 2"/>
          <p:cNvPicPr>
            <a:picLocks noChangeAspect="1"/>
          </p:cNvPicPr>
          <p:nvPr/>
        </p:nvPicPr>
        <p:blipFill>
          <a:blip r:embed="rId2"/>
          <a:stretch>
            <a:fillRect/>
          </a:stretch>
        </p:blipFill>
        <p:spPr>
          <a:xfrm>
            <a:off x="612775" y="1935480"/>
            <a:ext cx="4621530" cy="2966085"/>
          </a:xfrm>
          <a:prstGeom prst="rect">
            <a:avLst/>
          </a:prstGeom>
        </p:spPr>
      </p:pic>
      <p:sp>
        <p:nvSpPr>
          <p:cNvPr id="12" name="文本框 11"/>
          <p:cNvSpPr txBox="1"/>
          <p:nvPr/>
        </p:nvSpPr>
        <p:spPr>
          <a:xfrm>
            <a:off x="7975600" y="2479675"/>
            <a:ext cx="2281555" cy="368300"/>
          </a:xfrm>
          <a:prstGeom prst="rect">
            <a:avLst/>
          </a:prstGeom>
          <a:noFill/>
        </p:spPr>
        <p:txBody>
          <a:bodyPr wrap="square" rtlCol="0">
            <a:spAutoFit/>
          </a:bodyPr>
          <a:p>
            <a:r>
              <a:rPr lang="zh-CN" altLang="en-US" b="1">
                <a:latin typeface="宋体" panose="02010600030101010101" pitchFamily="2" charset="-122"/>
                <a:ea typeface="宋体" panose="02010600030101010101" pitchFamily="2" charset="-122"/>
              </a:rPr>
              <a:t>（复现）</a:t>
            </a:r>
            <a:r>
              <a:rPr lang="en-US" altLang="zh-CN" b="1">
                <a:latin typeface="宋体" panose="02010600030101010101" pitchFamily="2" charset="-122"/>
                <a:ea typeface="宋体" panose="02010600030101010101" pitchFamily="2" charset="-122"/>
              </a:rPr>
              <a:t>T</a:t>
            </a:r>
            <a:r>
              <a:rPr lang="en-US" altLang="zh-CN" b="1">
                <a:latin typeface="宋体" panose="02010600030101010101" pitchFamily="2" charset="-122"/>
                <a:ea typeface="宋体" panose="02010600030101010101" pitchFamily="2" charset="-122"/>
              </a:rPr>
              <a:t>able1</a:t>
            </a:r>
            <a:endParaRPr lang="en-US" altLang="zh-CN" b="1">
              <a:latin typeface="宋体" panose="02010600030101010101" pitchFamily="2" charset="-122"/>
              <a:ea typeface="宋体" panose="02010600030101010101" pitchFamily="2" charset="-122"/>
            </a:endParaRPr>
          </a:p>
        </p:txBody>
      </p:sp>
      <p:pic>
        <p:nvPicPr>
          <p:cNvPr id="9" name="图片 8" descr="屏幕截图 2026-06-18 124147"/>
          <p:cNvPicPr>
            <a:picLocks noChangeAspect="1"/>
          </p:cNvPicPr>
          <p:nvPr/>
        </p:nvPicPr>
        <p:blipFill>
          <a:blip r:embed="rId3"/>
          <a:stretch>
            <a:fillRect/>
          </a:stretch>
        </p:blipFill>
        <p:spPr>
          <a:xfrm>
            <a:off x="5945505" y="2793365"/>
            <a:ext cx="5654040" cy="1749425"/>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descr="屏幕截图 2026-06-18 121059"/>
          <p:cNvPicPr>
            <a:picLocks noChangeAspect="1"/>
          </p:cNvPicPr>
          <p:nvPr/>
        </p:nvPicPr>
        <p:blipFill>
          <a:blip r:embed="rId1"/>
          <a:stretch>
            <a:fillRect/>
          </a:stretch>
        </p:blipFill>
        <p:spPr>
          <a:xfrm>
            <a:off x="83820" y="1189355"/>
            <a:ext cx="8671560" cy="3329940"/>
          </a:xfrm>
          <a:prstGeom prst="rect">
            <a:avLst/>
          </a:prstGeom>
        </p:spPr>
      </p:pic>
      <p:pic>
        <p:nvPicPr>
          <p:cNvPr id="17410" name="图片 1"/>
          <p:cNvPicPr>
            <a:picLocks noChangeAspect="1"/>
          </p:cNvPicPr>
          <p:nvPr/>
        </p:nvPicPr>
        <p:blipFill>
          <a:blip r:embed="rId2"/>
          <a:stretch>
            <a:fillRect/>
          </a:stretch>
        </p:blipFill>
        <p:spPr>
          <a:xfrm>
            <a:off x="8610600" y="0"/>
            <a:ext cx="3581400" cy="1006475"/>
          </a:xfrm>
          <a:prstGeom prst="rect">
            <a:avLst/>
          </a:prstGeom>
          <a:noFill/>
          <a:ln w="9525">
            <a:noFill/>
          </a:ln>
        </p:spPr>
      </p:pic>
      <p:cxnSp>
        <p:nvCxnSpPr>
          <p:cNvPr id="4" name="直接连接符 3"/>
          <p:cNvCxnSpPr/>
          <p:nvPr/>
        </p:nvCxnSpPr>
        <p:spPr>
          <a:xfrm>
            <a:off x="0" y="798513"/>
            <a:ext cx="11176000" cy="0"/>
          </a:xfrm>
          <a:prstGeom prst="line">
            <a:avLst/>
          </a:prstGeom>
          <a:ln w="25400">
            <a:gradFill>
              <a:gsLst>
                <a:gs pos="0">
                  <a:srgbClr val="4B649F"/>
                </a:gs>
                <a:gs pos="100000">
                  <a:srgbClr val="7DB1CD">
                    <a:alpha val="0"/>
                  </a:srgbClr>
                </a:gs>
              </a:gsLst>
              <a:lin ang="0" scaled="0"/>
            </a:gradFill>
          </a:ln>
        </p:spPr>
        <p:style>
          <a:lnRef idx="1">
            <a:schemeClr val="accent1"/>
          </a:lnRef>
          <a:fillRef idx="0">
            <a:schemeClr val="accent1"/>
          </a:fillRef>
          <a:effectRef idx="0">
            <a:schemeClr val="accent1"/>
          </a:effectRef>
          <a:fontRef idx="minor">
            <a:schemeClr val="tx1"/>
          </a:fontRef>
        </p:style>
      </p:cxnSp>
      <p:sp>
        <p:nvSpPr>
          <p:cNvPr id="5" name="矩形 4"/>
          <p:cNvSpPr/>
          <p:nvPr/>
        </p:nvSpPr>
        <p:spPr>
          <a:xfrm>
            <a:off x="0" y="6724650"/>
            <a:ext cx="12192000" cy="133350"/>
          </a:xfrm>
          <a:prstGeom prst="rect">
            <a:avLst/>
          </a:prstGeom>
          <a:solidFill>
            <a:srgbClr val="4B649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1">
              <a:ln>
                <a:noFill/>
              </a:ln>
              <a:solidFill>
                <a:schemeClr val="lt1"/>
              </a:solidFill>
              <a:effectLst/>
              <a:uLnTx/>
              <a:uFillTx/>
              <a:latin typeface="+mn-lt"/>
              <a:ea typeface="+mn-ea"/>
              <a:cs typeface="+mn-cs"/>
            </a:endParaRPr>
          </a:p>
        </p:txBody>
      </p:sp>
      <p:grpSp>
        <p:nvGrpSpPr>
          <p:cNvPr id="17414" name="组合 5"/>
          <p:cNvGrpSpPr/>
          <p:nvPr/>
        </p:nvGrpSpPr>
        <p:grpSpPr>
          <a:xfrm>
            <a:off x="233363" y="125413"/>
            <a:ext cx="635000" cy="635000"/>
            <a:chOff x="5288161" y="2234042"/>
            <a:chExt cx="1607262" cy="1607262"/>
          </a:xfrm>
        </p:grpSpPr>
        <p:sp>
          <p:nvSpPr>
            <p:cNvPr id="7" name="椭圆 6"/>
            <p:cNvSpPr/>
            <p:nvPr/>
          </p:nvSpPr>
          <p:spPr>
            <a:xfrm>
              <a:off x="5288161" y="2234042"/>
              <a:ext cx="1607262" cy="1607262"/>
            </a:xfrm>
            <a:prstGeom prst="ellipse">
              <a:avLst/>
            </a:prstGeom>
            <a:solidFill>
              <a:srgbClr val="4B649F"/>
            </a:solidFill>
            <a:ln w="19050">
              <a:solidFill>
                <a:srgbClr val="4B649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1">
                <a:ln>
                  <a:noFill/>
                </a:ln>
                <a:solidFill>
                  <a:schemeClr val="lt1"/>
                </a:solidFill>
                <a:effectLst/>
                <a:uLnTx/>
                <a:uFillTx/>
                <a:latin typeface="+mn-lt"/>
                <a:ea typeface="+mn-ea"/>
                <a:cs typeface="+mn-cs"/>
              </a:endParaRPr>
            </a:p>
          </p:txBody>
        </p:sp>
        <p:sp>
          <p:nvSpPr>
            <p:cNvPr id="8" name="椭圆 7"/>
            <p:cNvSpPr/>
            <p:nvPr/>
          </p:nvSpPr>
          <p:spPr>
            <a:xfrm>
              <a:off x="5396650" y="2334495"/>
              <a:ext cx="1390282" cy="1390282"/>
            </a:xfrm>
            <a:prstGeom prst="ellipse">
              <a:avLst/>
            </a:prstGeom>
            <a:solidFill>
              <a:schemeClr val="bg1"/>
            </a:solidFill>
            <a:ln w="19050">
              <a:solidFill>
                <a:srgbClr val="4B649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1">
                <a:ln>
                  <a:noFill/>
                </a:ln>
                <a:solidFill>
                  <a:schemeClr val="lt1"/>
                </a:solidFill>
                <a:effectLst/>
                <a:uLnTx/>
                <a:uFillTx/>
                <a:latin typeface="+mn-lt"/>
                <a:ea typeface="+mn-ea"/>
                <a:cs typeface="+mn-cs"/>
              </a:endParaRPr>
            </a:p>
          </p:txBody>
        </p:sp>
        <p:sp>
          <p:nvSpPr>
            <p:cNvPr id="17440" name="KSO_Shape"/>
            <p:cNvSpPr/>
            <p:nvPr/>
          </p:nvSpPr>
          <p:spPr>
            <a:xfrm>
              <a:off x="5547153" y="2697761"/>
              <a:ext cx="1089278" cy="662788"/>
            </a:xfrm>
            <a:custGeom>
              <a:avLst/>
              <a:gdLst>
                <a:gd name="txL" fmla="*/ 0 w 3931"/>
                <a:gd name="txT" fmla="*/ 0 h 2392"/>
                <a:gd name="txR" fmla="*/ 3931 w 3931"/>
                <a:gd name="txB" fmla="*/ 2392 h 2392"/>
              </a:gdLst>
              <a:ahLst/>
              <a:cxnLst>
                <a:cxn ang="0">
                  <a:pos x="844045" y="356609"/>
                </a:cxn>
                <a:cxn ang="0">
                  <a:pos x="561681" y="235522"/>
                </a:cxn>
                <a:cxn ang="0">
                  <a:pos x="243848" y="356609"/>
                </a:cxn>
                <a:cxn ang="0">
                  <a:pos x="155176" y="319756"/>
                </a:cxn>
                <a:cxn ang="0">
                  <a:pos x="155176" y="428374"/>
                </a:cxn>
                <a:cxn ang="0">
                  <a:pos x="179283" y="461624"/>
                </a:cxn>
                <a:cxn ang="0">
                  <a:pos x="154622" y="494874"/>
                </a:cxn>
                <a:cxn ang="0">
                  <a:pos x="180946" y="611804"/>
                </a:cxn>
                <a:cxn ang="0">
                  <a:pos x="103358" y="611804"/>
                </a:cxn>
                <a:cxn ang="0">
                  <a:pos x="129960" y="494320"/>
                </a:cxn>
                <a:cxn ang="0">
                  <a:pos x="108346" y="461624"/>
                </a:cxn>
                <a:cxn ang="0">
                  <a:pos x="129128" y="429205"/>
                </a:cxn>
                <a:cxn ang="0">
                  <a:pos x="129128" y="308950"/>
                </a:cxn>
                <a:cxn ang="0">
                  <a:pos x="0" y="254918"/>
                </a:cxn>
                <a:cxn ang="0">
                  <a:pos x="568054" y="0"/>
                </a:cxn>
                <a:cxn ang="0">
                  <a:pos x="1089278" y="258243"/>
                </a:cxn>
                <a:cxn ang="0">
                  <a:pos x="844045" y="356609"/>
                </a:cxn>
                <a:cxn ang="0">
                  <a:pos x="555307" y="297035"/>
                </a:cxn>
                <a:cxn ang="0">
                  <a:pos x="811624" y="384040"/>
                </a:cxn>
                <a:cxn ang="0">
                  <a:pos x="811624" y="594902"/>
                </a:cxn>
                <a:cxn ang="0">
                  <a:pos x="542284" y="662788"/>
                </a:cxn>
                <a:cxn ang="0">
                  <a:pos x="304532" y="594902"/>
                </a:cxn>
                <a:cxn ang="0">
                  <a:pos x="304532" y="384040"/>
                </a:cxn>
                <a:cxn ang="0">
                  <a:pos x="555307" y="297035"/>
                </a:cxn>
                <a:cxn ang="0">
                  <a:pos x="551982" y="623996"/>
                </a:cxn>
                <a:cxn ang="0">
                  <a:pos x="758698" y="572458"/>
                </a:cxn>
                <a:cxn ang="0">
                  <a:pos x="551982" y="520643"/>
                </a:cxn>
                <a:cxn ang="0">
                  <a:pos x="345543" y="572458"/>
                </a:cxn>
                <a:cxn ang="0">
                  <a:pos x="551982" y="623996"/>
                </a:cxn>
              </a:cxnLst>
              <a:rect l="txL" t="txT" r="txR" b="txB"/>
              <a:pathLst>
                <a:path w="3931" h="2392">
                  <a:moveTo>
                    <a:pt x="3046" y="1287"/>
                  </a:moveTo>
                  <a:cubicBezTo>
                    <a:pt x="3046" y="1287"/>
                    <a:pt x="2618" y="850"/>
                    <a:pt x="2027" y="850"/>
                  </a:cubicBezTo>
                  <a:cubicBezTo>
                    <a:pt x="1450" y="850"/>
                    <a:pt x="880" y="1287"/>
                    <a:pt x="880" y="1287"/>
                  </a:cubicBezTo>
                  <a:cubicBezTo>
                    <a:pt x="560" y="1154"/>
                    <a:pt x="560" y="1154"/>
                    <a:pt x="560" y="1154"/>
                  </a:cubicBezTo>
                  <a:cubicBezTo>
                    <a:pt x="560" y="1546"/>
                    <a:pt x="560" y="1546"/>
                    <a:pt x="560" y="1546"/>
                  </a:cubicBezTo>
                  <a:cubicBezTo>
                    <a:pt x="610" y="1563"/>
                    <a:pt x="647" y="1610"/>
                    <a:pt x="647" y="1666"/>
                  </a:cubicBezTo>
                  <a:cubicBezTo>
                    <a:pt x="647" y="1723"/>
                    <a:pt x="609" y="1769"/>
                    <a:pt x="558" y="1786"/>
                  </a:cubicBezTo>
                  <a:cubicBezTo>
                    <a:pt x="653" y="2208"/>
                    <a:pt x="653" y="2208"/>
                    <a:pt x="653" y="2208"/>
                  </a:cubicBezTo>
                  <a:cubicBezTo>
                    <a:pt x="373" y="2208"/>
                    <a:pt x="373" y="2208"/>
                    <a:pt x="373" y="2208"/>
                  </a:cubicBezTo>
                  <a:cubicBezTo>
                    <a:pt x="469" y="1784"/>
                    <a:pt x="469" y="1784"/>
                    <a:pt x="469" y="1784"/>
                  </a:cubicBezTo>
                  <a:cubicBezTo>
                    <a:pt x="423" y="1764"/>
                    <a:pt x="391" y="1719"/>
                    <a:pt x="391" y="1666"/>
                  </a:cubicBezTo>
                  <a:cubicBezTo>
                    <a:pt x="391" y="1614"/>
                    <a:pt x="422" y="1570"/>
                    <a:pt x="466" y="1549"/>
                  </a:cubicBezTo>
                  <a:cubicBezTo>
                    <a:pt x="466" y="1115"/>
                    <a:pt x="466" y="1115"/>
                    <a:pt x="466" y="1115"/>
                  </a:cubicBezTo>
                  <a:cubicBezTo>
                    <a:pt x="0" y="920"/>
                    <a:pt x="0" y="920"/>
                    <a:pt x="0" y="920"/>
                  </a:cubicBezTo>
                  <a:cubicBezTo>
                    <a:pt x="2050" y="0"/>
                    <a:pt x="2050" y="0"/>
                    <a:pt x="2050" y="0"/>
                  </a:cubicBezTo>
                  <a:cubicBezTo>
                    <a:pt x="3931" y="932"/>
                    <a:pt x="3931" y="932"/>
                    <a:pt x="3931" y="932"/>
                  </a:cubicBezTo>
                  <a:lnTo>
                    <a:pt x="3046" y="1287"/>
                  </a:lnTo>
                  <a:close/>
                  <a:moveTo>
                    <a:pt x="2004" y="1072"/>
                  </a:moveTo>
                  <a:cubicBezTo>
                    <a:pt x="2598" y="1072"/>
                    <a:pt x="2929" y="1386"/>
                    <a:pt x="2929" y="1386"/>
                  </a:cubicBezTo>
                  <a:cubicBezTo>
                    <a:pt x="2929" y="2147"/>
                    <a:pt x="2929" y="2147"/>
                    <a:pt x="2929" y="2147"/>
                  </a:cubicBezTo>
                  <a:cubicBezTo>
                    <a:pt x="2929" y="2147"/>
                    <a:pt x="2586" y="2392"/>
                    <a:pt x="1957" y="2392"/>
                  </a:cubicBezTo>
                  <a:cubicBezTo>
                    <a:pt x="1328" y="2392"/>
                    <a:pt x="1099" y="2147"/>
                    <a:pt x="1099" y="2147"/>
                  </a:cubicBezTo>
                  <a:cubicBezTo>
                    <a:pt x="1099" y="1386"/>
                    <a:pt x="1099" y="1386"/>
                    <a:pt x="1099" y="1386"/>
                  </a:cubicBezTo>
                  <a:cubicBezTo>
                    <a:pt x="1099" y="1386"/>
                    <a:pt x="1410" y="1072"/>
                    <a:pt x="2004" y="1072"/>
                  </a:cubicBezTo>
                  <a:close/>
                  <a:moveTo>
                    <a:pt x="1992" y="2252"/>
                  </a:moveTo>
                  <a:cubicBezTo>
                    <a:pt x="2404" y="2252"/>
                    <a:pt x="2738" y="2168"/>
                    <a:pt x="2738" y="2066"/>
                  </a:cubicBezTo>
                  <a:cubicBezTo>
                    <a:pt x="2738" y="1963"/>
                    <a:pt x="2404" y="1879"/>
                    <a:pt x="1992" y="1879"/>
                  </a:cubicBezTo>
                  <a:cubicBezTo>
                    <a:pt x="1581" y="1879"/>
                    <a:pt x="1247" y="1963"/>
                    <a:pt x="1247" y="2066"/>
                  </a:cubicBezTo>
                  <a:cubicBezTo>
                    <a:pt x="1247" y="2168"/>
                    <a:pt x="1581" y="2252"/>
                    <a:pt x="1992" y="2252"/>
                  </a:cubicBezTo>
                  <a:close/>
                </a:path>
              </a:pathLst>
            </a:custGeom>
            <a:solidFill>
              <a:srgbClr val="4B649F">
                <a:alpha val="100000"/>
              </a:srgbClr>
            </a:solidFill>
            <a:ln w="9525">
              <a:noFill/>
            </a:ln>
          </p:spPr>
          <p:txBody>
            <a:bodyPr/>
            <a:lstStyle/>
            <a:p>
              <a:endParaRPr lang="zh-CN" altLang="en-US" sz="1800"/>
            </a:p>
          </p:txBody>
        </p:sp>
      </p:grpSp>
      <p:sp>
        <p:nvSpPr>
          <p:cNvPr id="19" name="文本框 2"/>
          <p:cNvSpPr txBox="1"/>
          <p:nvPr/>
        </p:nvSpPr>
        <p:spPr>
          <a:xfrm>
            <a:off x="917258" y="194310"/>
            <a:ext cx="4541837" cy="478155"/>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indent="0" eaLnBrk="1" hangingPunct="1">
              <a:buNone/>
            </a:pPr>
            <a:r>
              <a:rPr lang="zh-CN" altLang="en-US" b="1" dirty="0">
                <a:gradFill>
                  <a:gsLst>
                    <a:gs pos="0">
                      <a:srgbClr val="012D86"/>
                    </a:gs>
                    <a:gs pos="100000">
                      <a:srgbClr val="0E2557"/>
                    </a:gs>
                  </a:gsLst>
                  <a:lin scaled="0"/>
                </a:gradFill>
                <a:latin typeface="Arial" panose="020B0604020202020204" pitchFamily="34" charset="0"/>
                <a:sym typeface="+mn-ea"/>
              </a:rPr>
              <a:t>研究</a:t>
            </a:r>
            <a:r>
              <a:rPr lang="zh-CN" altLang="en-US" b="1" dirty="0">
                <a:gradFill>
                  <a:gsLst>
                    <a:gs pos="0">
                      <a:srgbClr val="012D86"/>
                    </a:gs>
                    <a:gs pos="100000">
                      <a:srgbClr val="0E2557"/>
                    </a:gs>
                  </a:gsLst>
                  <a:lin scaled="0"/>
                </a:gradFill>
                <a:latin typeface="Arial" panose="020B0604020202020204" pitchFamily="34" charset="0"/>
                <a:sym typeface="+mn-ea"/>
              </a:rPr>
              <a:t>结果</a:t>
            </a:r>
            <a:endParaRPr lang="zh-CN" altLang="en-US" b="1" dirty="0">
              <a:gradFill>
                <a:gsLst>
                  <a:gs pos="0">
                    <a:srgbClr val="012D86"/>
                  </a:gs>
                  <a:gs pos="100000">
                    <a:srgbClr val="0E2557"/>
                  </a:gs>
                </a:gsLst>
                <a:lin scaled="0"/>
              </a:gradFill>
              <a:latin typeface="Arial" panose="020B0604020202020204" pitchFamily="34" charset="0"/>
              <a:sym typeface="+mn-ea"/>
            </a:endParaRPr>
          </a:p>
        </p:txBody>
      </p:sp>
      <p:cxnSp>
        <p:nvCxnSpPr>
          <p:cNvPr id="14" name="直接箭头连接符 13"/>
          <p:cNvCxnSpPr/>
          <p:nvPr/>
        </p:nvCxnSpPr>
        <p:spPr>
          <a:xfrm>
            <a:off x="6425565" y="3145155"/>
            <a:ext cx="1556385" cy="2540"/>
          </a:xfrm>
          <a:prstGeom prst="straightConnector1">
            <a:avLst/>
          </a:prstGeom>
          <a:ln>
            <a:solidFill>
              <a:schemeClr val="tx1"/>
            </a:solidFill>
            <a:tailEnd type="arrow"/>
          </a:ln>
        </p:spPr>
        <p:style>
          <a:lnRef idx="2">
            <a:schemeClr val="accent1"/>
          </a:lnRef>
          <a:fillRef idx="0">
            <a:srgbClr val="FFFFFF"/>
          </a:fillRef>
          <a:effectRef idx="0">
            <a:srgbClr val="FFFFFF"/>
          </a:effectRef>
          <a:fontRef idx="minor">
            <a:schemeClr val="tx1"/>
          </a:fontRef>
        </p:style>
      </p:cxnSp>
      <p:sp>
        <p:nvSpPr>
          <p:cNvPr id="6" name="文本框 5"/>
          <p:cNvSpPr txBox="1"/>
          <p:nvPr/>
        </p:nvSpPr>
        <p:spPr>
          <a:xfrm>
            <a:off x="8105140" y="2777490"/>
            <a:ext cx="3905250" cy="737235"/>
          </a:xfrm>
          <a:prstGeom prst="rect">
            <a:avLst/>
          </a:prstGeom>
          <a:noFill/>
        </p:spPr>
        <p:txBody>
          <a:bodyPr wrap="square" rtlCol="0" anchor="t">
            <a:spAutoFit/>
          </a:bodyPr>
          <a:p>
            <a:pPr algn="just"/>
            <a:r>
              <a:rPr lang="zh-CN" altLang="en-US" sz="1400">
                <a:latin typeface="宋体" panose="02010600030101010101" pitchFamily="2" charset="-122"/>
                <a:ea typeface="宋体" panose="02010600030101010101" pitchFamily="2" charset="-122"/>
                <a:cs typeface="宋体" panose="02010600030101010101" pitchFamily="2" charset="-122"/>
              </a:rPr>
              <a:t>这段代码使用</a:t>
            </a:r>
            <a:r>
              <a:rPr lang="en-US" altLang="zh-CN" sz="1400">
                <a:latin typeface="宋体" panose="02010600030101010101" pitchFamily="2" charset="-122"/>
                <a:ea typeface="宋体" panose="02010600030101010101" pitchFamily="2" charset="-122"/>
                <a:cs typeface="宋体" panose="02010600030101010101" pitchFamily="2" charset="-122"/>
              </a:rPr>
              <a:t>Stroop</a:t>
            </a:r>
            <a:r>
              <a:rPr lang="zh-CN" altLang="en-US" sz="1400">
                <a:latin typeface="宋体" panose="02010600030101010101" pitchFamily="2" charset="-122"/>
                <a:ea typeface="宋体" panose="02010600030101010101" pitchFamily="2" charset="-122"/>
                <a:cs typeface="宋体" panose="02010600030101010101" pitchFamily="2" charset="-122"/>
              </a:rPr>
              <a:t>任务数据计算每个被试的执行功能（</a:t>
            </a:r>
            <a:r>
              <a:rPr lang="en-US" altLang="zh-CN" sz="1400">
                <a:latin typeface="宋体" panose="02010600030101010101" pitchFamily="2" charset="-122"/>
                <a:ea typeface="宋体" panose="02010600030101010101" pitchFamily="2" charset="-122"/>
                <a:cs typeface="宋体" panose="02010600030101010101" pitchFamily="2" charset="-122"/>
              </a:rPr>
              <a:t>EF）</a:t>
            </a:r>
            <a:r>
              <a:rPr lang="zh-CN" altLang="en-US" sz="1400">
                <a:latin typeface="宋体" panose="02010600030101010101" pitchFamily="2" charset="-122"/>
                <a:ea typeface="宋体" panose="02010600030101010101" pitchFamily="2" charset="-122"/>
                <a:cs typeface="宋体" panose="02010600030101010101" pitchFamily="2" charset="-122"/>
              </a:rPr>
              <a:t>指标，通常称为“</a:t>
            </a:r>
            <a:r>
              <a:rPr lang="en-US" altLang="zh-CN" sz="1400">
                <a:latin typeface="宋体" panose="02010600030101010101" pitchFamily="2" charset="-122"/>
                <a:ea typeface="宋体" panose="02010600030101010101" pitchFamily="2" charset="-122"/>
                <a:cs typeface="宋体" panose="02010600030101010101" pitchFamily="2" charset="-122"/>
              </a:rPr>
              <a:t>Stroop</a:t>
            </a:r>
            <a:r>
              <a:rPr lang="zh-CN" altLang="en-US" sz="1400">
                <a:latin typeface="宋体" panose="02010600030101010101" pitchFamily="2" charset="-122"/>
                <a:ea typeface="宋体" panose="02010600030101010101" pitchFamily="2" charset="-122"/>
                <a:cs typeface="宋体" panose="02010600030101010101" pitchFamily="2" charset="-122"/>
              </a:rPr>
              <a:t>干扰效应”或“</a:t>
            </a:r>
            <a:r>
              <a:rPr lang="en-US" altLang="zh-CN" sz="1400">
                <a:latin typeface="宋体" panose="02010600030101010101" pitchFamily="2" charset="-122"/>
                <a:ea typeface="宋体" panose="02010600030101010101" pitchFamily="2" charset="-122"/>
                <a:cs typeface="宋体" panose="02010600030101010101" pitchFamily="2" charset="-122"/>
              </a:rPr>
              <a:t>Stroop</a:t>
            </a:r>
            <a:r>
              <a:rPr lang="zh-CN" altLang="en-US" sz="1400">
                <a:latin typeface="宋体" panose="02010600030101010101" pitchFamily="2" charset="-122"/>
                <a:ea typeface="宋体" panose="02010600030101010101" pitchFamily="2" charset="-122"/>
                <a:cs typeface="宋体" panose="02010600030101010101" pitchFamily="2" charset="-122"/>
              </a:rPr>
              <a:t>成本”。</a:t>
            </a:r>
            <a:endParaRPr lang="zh-CN" altLang="en-US" sz="1400">
              <a:latin typeface="宋体" panose="02010600030101010101" pitchFamily="2" charset="-122"/>
              <a:ea typeface="宋体" panose="02010600030101010101" pitchFamily="2" charset="-122"/>
              <a:cs typeface="宋体" panose="02010600030101010101" pitchFamily="2" charset="-122"/>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10" name="图片 1"/>
          <p:cNvPicPr>
            <a:picLocks noChangeAspect="1"/>
          </p:cNvPicPr>
          <p:nvPr/>
        </p:nvPicPr>
        <p:blipFill>
          <a:blip r:embed="rId1"/>
          <a:stretch>
            <a:fillRect/>
          </a:stretch>
        </p:blipFill>
        <p:spPr>
          <a:xfrm>
            <a:off x="8610600" y="0"/>
            <a:ext cx="3581400" cy="1006475"/>
          </a:xfrm>
          <a:prstGeom prst="rect">
            <a:avLst/>
          </a:prstGeom>
          <a:noFill/>
          <a:ln w="9525">
            <a:noFill/>
          </a:ln>
        </p:spPr>
      </p:pic>
      <p:cxnSp>
        <p:nvCxnSpPr>
          <p:cNvPr id="4" name="直接连接符 3"/>
          <p:cNvCxnSpPr/>
          <p:nvPr/>
        </p:nvCxnSpPr>
        <p:spPr>
          <a:xfrm>
            <a:off x="0" y="798513"/>
            <a:ext cx="11176000" cy="0"/>
          </a:xfrm>
          <a:prstGeom prst="line">
            <a:avLst/>
          </a:prstGeom>
          <a:ln w="25400">
            <a:gradFill>
              <a:gsLst>
                <a:gs pos="0">
                  <a:srgbClr val="4B649F"/>
                </a:gs>
                <a:gs pos="100000">
                  <a:srgbClr val="7DB1CD">
                    <a:alpha val="0"/>
                  </a:srgbClr>
                </a:gs>
              </a:gsLst>
              <a:lin ang="0" scaled="0"/>
            </a:gradFill>
          </a:ln>
        </p:spPr>
        <p:style>
          <a:lnRef idx="1">
            <a:schemeClr val="accent1"/>
          </a:lnRef>
          <a:fillRef idx="0">
            <a:schemeClr val="accent1"/>
          </a:fillRef>
          <a:effectRef idx="0">
            <a:schemeClr val="accent1"/>
          </a:effectRef>
          <a:fontRef idx="minor">
            <a:schemeClr val="tx1"/>
          </a:fontRef>
        </p:style>
      </p:cxnSp>
      <p:sp>
        <p:nvSpPr>
          <p:cNvPr id="5" name="矩形 4"/>
          <p:cNvSpPr/>
          <p:nvPr/>
        </p:nvSpPr>
        <p:spPr>
          <a:xfrm>
            <a:off x="0" y="6724650"/>
            <a:ext cx="12192000" cy="133350"/>
          </a:xfrm>
          <a:prstGeom prst="rect">
            <a:avLst/>
          </a:prstGeom>
          <a:solidFill>
            <a:srgbClr val="4B649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1">
              <a:ln>
                <a:noFill/>
              </a:ln>
              <a:solidFill>
                <a:schemeClr val="lt1"/>
              </a:solidFill>
              <a:effectLst/>
              <a:uLnTx/>
              <a:uFillTx/>
              <a:latin typeface="+mn-lt"/>
              <a:ea typeface="+mn-ea"/>
              <a:cs typeface="+mn-cs"/>
            </a:endParaRPr>
          </a:p>
        </p:txBody>
      </p:sp>
      <p:grpSp>
        <p:nvGrpSpPr>
          <p:cNvPr id="17414" name="组合 5"/>
          <p:cNvGrpSpPr/>
          <p:nvPr/>
        </p:nvGrpSpPr>
        <p:grpSpPr>
          <a:xfrm>
            <a:off x="233363" y="125413"/>
            <a:ext cx="635000" cy="635000"/>
            <a:chOff x="5288161" y="2234042"/>
            <a:chExt cx="1607262" cy="1607262"/>
          </a:xfrm>
        </p:grpSpPr>
        <p:sp>
          <p:nvSpPr>
            <p:cNvPr id="7" name="椭圆 6"/>
            <p:cNvSpPr/>
            <p:nvPr/>
          </p:nvSpPr>
          <p:spPr>
            <a:xfrm>
              <a:off x="5288161" y="2234042"/>
              <a:ext cx="1607262" cy="1607262"/>
            </a:xfrm>
            <a:prstGeom prst="ellipse">
              <a:avLst/>
            </a:prstGeom>
            <a:solidFill>
              <a:srgbClr val="4B649F"/>
            </a:solidFill>
            <a:ln w="19050">
              <a:solidFill>
                <a:srgbClr val="4B649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1">
                <a:ln>
                  <a:noFill/>
                </a:ln>
                <a:solidFill>
                  <a:schemeClr val="lt1"/>
                </a:solidFill>
                <a:effectLst/>
                <a:uLnTx/>
                <a:uFillTx/>
                <a:latin typeface="+mn-lt"/>
                <a:ea typeface="+mn-ea"/>
                <a:cs typeface="+mn-cs"/>
              </a:endParaRPr>
            </a:p>
          </p:txBody>
        </p:sp>
        <p:sp>
          <p:nvSpPr>
            <p:cNvPr id="8" name="椭圆 7"/>
            <p:cNvSpPr/>
            <p:nvPr/>
          </p:nvSpPr>
          <p:spPr>
            <a:xfrm>
              <a:off x="5396650" y="2334495"/>
              <a:ext cx="1390282" cy="1390282"/>
            </a:xfrm>
            <a:prstGeom prst="ellipse">
              <a:avLst/>
            </a:prstGeom>
            <a:solidFill>
              <a:schemeClr val="bg1"/>
            </a:solidFill>
            <a:ln w="19050">
              <a:solidFill>
                <a:srgbClr val="4B649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1">
                <a:ln>
                  <a:noFill/>
                </a:ln>
                <a:solidFill>
                  <a:schemeClr val="lt1"/>
                </a:solidFill>
                <a:effectLst/>
                <a:uLnTx/>
                <a:uFillTx/>
                <a:latin typeface="+mn-lt"/>
                <a:ea typeface="+mn-ea"/>
                <a:cs typeface="+mn-cs"/>
              </a:endParaRPr>
            </a:p>
          </p:txBody>
        </p:sp>
        <p:sp>
          <p:nvSpPr>
            <p:cNvPr id="17440" name="KSO_Shape"/>
            <p:cNvSpPr/>
            <p:nvPr/>
          </p:nvSpPr>
          <p:spPr>
            <a:xfrm>
              <a:off x="5547153" y="2697761"/>
              <a:ext cx="1089278" cy="662788"/>
            </a:xfrm>
            <a:custGeom>
              <a:avLst/>
              <a:gdLst>
                <a:gd name="txL" fmla="*/ 0 w 3931"/>
                <a:gd name="txT" fmla="*/ 0 h 2392"/>
                <a:gd name="txR" fmla="*/ 3931 w 3931"/>
                <a:gd name="txB" fmla="*/ 2392 h 2392"/>
              </a:gdLst>
              <a:ahLst/>
              <a:cxnLst>
                <a:cxn ang="0">
                  <a:pos x="844045" y="356609"/>
                </a:cxn>
                <a:cxn ang="0">
                  <a:pos x="561681" y="235522"/>
                </a:cxn>
                <a:cxn ang="0">
                  <a:pos x="243848" y="356609"/>
                </a:cxn>
                <a:cxn ang="0">
                  <a:pos x="155176" y="319756"/>
                </a:cxn>
                <a:cxn ang="0">
                  <a:pos x="155176" y="428374"/>
                </a:cxn>
                <a:cxn ang="0">
                  <a:pos x="179283" y="461624"/>
                </a:cxn>
                <a:cxn ang="0">
                  <a:pos x="154622" y="494874"/>
                </a:cxn>
                <a:cxn ang="0">
                  <a:pos x="180946" y="611804"/>
                </a:cxn>
                <a:cxn ang="0">
                  <a:pos x="103358" y="611804"/>
                </a:cxn>
                <a:cxn ang="0">
                  <a:pos x="129960" y="494320"/>
                </a:cxn>
                <a:cxn ang="0">
                  <a:pos x="108346" y="461624"/>
                </a:cxn>
                <a:cxn ang="0">
                  <a:pos x="129128" y="429205"/>
                </a:cxn>
                <a:cxn ang="0">
                  <a:pos x="129128" y="308950"/>
                </a:cxn>
                <a:cxn ang="0">
                  <a:pos x="0" y="254918"/>
                </a:cxn>
                <a:cxn ang="0">
                  <a:pos x="568054" y="0"/>
                </a:cxn>
                <a:cxn ang="0">
                  <a:pos x="1089278" y="258243"/>
                </a:cxn>
                <a:cxn ang="0">
                  <a:pos x="844045" y="356609"/>
                </a:cxn>
                <a:cxn ang="0">
                  <a:pos x="555307" y="297035"/>
                </a:cxn>
                <a:cxn ang="0">
                  <a:pos x="811624" y="384040"/>
                </a:cxn>
                <a:cxn ang="0">
                  <a:pos x="811624" y="594902"/>
                </a:cxn>
                <a:cxn ang="0">
                  <a:pos x="542284" y="662788"/>
                </a:cxn>
                <a:cxn ang="0">
                  <a:pos x="304532" y="594902"/>
                </a:cxn>
                <a:cxn ang="0">
                  <a:pos x="304532" y="384040"/>
                </a:cxn>
                <a:cxn ang="0">
                  <a:pos x="555307" y="297035"/>
                </a:cxn>
                <a:cxn ang="0">
                  <a:pos x="551982" y="623996"/>
                </a:cxn>
                <a:cxn ang="0">
                  <a:pos x="758698" y="572458"/>
                </a:cxn>
                <a:cxn ang="0">
                  <a:pos x="551982" y="520643"/>
                </a:cxn>
                <a:cxn ang="0">
                  <a:pos x="345543" y="572458"/>
                </a:cxn>
                <a:cxn ang="0">
                  <a:pos x="551982" y="623996"/>
                </a:cxn>
              </a:cxnLst>
              <a:rect l="txL" t="txT" r="txR" b="txB"/>
              <a:pathLst>
                <a:path w="3931" h="2392">
                  <a:moveTo>
                    <a:pt x="3046" y="1287"/>
                  </a:moveTo>
                  <a:cubicBezTo>
                    <a:pt x="3046" y="1287"/>
                    <a:pt x="2618" y="850"/>
                    <a:pt x="2027" y="850"/>
                  </a:cubicBezTo>
                  <a:cubicBezTo>
                    <a:pt x="1450" y="850"/>
                    <a:pt x="880" y="1287"/>
                    <a:pt x="880" y="1287"/>
                  </a:cubicBezTo>
                  <a:cubicBezTo>
                    <a:pt x="560" y="1154"/>
                    <a:pt x="560" y="1154"/>
                    <a:pt x="560" y="1154"/>
                  </a:cubicBezTo>
                  <a:cubicBezTo>
                    <a:pt x="560" y="1546"/>
                    <a:pt x="560" y="1546"/>
                    <a:pt x="560" y="1546"/>
                  </a:cubicBezTo>
                  <a:cubicBezTo>
                    <a:pt x="610" y="1563"/>
                    <a:pt x="647" y="1610"/>
                    <a:pt x="647" y="1666"/>
                  </a:cubicBezTo>
                  <a:cubicBezTo>
                    <a:pt x="647" y="1723"/>
                    <a:pt x="609" y="1769"/>
                    <a:pt x="558" y="1786"/>
                  </a:cubicBezTo>
                  <a:cubicBezTo>
                    <a:pt x="653" y="2208"/>
                    <a:pt x="653" y="2208"/>
                    <a:pt x="653" y="2208"/>
                  </a:cubicBezTo>
                  <a:cubicBezTo>
                    <a:pt x="373" y="2208"/>
                    <a:pt x="373" y="2208"/>
                    <a:pt x="373" y="2208"/>
                  </a:cubicBezTo>
                  <a:cubicBezTo>
                    <a:pt x="469" y="1784"/>
                    <a:pt x="469" y="1784"/>
                    <a:pt x="469" y="1784"/>
                  </a:cubicBezTo>
                  <a:cubicBezTo>
                    <a:pt x="423" y="1764"/>
                    <a:pt x="391" y="1719"/>
                    <a:pt x="391" y="1666"/>
                  </a:cubicBezTo>
                  <a:cubicBezTo>
                    <a:pt x="391" y="1614"/>
                    <a:pt x="422" y="1570"/>
                    <a:pt x="466" y="1549"/>
                  </a:cubicBezTo>
                  <a:cubicBezTo>
                    <a:pt x="466" y="1115"/>
                    <a:pt x="466" y="1115"/>
                    <a:pt x="466" y="1115"/>
                  </a:cubicBezTo>
                  <a:cubicBezTo>
                    <a:pt x="0" y="920"/>
                    <a:pt x="0" y="920"/>
                    <a:pt x="0" y="920"/>
                  </a:cubicBezTo>
                  <a:cubicBezTo>
                    <a:pt x="2050" y="0"/>
                    <a:pt x="2050" y="0"/>
                    <a:pt x="2050" y="0"/>
                  </a:cubicBezTo>
                  <a:cubicBezTo>
                    <a:pt x="3931" y="932"/>
                    <a:pt x="3931" y="932"/>
                    <a:pt x="3931" y="932"/>
                  </a:cubicBezTo>
                  <a:lnTo>
                    <a:pt x="3046" y="1287"/>
                  </a:lnTo>
                  <a:close/>
                  <a:moveTo>
                    <a:pt x="2004" y="1072"/>
                  </a:moveTo>
                  <a:cubicBezTo>
                    <a:pt x="2598" y="1072"/>
                    <a:pt x="2929" y="1386"/>
                    <a:pt x="2929" y="1386"/>
                  </a:cubicBezTo>
                  <a:cubicBezTo>
                    <a:pt x="2929" y="2147"/>
                    <a:pt x="2929" y="2147"/>
                    <a:pt x="2929" y="2147"/>
                  </a:cubicBezTo>
                  <a:cubicBezTo>
                    <a:pt x="2929" y="2147"/>
                    <a:pt x="2586" y="2392"/>
                    <a:pt x="1957" y="2392"/>
                  </a:cubicBezTo>
                  <a:cubicBezTo>
                    <a:pt x="1328" y="2392"/>
                    <a:pt x="1099" y="2147"/>
                    <a:pt x="1099" y="2147"/>
                  </a:cubicBezTo>
                  <a:cubicBezTo>
                    <a:pt x="1099" y="1386"/>
                    <a:pt x="1099" y="1386"/>
                    <a:pt x="1099" y="1386"/>
                  </a:cubicBezTo>
                  <a:cubicBezTo>
                    <a:pt x="1099" y="1386"/>
                    <a:pt x="1410" y="1072"/>
                    <a:pt x="2004" y="1072"/>
                  </a:cubicBezTo>
                  <a:close/>
                  <a:moveTo>
                    <a:pt x="1992" y="2252"/>
                  </a:moveTo>
                  <a:cubicBezTo>
                    <a:pt x="2404" y="2252"/>
                    <a:pt x="2738" y="2168"/>
                    <a:pt x="2738" y="2066"/>
                  </a:cubicBezTo>
                  <a:cubicBezTo>
                    <a:pt x="2738" y="1963"/>
                    <a:pt x="2404" y="1879"/>
                    <a:pt x="1992" y="1879"/>
                  </a:cubicBezTo>
                  <a:cubicBezTo>
                    <a:pt x="1581" y="1879"/>
                    <a:pt x="1247" y="1963"/>
                    <a:pt x="1247" y="2066"/>
                  </a:cubicBezTo>
                  <a:cubicBezTo>
                    <a:pt x="1247" y="2168"/>
                    <a:pt x="1581" y="2252"/>
                    <a:pt x="1992" y="2252"/>
                  </a:cubicBezTo>
                  <a:close/>
                </a:path>
              </a:pathLst>
            </a:custGeom>
            <a:solidFill>
              <a:srgbClr val="4B649F">
                <a:alpha val="100000"/>
              </a:srgbClr>
            </a:solidFill>
            <a:ln w="9525">
              <a:noFill/>
            </a:ln>
          </p:spPr>
          <p:txBody>
            <a:bodyPr/>
            <a:lstStyle/>
            <a:p>
              <a:endParaRPr lang="zh-CN" altLang="en-US" sz="1800"/>
            </a:p>
          </p:txBody>
        </p:sp>
      </p:grpSp>
      <p:sp>
        <p:nvSpPr>
          <p:cNvPr id="19" name="文本框 2"/>
          <p:cNvSpPr txBox="1"/>
          <p:nvPr/>
        </p:nvSpPr>
        <p:spPr>
          <a:xfrm>
            <a:off x="917258" y="194310"/>
            <a:ext cx="4541837" cy="478155"/>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indent="0" eaLnBrk="1" hangingPunct="1">
              <a:buNone/>
            </a:pPr>
            <a:r>
              <a:rPr lang="zh-CN" altLang="en-US" b="1" dirty="0">
                <a:gradFill>
                  <a:gsLst>
                    <a:gs pos="0">
                      <a:srgbClr val="012D86"/>
                    </a:gs>
                    <a:gs pos="100000">
                      <a:srgbClr val="0E2557"/>
                    </a:gs>
                  </a:gsLst>
                  <a:lin scaled="0"/>
                </a:gradFill>
                <a:latin typeface="Arial" panose="020B0604020202020204" pitchFamily="34" charset="0"/>
                <a:sym typeface="+mn-ea"/>
              </a:rPr>
              <a:t>研究</a:t>
            </a:r>
            <a:r>
              <a:rPr lang="zh-CN" altLang="en-US" b="1" dirty="0">
                <a:gradFill>
                  <a:gsLst>
                    <a:gs pos="0">
                      <a:srgbClr val="012D86"/>
                    </a:gs>
                    <a:gs pos="100000">
                      <a:srgbClr val="0E2557"/>
                    </a:gs>
                  </a:gsLst>
                  <a:lin scaled="0"/>
                </a:gradFill>
                <a:latin typeface="Arial" panose="020B0604020202020204" pitchFamily="34" charset="0"/>
                <a:sym typeface="+mn-ea"/>
              </a:rPr>
              <a:t>结果</a:t>
            </a:r>
            <a:endParaRPr lang="zh-CN" altLang="en-US" b="1" dirty="0">
              <a:gradFill>
                <a:gsLst>
                  <a:gs pos="0">
                    <a:srgbClr val="012D86"/>
                  </a:gs>
                  <a:gs pos="100000">
                    <a:srgbClr val="0E2557"/>
                  </a:gs>
                </a:gsLst>
                <a:lin scaled="0"/>
              </a:gradFill>
              <a:latin typeface="Arial" panose="020B0604020202020204" pitchFamily="34" charset="0"/>
              <a:sym typeface="+mn-ea"/>
            </a:endParaRPr>
          </a:p>
        </p:txBody>
      </p:sp>
      <p:pic>
        <p:nvPicPr>
          <p:cNvPr id="6" name="图片 5" descr="屏幕截图 2026-06-17 213933"/>
          <p:cNvPicPr>
            <a:picLocks noChangeAspect="1"/>
          </p:cNvPicPr>
          <p:nvPr/>
        </p:nvPicPr>
        <p:blipFill>
          <a:blip r:embed="rId2"/>
          <a:stretch>
            <a:fillRect/>
          </a:stretch>
        </p:blipFill>
        <p:spPr>
          <a:xfrm>
            <a:off x="411480" y="836930"/>
            <a:ext cx="7216140" cy="920115"/>
          </a:xfrm>
          <a:prstGeom prst="rect">
            <a:avLst/>
          </a:prstGeom>
        </p:spPr>
      </p:pic>
      <p:pic>
        <p:nvPicPr>
          <p:cNvPr id="9" name="图片 8"/>
          <p:cNvPicPr>
            <a:picLocks noChangeAspect="1"/>
          </p:cNvPicPr>
          <p:nvPr/>
        </p:nvPicPr>
        <p:blipFill>
          <a:blip r:embed="rId3"/>
          <a:stretch>
            <a:fillRect/>
          </a:stretch>
        </p:blipFill>
        <p:spPr>
          <a:xfrm>
            <a:off x="411480" y="1684020"/>
            <a:ext cx="7129780" cy="784860"/>
          </a:xfrm>
          <a:prstGeom prst="rect">
            <a:avLst/>
          </a:prstGeom>
        </p:spPr>
      </p:pic>
      <p:pic>
        <p:nvPicPr>
          <p:cNvPr id="18" name="图片 17" descr="屏幕截图 2026-06-18 135932"/>
          <p:cNvPicPr>
            <a:picLocks noChangeAspect="1"/>
          </p:cNvPicPr>
          <p:nvPr/>
        </p:nvPicPr>
        <p:blipFill>
          <a:blip r:embed="rId4"/>
          <a:stretch>
            <a:fillRect/>
          </a:stretch>
        </p:blipFill>
        <p:spPr>
          <a:xfrm>
            <a:off x="160020" y="2534920"/>
            <a:ext cx="4596765" cy="2741930"/>
          </a:xfrm>
          <a:prstGeom prst="rect">
            <a:avLst/>
          </a:prstGeom>
        </p:spPr>
      </p:pic>
      <p:pic>
        <p:nvPicPr>
          <p:cNvPr id="20" name="图片 19" descr="屏幕截图 2026-06-18 155808"/>
          <p:cNvPicPr>
            <a:picLocks noChangeAspect="1"/>
          </p:cNvPicPr>
          <p:nvPr/>
        </p:nvPicPr>
        <p:blipFill>
          <a:blip r:embed="rId5"/>
          <a:stretch>
            <a:fillRect/>
          </a:stretch>
        </p:blipFill>
        <p:spPr>
          <a:xfrm>
            <a:off x="4843145" y="2792095"/>
            <a:ext cx="7120255" cy="2484755"/>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10" name="图片 1"/>
          <p:cNvPicPr>
            <a:picLocks noChangeAspect="1"/>
          </p:cNvPicPr>
          <p:nvPr/>
        </p:nvPicPr>
        <p:blipFill>
          <a:blip r:embed="rId1"/>
          <a:stretch>
            <a:fillRect/>
          </a:stretch>
        </p:blipFill>
        <p:spPr>
          <a:xfrm>
            <a:off x="8610600" y="0"/>
            <a:ext cx="3581400" cy="1006475"/>
          </a:xfrm>
          <a:prstGeom prst="rect">
            <a:avLst/>
          </a:prstGeom>
          <a:noFill/>
          <a:ln w="9525">
            <a:noFill/>
          </a:ln>
        </p:spPr>
      </p:pic>
      <p:cxnSp>
        <p:nvCxnSpPr>
          <p:cNvPr id="4" name="直接连接符 3"/>
          <p:cNvCxnSpPr/>
          <p:nvPr/>
        </p:nvCxnSpPr>
        <p:spPr>
          <a:xfrm>
            <a:off x="0" y="798513"/>
            <a:ext cx="11176000" cy="0"/>
          </a:xfrm>
          <a:prstGeom prst="line">
            <a:avLst/>
          </a:prstGeom>
          <a:ln w="25400">
            <a:gradFill>
              <a:gsLst>
                <a:gs pos="0">
                  <a:srgbClr val="4B649F"/>
                </a:gs>
                <a:gs pos="100000">
                  <a:srgbClr val="7DB1CD">
                    <a:alpha val="0"/>
                  </a:srgbClr>
                </a:gs>
              </a:gsLst>
              <a:lin ang="0" scaled="0"/>
            </a:gradFill>
          </a:ln>
        </p:spPr>
        <p:style>
          <a:lnRef idx="1">
            <a:schemeClr val="accent1"/>
          </a:lnRef>
          <a:fillRef idx="0">
            <a:schemeClr val="accent1"/>
          </a:fillRef>
          <a:effectRef idx="0">
            <a:schemeClr val="accent1"/>
          </a:effectRef>
          <a:fontRef idx="minor">
            <a:schemeClr val="tx1"/>
          </a:fontRef>
        </p:style>
      </p:cxnSp>
      <p:sp>
        <p:nvSpPr>
          <p:cNvPr id="5" name="矩形 4"/>
          <p:cNvSpPr/>
          <p:nvPr/>
        </p:nvSpPr>
        <p:spPr>
          <a:xfrm>
            <a:off x="0" y="6724650"/>
            <a:ext cx="12192000" cy="133350"/>
          </a:xfrm>
          <a:prstGeom prst="rect">
            <a:avLst/>
          </a:prstGeom>
          <a:solidFill>
            <a:srgbClr val="4B649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1">
              <a:ln>
                <a:noFill/>
              </a:ln>
              <a:solidFill>
                <a:schemeClr val="lt1"/>
              </a:solidFill>
              <a:effectLst/>
              <a:uLnTx/>
              <a:uFillTx/>
              <a:latin typeface="+mn-lt"/>
              <a:ea typeface="+mn-ea"/>
              <a:cs typeface="+mn-cs"/>
            </a:endParaRPr>
          </a:p>
        </p:txBody>
      </p:sp>
      <p:grpSp>
        <p:nvGrpSpPr>
          <p:cNvPr id="17414" name="组合 5"/>
          <p:cNvGrpSpPr/>
          <p:nvPr/>
        </p:nvGrpSpPr>
        <p:grpSpPr>
          <a:xfrm>
            <a:off x="233363" y="125413"/>
            <a:ext cx="635000" cy="635000"/>
            <a:chOff x="5288161" y="2234042"/>
            <a:chExt cx="1607262" cy="1607262"/>
          </a:xfrm>
        </p:grpSpPr>
        <p:sp>
          <p:nvSpPr>
            <p:cNvPr id="7" name="椭圆 6"/>
            <p:cNvSpPr/>
            <p:nvPr/>
          </p:nvSpPr>
          <p:spPr>
            <a:xfrm>
              <a:off x="5288161" y="2234042"/>
              <a:ext cx="1607262" cy="1607262"/>
            </a:xfrm>
            <a:prstGeom prst="ellipse">
              <a:avLst/>
            </a:prstGeom>
            <a:solidFill>
              <a:srgbClr val="4B649F"/>
            </a:solidFill>
            <a:ln w="19050">
              <a:solidFill>
                <a:srgbClr val="4B649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1">
                <a:ln>
                  <a:noFill/>
                </a:ln>
                <a:solidFill>
                  <a:schemeClr val="lt1"/>
                </a:solidFill>
                <a:effectLst/>
                <a:uLnTx/>
                <a:uFillTx/>
                <a:latin typeface="+mn-lt"/>
                <a:ea typeface="+mn-ea"/>
                <a:cs typeface="+mn-cs"/>
              </a:endParaRPr>
            </a:p>
          </p:txBody>
        </p:sp>
        <p:sp>
          <p:nvSpPr>
            <p:cNvPr id="8" name="椭圆 7"/>
            <p:cNvSpPr/>
            <p:nvPr/>
          </p:nvSpPr>
          <p:spPr>
            <a:xfrm>
              <a:off x="5396650" y="2334495"/>
              <a:ext cx="1390282" cy="1390282"/>
            </a:xfrm>
            <a:prstGeom prst="ellipse">
              <a:avLst/>
            </a:prstGeom>
            <a:solidFill>
              <a:schemeClr val="bg1"/>
            </a:solidFill>
            <a:ln w="19050">
              <a:solidFill>
                <a:srgbClr val="4B649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1">
                <a:ln>
                  <a:noFill/>
                </a:ln>
                <a:solidFill>
                  <a:schemeClr val="lt1"/>
                </a:solidFill>
                <a:effectLst/>
                <a:uLnTx/>
                <a:uFillTx/>
                <a:latin typeface="+mn-lt"/>
                <a:ea typeface="+mn-ea"/>
                <a:cs typeface="+mn-cs"/>
              </a:endParaRPr>
            </a:p>
          </p:txBody>
        </p:sp>
        <p:sp>
          <p:nvSpPr>
            <p:cNvPr id="17440" name="KSO_Shape"/>
            <p:cNvSpPr/>
            <p:nvPr/>
          </p:nvSpPr>
          <p:spPr>
            <a:xfrm>
              <a:off x="5547153" y="2697761"/>
              <a:ext cx="1089278" cy="662788"/>
            </a:xfrm>
            <a:custGeom>
              <a:avLst/>
              <a:gdLst>
                <a:gd name="txL" fmla="*/ 0 w 3931"/>
                <a:gd name="txT" fmla="*/ 0 h 2392"/>
                <a:gd name="txR" fmla="*/ 3931 w 3931"/>
                <a:gd name="txB" fmla="*/ 2392 h 2392"/>
              </a:gdLst>
              <a:ahLst/>
              <a:cxnLst>
                <a:cxn ang="0">
                  <a:pos x="844045" y="356609"/>
                </a:cxn>
                <a:cxn ang="0">
                  <a:pos x="561681" y="235522"/>
                </a:cxn>
                <a:cxn ang="0">
                  <a:pos x="243848" y="356609"/>
                </a:cxn>
                <a:cxn ang="0">
                  <a:pos x="155176" y="319756"/>
                </a:cxn>
                <a:cxn ang="0">
                  <a:pos x="155176" y="428374"/>
                </a:cxn>
                <a:cxn ang="0">
                  <a:pos x="179283" y="461624"/>
                </a:cxn>
                <a:cxn ang="0">
                  <a:pos x="154622" y="494874"/>
                </a:cxn>
                <a:cxn ang="0">
                  <a:pos x="180946" y="611804"/>
                </a:cxn>
                <a:cxn ang="0">
                  <a:pos x="103358" y="611804"/>
                </a:cxn>
                <a:cxn ang="0">
                  <a:pos x="129960" y="494320"/>
                </a:cxn>
                <a:cxn ang="0">
                  <a:pos x="108346" y="461624"/>
                </a:cxn>
                <a:cxn ang="0">
                  <a:pos x="129128" y="429205"/>
                </a:cxn>
                <a:cxn ang="0">
                  <a:pos x="129128" y="308950"/>
                </a:cxn>
                <a:cxn ang="0">
                  <a:pos x="0" y="254918"/>
                </a:cxn>
                <a:cxn ang="0">
                  <a:pos x="568054" y="0"/>
                </a:cxn>
                <a:cxn ang="0">
                  <a:pos x="1089278" y="258243"/>
                </a:cxn>
                <a:cxn ang="0">
                  <a:pos x="844045" y="356609"/>
                </a:cxn>
                <a:cxn ang="0">
                  <a:pos x="555307" y="297035"/>
                </a:cxn>
                <a:cxn ang="0">
                  <a:pos x="811624" y="384040"/>
                </a:cxn>
                <a:cxn ang="0">
                  <a:pos x="811624" y="594902"/>
                </a:cxn>
                <a:cxn ang="0">
                  <a:pos x="542284" y="662788"/>
                </a:cxn>
                <a:cxn ang="0">
                  <a:pos x="304532" y="594902"/>
                </a:cxn>
                <a:cxn ang="0">
                  <a:pos x="304532" y="384040"/>
                </a:cxn>
                <a:cxn ang="0">
                  <a:pos x="555307" y="297035"/>
                </a:cxn>
                <a:cxn ang="0">
                  <a:pos x="551982" y="623996"/>
                </a:cxn>
                <a:cxn ang="0">
                  <a:pos x="758698" y="572458"/>
                </a:cxn>
                <a:cxn ang="0">
                  <a:pos x="551982" y="520643"/>
                </a:cxn>
                <a:cxn ang="0">
                  <a:pos x="345543" y="572458"/>
                </a:cxn>
                <a:cxn ang="0">
                  <a:pos x="551982" y="623996"/>
                </a:cxn>
              </a:cxnLst>
              <a:rect l="txL" t="txT" r="txR" b="txB"/>
              <a:pathLst>
                <a:path w="3931" h="2392">
                  <a:moveTo>
                    <a:pt x="3046" y="1287"/>
                  </a:moveTo>
                  <a:cubicBezTo>
                    <a:pt x="3046" y="1287"/>
                    <a:pt x="2618" y="850"/>
                    <a:pt x="2027" y="850"/>
                  </a:cubicBezTo>
                  <a:cubicBezTo>
                    <a:pt x="1450" y="850"/>
                    <a:pt x="880" y="1287"/>
                    <a:pt x="880" y="1287"/>
                  </a:cubicBezTo>
                  <a:cubicBezTo>
                    <a:pt x="560" y="1154"/>
                    <a:pt x="560" y="1154"/>
                    <a:pt x="560" y="1154"/>
                  </a:cubicBezTo>
                  <a:cubicBezTo>
                    <a:pt x="560" y="1546"/>
                    <a:pt x="560" y="1546"/>
                    <a:pt x="560" y="1546"/>
                  </a:cubicBezTo>
                  <a:cubicBezTo>
                    <a:pt x="610" y="1563"/>
                    <a:pt x="647" y="1610"/>
                    <a:pt x="647" y="1666"/>
                  </a:cubicBezTo>
                  <a:cubicBezTo>
                    <a:pt x="647" y="1723"/>
                    <a:pt x="609" y="1769"/>
                    <a:pt x="558" y="1786"/>
                  </a:cubicBezTo>
                  <a:cubicBezTo>
                    <a:pt x="653" y="2208"/>
                    <a:pt x="653" y="2208"/>
                    <a:pt x="653" y="2208"/>
                  </a:cubicBezTo>
                  <a:cubicBezTo>
                    <a:pt x="373" y="2208"/>
                    <a:pt x="373" y="2208"/>
                    <a:pt x="373" y="2208"/>
                  </a:cubicBezTo>
                  <a:cubicBezTo>
                    <a:pt x="469" y="1784"/>
                    <a:pt x="469" y="1784"/>
                    <a:pt x="469" y="1784"/>
                  </a:cubicBezTo>
                  <a:cubicBezTo>
                    <a:pt x="423" y="1764"/>
                    <a:pt x="391" y="1719"/>
                    <a:pt x="391" y="1666"/>
                  </a:cubicBezTo>
                  <a:cubicBezTo>
                    <a:pt x="391" y="1614"/>
                    <a:pt x="422" y="1570"/>
                    <a:pt x="466" y="1549"/>
                  </a:cubicBezTo>
                  <a:cubicBezTo>
                    <a:pt x="466" y="1115"/>
                    <a:pt x="466" y="1115"/>
                    <a:pt x="466" y="1115"/>
                  </a:cubicBezTo>
                  <a:cubicBezTo>
                    <a:pt x="0" y="920"/>
                    <a:pt x="0" y="920"/>
                    <a:pt x="0" y="920"/>
                  </a:cubicBezTo>
                  <a:cubicBezTo>
                    <a:pt x="2050" y="0"/>
                    <a:pt x="2050" y="0"/>
                    <a:pt x="2050" y="0"/>
                  </a:cubicBezTo>
                  <a:cubicBezTo>
                    <a:pt x="3931" y="932"/>
                    <a:pt x="3931" y="932"/>
                    <a:pt x="3931" y="932"/>
                  </a:cubicBezTo>
                  <a:lnTo>
                    <a:pt x="3046" y="1287"/>
                  </a:lnTo>
                  <a:close/>
                  <a:moveTo>
                    <a:pt x="2004" y="1072"/>
                  </a:moveTo>
                  <a:cubicBezTo>
                    <a:pt x="2598" y="1072"/>
                    <a:pt x="2929" y="1386"/>
                    <a:pt x="2929" y="1386"/>
                  </a:cubicBezTo>
                  <a:cubicBezTo>
                    <a:pt x="2929" y="2147"/>
                    <a:pt x="2929" y="2147"/>
                    <a:pt x="2929" y="2147"/>
                  </a:cubicBezTo>
                  <a:cubicBezTo>
                    <a:pt x="2929" y="2147"/>
                    <a:pt x="2586" y="2392"/>
                    <a:pt x="1957" y="2392"/>
                  </a:cubicBezTo>
                  <a:cubicBezTo>
                    <a:pt x="1328" y="2392"/>
                    <a:pt x="1099" y="2147"/>
                    <a:pt x="1099" y="2147"/>
                  </a:cubicBezTo>
                  <a:cubicBezTo>
                    <a:pt x="1099" y="1386"/>
                    <a:pt x="1099" y="1386"/>
                    <a:pt x="1099" y="1386"/>
                  </a:cubicBezTo>
                  <a:cubicBezTo>
                    <a:pt x="1099" y="1386"/>
                    <a:pt x="1410" y="1072"/>
                    <a:pt x="2004" y="1072"/>
                  </a:cubicBezTo>
                  <a:close/>
                  <a:moveTo>
                    <a:pt x="1992" y="2252"/>
                  </a:moveTo>
                  <a:cubicBezTo>
                    <a:pt x="2404" y="2252"/>
                    <a:pt x="2738" y="2168"/>
                    <a:pt x="2738" y="2066"/>
                  </a:cubicBezTo>
                  <a:cubicBezTo>
                    <a:pt x="2738" y="1963"/>
                    <a:pt x="2404" y="1879"/>
                    <a:pt x="1992" y="1879"/>
                  </a:cubicBezTo>
                  <a:cubicBezTo>
                    <a:pt x="1581" y="1879"/>
                    <a:pt x="1247" y="1963"/>
                    <a:pt x="1247" y="2066"/>
                  </a:cubicBezTo>
                  <a:cubicBezTo>
                    <a:pt x="1247" y="2168"/>
                    <a:pt x="1581" y="2252"/>
                    <a:pt x="1992" y="2252"/>
                  </a:cubicBezTo>
                  <a:close/>
                </a:path>
              </a:pathLst>
            </a:custGeom>
            <a:solidFill>
              <a:srgbClr val="4B649F">
                <a:alpha val="100000"/>
              </a:srgbClr>
            </a:solidFill>
            <a:ln w="9525">
              <a:noFill/>
            </a:ln>
          </p:spPr>
          <p:txBody>
            <a:bodyPr/>
            <a:lstStyle/>
            <a:p>
              <a:endParaRPr lang="zh-CN" altLang="en-US" sz="1800"/>
            </a:p>
          </p:txBody>
        </p:sp>
      </p:grpSp>
      <p:sp>
        <p:nvSpPr>
          <p:cNvPr id="19" name="文本框 2"/>
          <p:cNvSpPr txBox="1"/>
          <p:nvPr/>
        </p:nvSpPr>
        <p:spPr>
          <a:xfrm>
            <a:off x="917258" y="194310"/>
            <a:ext cx="4541837" cy="478155"/>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indent="0" eaLnBrk="1" hangingPunct="1">
              <a:buNone/>
            </a:pPr>
            <a:r>
              <a:rPr lang="zh-CN" altLang="en-US" b="1" dirty="0">
                <a:gradFill>
                  <a:gsLst>
                    <a:gs pos="0">
                      <a:srgbClr val="012D86"/>
                    </a:gs>
                    <a:gs pos="100000">
                      <a:srgbClr val="0E2557"/>
                    </a:gs>
                  </a:gsLst>
                  <a:lin scaled="0"/>
                </a:gradFill>
                <a:latin typeface="Arial" panose="020B0604020202020204" pitchFamily="34" charset="0"/>
                <a:sym typeface="+mn-ea"/>
              </a:rPr>
              <a:t>研究</a:t>
            </a:r>
            <a:r>
              <a:rPr lang="zh-CN" altLang="en-US" b="1" dirty="0">
                <a:gradFill>
                  <a:gsLst>
                    <a:gs pos="0">
                      <a:srgbClr val="012D86"/>
                    </a:gs>
                    <a:gs pos="100000">
                      <a:srgbClr val="0E2557"/>
                    </a:gs>
                  </a:gsLst>
                  <a:lin scaled="0"/>
                </a:gradFill>
                <a:latin typeface="Arial" panose="020B0604020202020204" pitchFamily="34" charset="0"/>
                <a:sym typeface="+mn-ea"/>
              </a:rPr>
              <a:t>结果</a:t>
            </a:r>
            <a:endParaRPr lang="zh-CN" altLang="en-US" b="1" dirty="0">
              <a:gradFill>
                <a:gsLst>
                  <a:gs pos="0">
                    <a:srgbClr val="012D86"/>
                  </a:gs>
                  <a:gs pos="100000">
                    <a:srgbClr val="0E2557"/>
                  </a:gs>
                </a:gsLst>
                <a:lin scaled="0"/>
              </a:gradFill>
              <a:latin typeface="Arial" panose="020B0604020202020204" pitchFamily="34" charset="0"/>
              <a:sym typeface="+mn-ea"/>
            </a:endParaRPr>
          </a:p>
        </p:txBody>
      </p:sp>
      <p:sp>
        <p:nvSpPr>
          <p:cNvPr id="2" name="文本框 1"/>
          <p:cNvSpPr txBox="1"/>
          <p:nvPr/>
        </p:nvSpPr>
        <p:spPr>
          <a:xfrm>
            <a:off x="505460" y="986155"/>
            <a:ext cx="11181715" cy="1493520"/>
          </a:xfrm>
          <a:prstGeom prst="rect">
            <a:avLst/>
          </a:prstGeom>
          <a:noFill/>
        </p:spPr>
        <p:txBody>
          <a:bodyPr wrap="square" rtlCol="0" anchor="t">
            <a:noAutofit/>
          </a:bodyPr>
          <a:p>
            <a:endParaRPr lang="zh-CN" altLang="en-US" sz="1800">
              <a:latin typeface="宋体" panose="02010600030101010101" pitchFamily="2" charset="-122"/>
              <a:ea typeface="宋体" panose="02010600030101010101" pitchFamily="2" charset="-122"/>
              <a:cs typeface="宋体" panose="02010600030101010101" pitchFamily="2" charset="-122"/>
            </a:endParaRPr>
          </a:p>
        </p:txBody>
      </p:sp>
      <p:pic>
        <p:nvPicPr>
          <p:cNvPr id="6" name="图片 5"/>
          <p:cNvPicPr>
            <a:picLocks noChangeAspect="1"/>
          </p:cNvPicPr>
          <p:nvPr/>
        </p:nvPicPr>
        <p:blipFill>
          <a:blip r:embed="rId2"/>
          <a:srcRect b="37703"/>
          <a:stretch>
            <a:fillRect/>
          </a:stretch>
        </p:blipFill>
        <p:spPr>
          <a:xfrm>
            <a:off x="142875" y="2181860"/>
            <a:ext cx="10379075" cy="3750945"/>
          </a:xfrm>
          <a:prstGeom prst="rect">
            <a:avLst/>
          </a:prstGeom>
        </p:spPr>
      </p:pic>
      <p:sp>
        <p:nvSpPr>
          <p:cNvPr id="9" name="文本框 8"/>
          <p:cNvSpPr txBox="1"/>
          <p:nvPr/>
        </p:nvSpPr>
        <p:spPr>
          <a:xfrm>
            <a:off x="9478645" y="4145280"/>
            <a:ext cx="2541270" cy="306705"/>
          </a:xfrm>
          <a:prstGeom prst="rect">
            <a:avLst/>
          </a:prstGeom>
          <a:noFill/>
        </p:spPr>
        <p:txBody>
          <a:bodyPr wrap="square" rtlCol="0" anchor="t">
            <a:spAutoFit/>
          </a:bodyPr>
          <a:p>
            <a:pPr algn="just"/>
            <a:r>
              <a:rPr lang="zh-CN" altLang="en-US" sz="1400">
                <a:latin typeface="宋体" panose="02010600030101010101" pitchFamily="2" charset="-122"/>
                <a:ea typeface="宋体" panose="02010600030101010101" pitchFamily="2" charset="-122"/>
                <a:cs typeface="宋体" panose="02010600030101010101" pitchFamily="2" charset="-122"/>
              </a:rPr>
              <a:t>这段代码用于生成</a:t>
            </a:r>
            <a:r>
              <a:rPr lang="en-US" altLang="zh-CN" sz="1400">
                <a:latin typeface="宋体" panose="02010600030101010101" pitchFamily="2" charset="-122"/>
                <a:ea typeface="宋体" panose="02010600030101010101" pitchFamily="2" charset="-122"/>
                <a:cs typeface="宋体" panose="02010600030101010101" pitchFamily="2" charset="-122"/>
              </a:rPr>
              <a:t>Figure 2</a:t>
            </a:r>
            <a:r>
              <a:rPr lang="zh-CN" altLang="en-US" sz="1400">
                <a:latin typeface="宋体" panose="02010600030101010101" pitchFamily="2" charset="-122"/>
                <a:ea typeface="宋体" panose="02010600030101010101" pitchFamily="2" charset="-122"/>
                <a:cs typeface="宋体" panose="02010600030101010101" pitchFamily="2" charset="-122"/>
              </a:rPr>
              <a:t>。</a:t>
            </a:r>
            <a:endParaRPr lang="zh-CN" altLang="en-US" sz="1400">
              <a:latin typeface="宋体" panose="02010600030101010101" pitchFamily="2" charset="-122"/>
              <a:ea typeface="宋体" panose="02010600030101010101" pitchFamily="2" charset="-122"/>
              <a:cs typeface="宋体" panose="02010600030101010101" pitchFamily="2" charset="-122"/>
            </a:endParaRPr>
          </a:p>
        </p:txBody>
      </p:sp>
      <p:cxnSp>
        <p:nvCxnSpPr>
          <p:cNvPr id="14" name="直接箭头连接符 13"/>
          <p:cNvCxnSpPr/>
          <p:nvPr/>
        </p:nvCxnSpPr>
        <p:spPr>
          <a:xfrm>
            <a:off x="7816215" y="4297680"/>
            <a:ext cx="1556385" cy="2540"/>
          </a:xfrm>
          <a:prstGeom prst="straightConnector1">
            <a:avLst/>
          </a:prstGeom>
          <a:ln>
            <a:solidFill>
              <a:schemeClr val="tx1"/>
            </a:solidFill>
            <a:tailEnd type="arrow"/>
          </a:ln>
        </p:spPr>
        <p:style>
          <a:lnRef idx="2">
            <a:schemeClr val="accent1"/>
          </a:lnRef>
          <a:fillRef idx="0">
            <a:srgbClr val="FFFFFF"/>
          </a:fillRef>
          <a:effectRef idx="0">
            <a:srgbClr val="FFFFFF"/>
          </a:effectRef>
          <a:fontRef idx="minor">
            <a:schemeClr val="tx1"/>
          </a:fontRef>
        </p:style>
      </p:cxnSp>
      <p:pic>
        <p:nvPicPr>
          <p:cNvPr id="3" name="图片 2"/>
          <p:cNvPicPr>
            <a:picLocks noChangeAspect="1"/>
          </p:cNvPicPr>
          <p:nvPr/>
        </p:nvPicPr>
        <p:blipFill>
          <a:blip r:embed="rId3"/>
          <a:stretch>
            <a:fillRect/>
          </a:stretch>
        </p:blipFill>
        <p:spPr>
          <a:xfrm>
            <a:off x="279400" y="883285"/>
            <a:ext cx="11299190" cy="149352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10" name="图片 1"/>
          <p:cNvPicPr>
            <a:picLocks noChangeAspect="1"/>
          </p:cNvPicPr>
          <p:nvPr/>
        </p:nvPicPr>
        <p:blipFill>
          <a:blip r:embed="rId1"/>
          <a:stretch>
            <a:fillRect/>
          </a:stretch>
        </p:blipFill>
        <p:spPr>
          <a:xfrm>
            <a:off x="8610600" y="0"/>
            <a:ext cx="3581400" cy="1006475"/>
          </a:xfrm>
          <a:prstGeom prst="rect">
            <a:avLst/>
          </a:prstGeom>
          <a:noFill/>
          <a:ln w="9525">
            <a:noFill/>
          </a:ln>
        </p:spPr>
      </p:pic>
      <p:cxnSp>
        <p:nvCxnSpPr>
          <p:cNvPr id="4" name="直接连接符 3"/>
          <p:cNvCxnSpPr/>
          <p:nvPr/>
        </p:nvCxnSpPr>
        <p:spPr>
          <a:xfrm>
            <a:off x="0" y="798513"/>
            <a:ext cx="11176000" cy="0"/>
          </a:xfrm>
          <a:prstGeom prst="line">
            <a:avLst/>
          </a:prstGeom>
          <a:ln w="25400">
            <a:gradFill>
              <a:gsLst>
                <a:gs pos="0">
                  <a:srgbClr val="4B649F"/>
                </a:gs>
                <a:gs pos="100000">
                  <a:srgbClr val="7DB1CD">
                    <a:alpha val="0"/>
                  </a:srgbClr>
                </a:gs>
              </a:gsLst>
              <a:lin ang="0" scaled="0"/>
            </a:gradFill>
          </a:ln>
        </p:spPr>
        <p:style>
          <a:lnRef idx="1">
            <a:schemeClr val="accent1"/>
          </a:lnRef>
          <a:fillRef idx="0">
            <a:schemeClr val="accent1"/>
          </a:fillRef>
          <a:effectRef idx="0">
            <a:schemeClr val="accent1"/>
          </a:effectRef>
          <a:fontRef idx="minor">
            <a:schemeClr val="tx1"/>
          </a:fontRef>
        </p:style>
      </p:cxnSp>
      <p:sp>
        <p:nvSpPr>
          <p:cNvPr id="5" name="矩形 4"/>
          <p:cNvSpPr/>
          <p:nvPr/>
        </p:nvSpPr>
        <p:spPr>
          <a:xfrm>
            <a:off x="0" y="6724650"/>
            <a:ext cx="12192000" cy="133350"/>
          </a:xfrm>
          <a:prstGeom prst="rect">
            <a:avLst/>
          </a:prstGeom>
          <a:solidFill>
            <a:srgbClr val="4B649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1">
              <a:ln>
                <a:noFill/>
              </a:ln>
              <a:solidFill>
                <a:schemeClr val="lt1"/>
              </a:solidFill>
              <a:effectLst/>
              <a:uLnTx/>
              <a:uFillTx/>
              <a:latin typeface="+mn-lt"/>
              <a:ea typeface="+mn-ea"/>
              <a:cs typeface="+mn-cs"/>
            </a:endParaRPr>
          </a:p>
        </p:txBody>
      </p:sp>
      <p:grpSp>
        <p:nvGrpSpPr>
          <p:cNvPr id="17414" name="组合 5"/>
          <p:cNvGrpSpPr/>
          <p:nvPr/>
        </p:nvGrpSpPr>
        <p:grpSpPr>
          <a:xfrm>
            <a:off x="233363" y="125413"/>
            <a:ext cx="635000" cy="635000"/>
            <a:chOff x="5288161" y="2234042"/>
            <a:chExt cx="1607262" cy="1607262"/>
          </a:xfrm>
        </p:grpSpPr>
        <p:sp>
          <p:nvSpPr>
            <p:cNvPr id="7" name="椭圆 6"/>
            <p:cNvSpPr/>
            <p:nvPr/>
          </p:nvSpPr>
          <p:spPr>
            <a:xfrm>
              <a:off x="5288161" y="2234042"/>
              <a:ext cx="1607262" cy="1607262"/>
            </a:xfrm>
            <a:prstGeom prst="ellipse">
              <a:avLst/>
            </a:prstGeom>
            <a:solidFill>
              <a:srgbClr val="4B649F"/>
            </a:solidFill>
            <a:ln w="19050">
              <a:solidFill>
                <a:srgbClr val="4B649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1">
                <a:ln>
                  <a:noFill/>
                </a:ln>
                <a:solidFill>
                  <a:schemeClr val="lt1"/>
                </a:solidFill>
                <a:effectLst/>
                <a:uLnTx/>
                <a:uFillTx/>
                <a:latin typeface="+mn-lt"/>
                <a:ea typeface="+mn-ea"/>
                <a:cs typeface="+mn-cs"/>
              </a:endParaRPr>
            </a:p>
          </p:txBody>
        </p:sp>
        <p:sp>
          <p:nvSpPr>
            <p:cNvPr id="8" name="椭圆 7"/>
            <p:cNvSpPr/>
            <p:nvPr/>
          </p:nvSpPr>
          <p:spPr>
            <a:xfrm>
              <a:off x="5396650" y="2334495"/>
              <a:ext cx="1390282" cy="1390282"/>
            </a:xfrm>
            <a:prstGeom prst="ellipse">
              <a:avLst/>
            </a:prstGeom>
            <a:solidFill>
              <a:schemeClr val="bg1"/>
            </a:solidFill>
            <a:ln w="19050">
              <a:solidFill>
                <a:srgbClr val="4B649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1">
                <a:ln>
                  <a:noFill/>
                </a:ln>
                <a:solidFill>
                  <a:schemeClr val="lt1"/>
                </a:solidFill>
                <a:effectLst/>
                <a:uLnTx/>
                <a:uFillTx/>
                <a:latin typeface="+mn-lt"/>
                <a:ea typeface="+mn-ea"/>
                <a:cs typeface="+mn-cs"/>
              </a:endParaRPr>
            </a:p>
          </p:txBody>
        </p:sp>
        <p:sp>
          <p:nvSpPr>
            <p:cNvPr id="17440" name="KSO_Shape"/>
            <p:cNvSpPr/>
            <p:nvPr/>
          </p:nvSpPr>
          <p:spPr>
            <a:xfrm>
              <a:off x="5547153" y="2697761"/>
              <a:ext cx="1089278" cy="662788"/>
            </a:xfrm>
            <a:custGeom>
              <a:avLst/>
              <a:gdLst>
                <a:gd name="txL" fmla="*/ 0 w 3931"/>
                <a:gd name="txT" fmla="*/ 0 h 2392"/>
                <a:gd name="txR" fmla="*/ 3931 w 3931"/>
                <a:gd name="txB" fmla="*/ 2392 h 2392"/>
              </a:gdLst>
              <a:ahLst/>
              <a:cxnLst>
                <a:cxn ang="0">
                  <a:pos x="844045" y="356609"/>
                </a:cxn>
                <a:cxn ang="0">
                  <a:pos x="561681" y="235522"/>
                </a:cxn>
                <a:cxn ang="0">
                  <a:pos x="243848" y="356609"/>
                </a:cxn>
                <a:cxn ang="0">
                  <a:pos x="155176" y="319756"/>
                </a:cxn>
                <a:cxn ang="0">
                  <a:pos x="155176" y="428374"/>
                </a:cxn>
                <a:cxn ang="0">
                  <a:pos x="179283" y="461624"/>
                </a:cxn>
                <a:cxn ang="0">
                  <a:pos x="154622" y="494874"/>
                </a:cxn>
                <a:cxn ang="0">
                  <a:pos x="180946" y="611804"/>
                </a:cxn>
                <a:cxn ang="0">
                  <a:pos x="103358" y="611804"/>
                </a:cxn>
                <a:cxn ang="0">
                  <a:pos x="129960" y="494320"/>
                </a:cxn>
                <a:cxn ang="0">
                  <a:pos x="108346" y="461624"/>
                </a:cxn>
                <a:cxn ang="0">
                  <a:pos x="129128" y="429205"/>
                </a:cxn>
                <a:cxn ang="0">
                  <a:pos x="129128" y="308950"/>
                </a:cxn>
                <a:cxn ang="0">
                  <a:pos x="0" y="254918"/>
                </a:cxn>
                <a:cxn ang="0">
                  <a:pos x="568054" y="0"/>
                </a:cxn>
                <a:cxn ang="0">
                  <a:pos x="1089278" y="258243"/>
                </a:cxn>
                <a:cxn ang="0">
                  <a:pos x="844045" y="356609"/>
                </a:cxn>
                <a:cxn ang="0">
                  <a:pos x="555307" y="297035"/>
                </a:cxn>
                <a:cxn ang="0">
                  <a:pos x="811624" y="384040"/>
                </a:cxn>
                <a:cxn ang="0">
                  <a:pos x="811624" y="594902"/>
                </a:cxn>
                <a:cxn ang="0">
                  <a:pos x="542284" y="662788"/>
                </a:cxn>
                <a:cxn ang="0">
                  <a:pos x="304532" y="594902"/>
                </a:cxn>
                <a:cxn ang="0">
                  <a:pos x="304532" y="384040"/>
                </a:cxn>
                <a:cxn ang="0">
                  <a:pos x="555307" y="297035"/>
                </a:cxn>
                <a:cxn ang="0">
                  <a:pos x="551982" y="623996"/>
                </a:cxn>
                <a:cxn ang="0">
                  <a:pos x="758698" y="572458"/>
                </a:cxn>
                <a:cxn ang="0">
                  <a:pos x="551982" y="520643"/>
                </a:cxn>
                <a:cxn ang="0">
                  <a:pos x="345543" y="572458"/>
                </a:cxn>
                <a:cxn ang="0">
                  <a:pos x="551982" y="623996"/>
                </a:cxn>
              </a:cxnLst>
              <a:rect l="txL" t="txT" r="txR" b="txB"/>
              <a:pathLst>
                <a:path w="3931" h="2392">
                  <a:moveTo>
                    <a:pt x="3046" y="1287"/>
                  </a:moveTo>
                  <a:cubicBezTo>
                    <a:pt x="3046" y="1287"/>
                    <a:pt x="2618" y="850"/>
                    <a:pt x="2027" y="850"/>
                  </a:cubicBezTo>
                  <a:cubicBezTo>
                    <a:pt x="1450" y="850"/>
                    <a:pt x="880" y="1287"/>
                    <a:pt x="880" y="1287"/>
                  </a:cubicBezTo>
                  <a:cubicBezTo>
                    <a:pt x="560" y="1154"/>
                    <a:pt x="560" y="1154"/>
                    <a:pt x="560" y="1154"/>
                  </a:cubicBezTo>
                  <a:cubicBezTo>
                    <a:pt x="560" y="1546"/>
                    <a:pt x="560" y="1546"/>
                    <a:pt x="560" y="1546"/>
                  </a:cubicBezTo>
                  <a:cubicBezTo>
                    <a:pt x="610" y="1563"/>
                    <a:pt x="647" y="1610"/>
                    <a:pt x="647" y="1666"/>
                  </a:cubicBezTo>
                  <a:cubicBezTo>
                    <a:pt x="647" y="1723"/>
                    <a:pt x="609" y="1769"/>
                    <a:pt x="558" y="1786"/>
                  </a:cubicBezTo>
                  <a:cubicBezTo>
                    <a:pt x="653" y="2208"/>
                    <a:pt x="653" y="2208"/>
                    <a:pt x="653" y="2208"/>
                  </a:cubicBezTo>
                  <a:cubicBezTo>
                    <a:pt x="373" y="2208"/>
                    <a:pt x="373" y="2208"/>
                    <a:pt x="373" y="2208"/>
                  </a:cubicBezTo>
                  <a:cubicBezTo>
                    <a:pt x="469" y="1784"/>
                    <a:pt x="469" y="1784"/>
                    <a:pt x="469" y="1784"/>
                  </a:cubicBezTo>
                  <a:cubicBezTo>
                    <a:pt x="423" y="1764"/>
                    <a:pt x="391" y="1719"/>
                    <a:pt x="391" y="1666"/>
                  </a:cubicBezTo>
                  <a:cubicBezTo>
                    <a:pt x="391" y="1614"/>
                    <a:pt x="422" y="1570"/>
                    <a:pt x="466" y="1549"/>
                  </a:cubicBezTo>
                  <a:cubicBezTo>
                    <a:pt x="466" y="1115"/>
                    <a:pt x="466" y="1115"/>
                    <a:pt x="466" y="1115"/>
                  </a:cubicBezTo>
                  <a:cubicBezTo>
                    <a:pt x="0" y="920"/>
                    <a:pt x="0" y="920"/>
                    <a:pt x="0" y="920"/>
                  </a:cubicBezTo>
                  <a:cubicBezTo>
                    <a:pt x="2050" y="0"/>
                    <a:pt x="2050" y="0"/>
                    <a:pt x="2050" y="0"/>
                  </a:cubicBezTo>
                  <a:cubicBezTo>
                    <a:pt x="3931" y="932"/>
                    <a:pt x="3931" y="932"/>
                    <a:pt x="3931" y="932"/>
                  </a:cubicBezTo>
                  <a:lnTo>
                    <a:pt x="3046" y="1287"/>
                  </a:lnTo>
                  <a:close/>
                  <a:moveTo>
                    <a:pt x="2004" y="1072"/>
                  </a:moveTo>
                  <a:cubicBezTo>
                    <a:pt x="2598" y="1072"/>
                    <a:pt x="2929" y="1386"/>
                    <a:pt x="2929" y="1386"/>
                  </a:cubicBezTo>
                  <a:cubicBezTo>
                    <a:pt x="2929" y="2147"/>
                    <a:pt x="2929" y="2147"/>
                    <a:pt x="2929" y="2147"/>
                  </a:cubicBezTo>
                  <a:cubicBezTo>
                    <a:pt x="2929" y="2147"/>
                    <a:pt x="2586" y="2392"/>
                    <a:pt x="1957" y="2392"/>
                  </a:cubicBezTo>
                  <a:cubicBezTo>
                    <a:pt x="1328" y="2392"/>
                    <a:pt x="1099" y="2147"/>
                    <a:pt x="1099" y="2147"/>
                  </a:cubicBezTo>
                  <a:cubicBezTo>
                    <a:pt x="1099" y="1386"/>
                    <a:pt x="1099" y="1386"/>
                    <a:pt x="1099" y="1386"/>
                  </a:cubicBezTo>
                  <a:cubicBezTo>
                    <a:pt x="1099" y="1386"/>
                    <a:pt x="1410" y="1072"/>
                    <a:pt x="2004" y="1072"/>
                  </a:cubicBezTo>
                  <a:close/>
                  <a:moveTo>
                    <a:pt x="1992" y="2252"/>
                  </a:moveTo>
                  <a:cubicBezTo>
                    <a:pt x="2404" y="2252"/>
                    <a:pt x="2738" y="2168"/>
                    <a:pt x="2738" y="2066"/>
                  </a:cubicBezTo>
                  <a:cubicBezTo>
                    <a:pt x="2738" y="1963"/>
                    <a:pt x="2404" y="1879"/>
                    <a:pt x="1992" y="1879"/>
                  </a:cubicBezTo>
                  <a:cubicBezTo>
                    <a:pt x="1581" y="1879"/>
                    <a:pt x="1247" y="1963"/>
                    <a:pt x="1247" y="2066"/>
                  </a:cubicBezTo>
                  <a:cubicBezTo>
                    <a:pt x="1247" y="2168"/>
                    <a:pt x="1581" y="2252"/>
                    <a:pt x="1992" y="2252"/>
                  </a:cubicBezTo>
                  <a:close/>
                </a:path>
              </a:pathLst>
            </a:custGeom>
            <a:solidFill>
              <a:srgbClr val="4B649F">
                <a:alpha val="100000"/>
              </a:srgbClr>
            </a:solidFill>
            <a:ln w="9525">
              <a:noFill/>
            </a:ln>
          </p:spPr>
          <p:txBody>
            <a:bodyPr/>
            <a:lstStyle/>
            <a:p>
              <a:endParaRPr lang="zh-CN" altLang="en-US" sz="1800"/>
            </a:p>
          </p:txBody>
        </p:sp>
      </p:grpSp>
      <p:sp>
        <p:nvSpPr>
          <p:cNvPr id="19" name="文本框 2"/>
          <p:cNvSpPr txBox="1"/>
          <p:nvPr/>
        </p:nvSpPr>
        <p:spPr>
          <a:xfrm>
            <a:off x="917258" y="194310"/>
            <a:ext cx="4541837" cy="478155"/>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indent="0" eaLnBrk="1" hangingPunct="1">
              <a:buNone/>
            </a:pPr>
            <a:r>
              <a:rPr lang="zh-CN" altLang="en-US" b="1" dirty="0">
                <a:gradFill>
                  <a:gsLst>
                    <a:gs pos="0">
                      <a:srgbClr val="012D86"/>
                    </a:gs>
                    <a:gs pos="100000">
                      <a:srgbClr val="0E2557"/>
                    </a:gs>
                  </a:gsLst>
                  <a:lin scaled="0"/>
                </a:gradFill>
                <a:latin typeface="Arial" panose="020B0604020202020204" pitchFamily="34" charset="0"/>
                <a:sym typeface="+mn-ea"/>
              </a:rPr>
              <a:t>研究</a:t>
            </a:r>
            <a:r>
              <a:rPr lang="zh-CN" altLang="en-US" b="1" dirty="0">
                <a:gradFill>
                  <a:gsLst>
                    <a:gs pos="0">
                      <a:srgbClr val="012D86"/>
                    </a:gs>
                    <a:gs pos="100000">
                      <a:srgbClr val="0E2557"/>
                    </a:gs>
                  </a:gsLst>
                  <a:lin scaled="0"/>
                </a:gradFill>
                <a:latin typeface="Arial" panose="020B0604020202020204" pitchFamily="34" charset="0"/>
                <a:sym typeface="+mn-ea"/>
              </a:rPr>
              <a:t>结果</a:t>
            </a:r>
            <a:endParaRPr lang="zh-CN" altLang="en-US" b="1" dirty="0">
              <a:gradFill>
                <a:gsLst>
                  <a:gs pos="0">
                    <a:srgbClr val="012D86"/>
                  </a:gs>
                  <a:gs pos="100000">
                    <a:srgbClr val="0E2557"/>
                  </a:gs>
                </a:gsLst>
                <a:lin scaled="0"/>
              </a:gradFill>
              <a:latin typeface="Arial" panose="020B0604020202020204" pitchFamily="34" charset="0"/>
              <a:sym typeface="+mn-ea"/>
            </a:endParaRPr>
          </a:p>
        </p:txBody>
      </p:sp>
      <p:sp>
        <p:nvSpPr>
          <p:cNvPr id="2" name="文本框 1"/>
          <p:cNvSpPr txBox="1"/>
          <p:nvPr/>
        </p:nvSpPr>
        <p:spPr>
          <a:xfrm>
            <a:off x="505460" y="810260"/>
            <a:ext cx="11181715" cy="1493520"/>
          </a:xfrm>
          <a:prstGeom prst="rect">
            <a:avLst/>
          </a:prstGeom>
          <a:noFill/>
        </p:spPr>
        <p:txBody>
          <a:bodyPr wrap="square" rtlCol="0" anchor="t">
            <a:noAutofit/>
          </a:bodyPr>
          <a:p>
            <a:pPr marL="285750" indent="-285750" algn="l">
              <a:buFont typeface="Wingdings" panose="05000000000000000000" charset="0"/>
              <a:buChar char="Ø"/>
            </a:pPr>
            <a:r>
              <a:rPr lang="zh-CN" altLang="en-US" sz="1800" b="1">
                <a:latin typeface="宋体" panose="02010600030101010101" pitchFamily="2" charset="-122"/>
                <a:ea typeface="宋体" panose="02010600030101010101" pitchFamily="2" charset="-122"/>
                <a:cs typeface="宋体" panose="02010600030101010101" pitchFamily="2" charset="-122"/>
                <a:sym typeface="+mn-ea"/>
              </a:rPr>
              <a:t>奖赏激励与转换代价</a:t>
            </a:r>
            <a:endParaRPr lang="zh-CN" altLang="en-US" sz="1800" b="1">
              <a:latin typeface="宋体" panose="02010600030101010101" pitchFamily="2" charset="-122"/>
              <a:ea typeface="宋体" panose="02010600030101010101" pitchFamily="2" charset="-122"/>
              <a:cs typeface="宋体" panose="02010600030101010101" pitchFamily="2" charset="-122"/>
            </a:endParaRPr>
          </a:p>
          <a:p>
            <a:pPr marL="285750" indent="-285750">
              <a:buFont typeface="Wingdings" panose="05000000000000000000" charset="0"/>
              <a:buChar char="Ø"/>
            </a:pPr>
            <a:endParaRPr lang="zh-CN" altLang="en-US" sz="1800" b="1">
              <a:latin typeface="宋体" panose="02010600030101010101" pitchFamily="2" charset="-122"/>
              <a:ea typeface="宋体" panose="02010600030101010101" pitchFamily="2" charset="-122"/>
              <a:cs typeface="宋体" panose="02010600030101010101" pitchFamily="2" charset="-122"/>
            </a:endParaRPr>
          </a:p>
          <a:p>
            <a:endParaRPr lang="zh-CN" altLang="en-US" sz="1800">
              <a:latin typeface="宋体" panose="02010600030101010101" pitchFamily="2" charset="-122"/>
              <a:ea typeface="宋体" panose="02010600030101010101" pitchFamily="2" charset="-122"/>
              <a:cs typeface="宋体" panose="02010600030101010101" pitchFamily="2" charset="-122"/>
            </a:endParaRPr>
          </a:p>
        </p:txBody>
      </p:sp>
      <p:pic>
        <p:nvPicPr>
          <p:cNvPr id="3" name="图片 2"/>
          <p:cNvPicPr>
            <a:picLocks noChangeAspect="1"/>
          </p:cNvPicPr>
          <p:nvPr/>
        </p:nvPicPr>
        <p:blipFill>
          <a:blip r:embed="rId2"/>
          <a:stretch>
            <a:fillRect/>
          </a:stretch>
        </p:blipFill>
        <p:spPr>
          <a:xfrm>
            <a:off x="679450" y="1291590"/>
            <a:ext cx="4177030" cy="5304155"/>
          </a:xfrm>
          <a:prstGeom prst="rect">
            <a:avLst/>
          </a:prstGeom>
        </p:spPr>
      </p:pic>
      <p:sp>
        <p:nvSpPr>
          <p:cNvPr id="12" name="文本框 11"/>
          <p:cNvSpPr txBox="1"/>
          <p:nvPr/>
        </p:nvSpPr>
        <p:spPr>
          <a:xfrm>
            <a:off x="7436485" y="836930"/>
            <a:ext cx="2281555" cy="368300"/>
          </a:xfrm>
          <a:prstGeom prst="rect">
            <a:avLst/>
          </a:prstGeom>
          <a:noFill/>
        </p:spPr>
        <p:txBody>
          <a:bodyPr wrap="square" rtlCol="0">
            <a:spAutoFit/>
          </a:bodyPr>
          <a:p>
            <a:r>
              <a:rPr lang="zh-CN" altLang="en-US" b="1">
                <a:latin typeface="宋体" panose="02010600030101010101" pitchFamily="2" charset="-122"/>
                <a:ea typeface="宋体" panose="02010600030101010101" pitchFamily="2" charset="-122"/>
              </a:rPr>
              <a:t>（复现）</a:t>
            </a:r>
            <a:r>
              <a:rPr lang="en-US" altLang="zh-CN" b="1">
                <a:latin typeface="宋体" panose="02010600030101010101" pitchFamily="2" charset="-122"/>
                <a:ea typeface="宋体" panose="02010600030101010101" pitchFamily="2" charset="-122"/>
              </a:rPr>
              <a:t>F</a:t>
            </a:r>
            <a:r>
              <a:rPr lang="en-US" altLang="zh-CN" b="1">
                <a:latin typeface="宋体" panose="02010600030101010101" pitchFamily="2" charset="-122"/>
                <a:ea typeface="宋体" panose="02010600030101010101" pitchFamily="2" charset="-122"/>
              </a:rPr>
              <a:t>igure2</a:t>
            </a:r>
            <a:endParaRPr lang="en-US" altLang="zh-CN" b="1">
              <a:latin typeface="宋体" panose="02010600030101010101" pitchFamily="2" charset="-122"/>
              <a:ea typeface="宋体" panose="02010600030101010101" pitchFamily="2" charset="-122"/>
            </a:endParaRPr>
          </a:p>
        </p:txBody>
      </p:sp>
      <p:pic>
        <p:nvPicPr>
          <p:cNvPr id="6" name="图片 5"/>
          <p:cNvPicPr>
            <a:picLocks noChangeAspect="1"/>
          </p:cNvPicPr>
          <p:nvPr/>
        </p:nvPicPr>
        <p:blipFill>
          <a:blip r:embed="rId3"/>
          <a:stretch>
            <a:fillRect/>
          </a:stretch>
        </p:blipFill>
        <p:spPr>
          <a:xfrm>
            <a:off x="4856480" y="3514090"/>
            <a:ext cx="5907405" cy="2763520"/>
          </a:xfrm>
          <a:prstGeom prst="rect">
            <a:avLst/>
          </a:prstGeom>
        </p:spPr>
      </p:pic>
      <p:pic>
        <p:nvPicPr>
          <p:cNvPr id="9" name="图片 8" descr="figure2"/>
          <p:cNvPicPr>
            <a:picLocks noChangeAspect="1"/>
          </p:cNvPicPr>
          <p:nvPr/>
        </p:nvPicPr>
        <p:blipFill>
          <a:blip r:embed="rId4"/>
          <a:stretch>
            <a:fillRect/>
          </a:stretch>
        </p:blipFill>
        <p:spPr>
          <a:xfrm>
            <a:off x="5062855" y="1403985"/>
            <a:ext cx="5700395" cy="2110105"/>
          </a:xfrm>
          <a:prstGeom prst="rect">
            <a:avLst/>
          </a:prstGeom>
        </p:spPr>
      </p:pic>
      <p:sp>
        <p:nvSpPr>
          <p:cNvPr id="10" name="文本框 9"/>
          <p:cNvSpPr txBox="1"/>
          <p:nvPr/>
        </p:nvSpPr>
        <p:spPr>
          <a:xfrm>
            <a:off x="11080115" y="2168525"/>
            <a:ext cx="645160" cy="368300"/>
          </a:xfrm>
          <a:prstGeom prst="rect">
            <a:avLst/>
          </a:prstGeom>
          <a:noFill/>
        </p:spPr>
        <p:txBody>
          <a:bodyPr wrap="square" rtlCol="0">
            <a:spAutoFit/>
          </a:bodyPr>
          <a:p>
            <a:r>
              <a:rPr lang="en-US" altLang="zh-CN"/>
              <a:t>1</a:t>
            </a:r>
            <a:r>
              <a:rPr lang="zh-CN" altLang="en-US"/>
              <a:t>版</a:t>
            </a:r>
            <a:endParaRPr lang="zh-CN" altLang="en-US"/>
          </a:p>
        </p:txBody>
      </p:sp>
      <p:sp>
        <p:nvSpPr>
          <p:cNvPr id="11" name="文本框 10"/>
          <p:cNvSpPr txBox="1"/>
          <p:nvPr/>
        </p:nvSpPr>
        <p:spPr>
          <a:xfrm>
            <a:off x="11176000" y="4711700"/>
            <a:ext cx="645160" cy="368300"/>
          </a:xfrm>
          <a:prstGeom prst="rect">
            <a:avLst/>
          </a:prstGeom>
          <a:noFill/>
        </p:spPr>
        <p:txBody>
          <a:bodyPr wrap="square" rtlCol="0">
            <a:spAutoFit/>
          </a:bodyPr>
          <a:p>
            <a:r>
              <a:rPr lang="en-US" altLang="zh-CN"/>
              <a:t>2</a:t>
            </a:r>
            <a:r>
              <a:rPr lang="zh-CN" altLang="en-US"/>
              <a:t>版</a:t>
            </a:r>
            <a:endParaRPr lang="zh-CN" alt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10" name="图片 1"/>
          <p:cNvPicPr>
            <a:picLocks noChangeAspect="1"/>
          </p:cNvPicPr>
          <p:nvPr/>
        </p:nvPicPr>
        <p:blipFill>
          <a:blip r:embed="rId1"/>
          <a:stretch>
            <a:fillRect/>
          </a:stretch>
        </p:blipFill>
        <p:spPr>
          <a:xfrm>
            <a:off x="8610600" y="0"/>
            <a:ext cx="3581400" cy="1006475"/>
          </a:xfrm>
          <a:prstGeom prst="rect">
            <a:avLst/>
          </a:prstGeom>
          <a:noFill/>
          <a:ln w="9525">
            <a:noFill/>
          </a:ln>
        </p:spPr>
      </p:pic>
      <p:cxnSp>
        <p:nvCxnSpPr>
          <p:cNvPr id="4" name="直接连接符 3"/>
          <p:cNvCxnSpPr/>
          <p:nvPr/>
        </p:nvCxnSpPr>
        <p:spPr>
          <a:xfrm>
            <a:off x="0" y="798513"/>
            <a:ext cx="11176000" cy="0"/>
          </a:xfrm>
          <a:prstGeom prst="line">
            <a:avLst/>
          </a:prstGeom>
          <a:ln w="25400">
            <a:gradFill>
              <a:gsLst>
                <a:gs pos="0">
                  <a:srgbClr val="4B649F"/>
                </a:gs>
                <a:gs pos="100000">
                  <a:srgbClr val="7DB1CD">
                    <a:alpha val="0"/>
                  </a:srgbClr>
                </a:gs>
              </a:gsLst>
              <a:lin ang="0" scaled="0"/>
            </a:gradFill>
          </a:ln>
        </p:spPr>
        <p:style>
          <a:lnRef idx="1">
            <a:schemeClr val="accent1"/>
          </a:lnRef>
          <a:fillRef idx="0">
            <a:schemeClr val="accent1"/>
          </a:fillRef>
          <a:effectRef idx="0">
            <a:schemeClr val="accent1"/>
          </a:effectRef>
          <a:fontRef idx="minor">
            <a:schemeClr val="tx1"/>
          </a:fontRef>
        </p:style>
      </p:cxnSp>
      <p:sp>
        <p:nvSpPr>
          <p:cNvPr id="5" name="矩形 4"/>
          <p:cNvSpPr/>
          <p:nvPr/>
        </p:nvSpPr>
        <p:spPr>
          <a:xfrm>
            <a:off x="0" y="6724650"/>
            <a:ext cx="12192000" cy="133350"/>
          </a:xfrm>
          <a:prstGeom prst="rect">
            <a:avLst/>
          </a:prstGeom>
          <a:solidFill>
            <a:srgbClr val="4B649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1">
              <a:ln>
                <a:noFill/>
              </a:ln>
              <a:solidFill>
                <a:schemeClr val="lt1"/>
              </a:solidFill>
              <a:effectLst/>
              <a:uLnTx/>
              <a:uFillTx/>
              <a:latin typeface="+mn-lt"/>
              <a:ea typeface="+mn-ea"/>
              <a:cs typeface="+mn-cs"/>
            </a:endParaRPr>
          </a:p>
        </p:txBody>
      </p:sp>
      <p:grpSp>
        <p:nvGrpSpPr>
          <p:cNvPr id="17414" name="组合 5"/>
          <p:cNvGrpSpPr/>
          <p:nvPr/>
        </p:nvGrpSpPr>
        <p:grpSpPr>
          <a:xfrm>
            <a:off x="233363" y="125413"/>
            <a:ext cx="635000" cy="635000"/>
            <a:chOff x="5288161" y="2234042"/>
            <a:chExt cx="1607262" cy="1607262"/>
          </a:xfrm>
        </p:grpSpPr>
        <p:sp>
          <p:nvSpPr>
            <p:cNvPr id="7" name="椭圆 6"/>
            <p:cNvSpPr/>
            <p:nvPr/>
          </p:nvSpPr>
          <p:spPr>
            <a:xfrm>
              <a:off x="5288161" y="2234042"/>
              <a:ext cx="1607262" cy="1607262"/>
            </a:xfrm>
            <a:prstGeom prst="ellipse">
              <a:avLst/>
            </a:prstGeom>
            <a:solidFill>
              <a:srgbClr val="4B649F"/>
            </a:solidFill>
            <a:ln w="19050">
              <a:solidFill>
                <a:srgbClr val="4B649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1">
                <a:ln>
                  <a:noFill/>
                </a:ln>
                <a:solidFill>
                  <a:schemeClr val="lt1"/>
                </a:solidFill>
                <a:effectLst/>
                <a:uLnTx/>
                <a:uFillTx/>
                <a:latin typeface="+mn-lt"/>
                <a:ea typeface="+mn-ea"/>
                <a:cs typeface="+mn-cs"/>
              </a:endParaRPr>
            </a:p>
          </p:txBody>
        </p:sp>
        <p:sp>
          <p:nvSpPr>
            <p:cNvPr id="8" name="椭圆 7"/>
            <p:cNvSpPr/>
            <p:nvPr/>
          </p:nvSpPr>
          <p:spPr>
            <a:xfrm>
              <a:off x="5396650" y="2334495"/>
              <a:ext cx="1390282" cy="1390282"/>
            </a:xfrm>
            <a:prstGeom prst="ellipse">
              <a:avLst/>
            </a:prstGeom>
            <a:solidFill>
              <a:schemeClr val="bg1"/>
            </a:solidFill>
            <a:ln w="19050">
              <a:solidFill>
                <a:srgbClr val="4B649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1">
                <a:ln>
                  <a:noFill/>
                </a:ln>
                <a:solidFill>
                  <a:schemeClr val="lt1"/>
                </a:solidFill>
                <a:effectLst/>
                <a:uLnTx/>
                <a:uFillTx/>
                <a:latin typeface="+mn-lt"/>
                <a:ea typeface="+mn-ea"/>
                <a:cs typeface="+mn-cs"/>
              </a:endParaRPr>
            </a:p>
          </p:txBody>
        </p:sp>
        <p:sp>
          <p:nvSpPr>
            <p:cNvPr id="17440" name="KSO_Shape"/>
            <p:cNvSpPr/>
            <p:nvPr/>
          </p:nvSpPr>
          <p:spPr>
            <a:xfrm>
              <a:off x="5547153" y="2697761"/>
              <a:ext cx="1089278" cy="662788"/>
            </a:xfrm>
            <a:custGeom>
              <a:avLst/>
              <a:gdLst>
                <a:gd name="txL" fmla="*/ 0 w 3931"/>
                <a:gd name="txT" fmla="*/ 0 h 2392"/>
                <a:gd name="txR" fmla="*/ 3931 w 3931"/>
                <a:gd name="txB" fmla="*/ 2392 h 2392"/>
              </a:gdLst>
              <a:ahLst/>
              <a:cxnLst>
                <a:cxn ang="0">
                  <a:pos x="844045" y="356609"/>
                </a:cxn>
                <a:cxn ang="0">
                  <a:pos x="561681" y="235522"/>
                </a:cxn>
                <a:cxn ang="0">
                  <a:pos x="243848" y="356609"/>
                </a:cxn>
                <a:cxn ang="0">
                  <a:pos x="155176" y="319756"/>
                </a:cxn>
                <a:cxn ang="0">
                  <a:pos x="155176" y="428374"/>
                </a:cxn>
                <a:cxn ang="0">
                  <a:pos x="179283" y="461624"/>
                </a:cxn>
                <a:cxn ang="0">
                  <a:pos x="154622" y="494874"/>
                </a:cxn>
                <a:cxn ang="0">
                  <a:pos x="180946" y="611804"/>
                </a:cxn>
                <a:cxn ang="0">
                  <a:pos x="103358" y="611804"/>
                </a:cxn>
                <a:cxn ang="0">
                  <a:pos x="129960" y="494320"/>
                </a:cxn>
                <a:cxn ang="0">
                  <a:pos x="108346" y="461624"/>
                </a:cxn>
                <a:cxn ang="0">
                  <a:pos x="129128" y="429205"/>
                </a:cxn>
                <a:cxn ang="0">
                  <a:pos x="129128" y="308950"/>
                </a:cxn>
                <a:cxn ang="0">
                  <a:pos x="0" y="254918"/>
                </a:cxn>
                <a:cxn ang="0">
                  <a:pos x="568054" y="0"/>
                </a:cxn>
                <a:cxn ang="0">
                  <a:pos x="1089278" y="258243"/>
                </a:cxn>
                <a:cxn ang="0">
                  <a:pos x="844045" y="356609"/>
                </a:cxn>
                <a:cxn ang="0">
                  <a:pos x="555307" y="297035"/>
                </a:cxn>
                <a:cxn ang="0">
                  <a:pos x="811624" y="384040"/>
                </a:cxn>
                <a:cxn ang="0">
                  <a:pos x="811624" y="594902"/>
                </a:cxn>
                <a:cxn ang="0">
                  <a:pos x="542284" y="662788"/>
                </a:cxn>
                <a:cxn ang="0">
                  <a:pos x="304532" y="594902"/>
                </a:cxn>
                <a:cxn ang="0">
                  <a:pos x="304532" y="384040"/>
                </a:cxn>
                <a:cxn ang="0">
                  <a:pos x="555307" y="297035"/>
                </a:cxn>
                <a:cxn ang="0">
                  <a:pos x="551982" y="623996"/>
                </a:cxn>
                <a:cxn ang="0">
                  <a:pos x="758698" y="572458"/>
                </a:cxn>
                <a:cxn ang="0">
                  <a:pos x="551982" y="520643"/>
                </a:cxn>
                <a:cxn ang="0">
                  <a:pos x="345543" y="572458"/>
                </a:cxn>
                <a:cxn ang="0">
                  <a:pos x="551982" y="623996"/>
                </a:cxn>
              </a:cxnLst>
              <a:rect l="txL" t="txT" r="txR" b="txB"/>
              <a:pathLst>
                <a:path w="3931" h="2392">
                  <a:moveTo>
                    <a:pt x="3046" y="1287"/>
                  </a:moveTo>
                  <a:cubicBezTo>
                    <a:pt x="3046" y="1287"/>
                    <a:pt x="2618" y="850"/>
                    <a:pt x="2027" y="850"/>
                  </a:cubicBezTo>
                  <a:cubicBezTo>
                    <a:pt x="1450" y="850"/>
                    <a:pt x="880" y="1287"/>
                    <a:pt x="880" y="1287"/>
                  </a:cubicBezTo>
                  <a:cubicBezTo>
                    <a:pt x="560" y="1154"/>
                    <a:pt x="560" y="1154"/>
                    <a:pt x="560" y="1154"/>
                  </a:cubicBezTo>
                  <a:cubicBezTo>
                    <a:pt x="560" y="1546"/>
                    <a:pt x="560" y="1546"/>
                    <a:pt x="560" y="1546"/>
                  </a:cubicBezTo>
                  <a:cubicBezTo>
                    <a:pt x="610" y="1563"/>
                    <a:pt x="647" y="1610"/>
                    <a:pt x="647" y="1666"/>
                  </a:cubicBezTo>
                  <a:cubicBezTo>
                    <a:pt x="647" y="1723"/>
                    <a:pt x="609" y="1769"/>
                    <a:pt x="558" y="1786"/>
                  </a:cubicBezTo>
                  <a:cubicBezTo>
                    <a:pt x="653" y="2208"/>
                    <a:pt x="653" y="2208"/>
                    <a:pt x="653" y="2208"/>
                  </a:cubicBezTo>
                  <a:cubicBezTo>
                    <a:pt x="373" y="2208"/>
                    <a:pt x="373" y="2208"/>
                    <a:pt x="373" y="2208"/>
                  </a:cubicBezTo>
                  <a:cubicBezTo>
                    <a:pt x="469" y="1784"/>
                    <a:pt x="469" y="1784"/>
                    <a:pt x="469" y="1784"/>
                  </a:cubicBezTo>
                  <a:cubicBezTo>
                    <a:pt x="423" y="1764"/>
                    <a:pt x="391" y="1719"/>
                    <a:pt x="391" y="1666"/>
                  </a:cubicBezTo>
                  <a:cubicBezTo>
                    <a:pt x="391" y="1614"/>
                    <a:pt x="422" y="1570"/>
                    <a:pt x="466" y="1549"/>
                  </a:cubicBezTo>
                  <a:cubicBezTo>
                    <a:pt x="466" y="1115"/>
                    <a:pt x="466" y="1115"/>
                    <a:pt x="466" y="1115"/>
                  </a:cubicBezTo>
                  <a:cubicBezTo>
                    <a:pt x="0" y="920"/>
                    <a:pt x="0" y="920"/>
                    <a:pt x="0" y="920"/>
                  </a:cubicBezTo>
                  <a:cubicBezTo>
                    <a:pt x="2050" y="0"/>
                    <a:pt x="2050" y="0"/>
                    <a:pt x="2050" y="0"/>
                  </a:cubicBezTo>
                  <a:cubicBezTo>
                    <a:pt x="3931" y="932"/>
                    <a:pt x="3931" y="932"/>
                    <a:pt x="3931" y="932"/>
                  </a:cubicBezTo>
                  <a:lnTo>
                    <a:pt x="3046" y="1287"/>
                  </a:lnTo>
                  <a:close/>
                  <a:moveTo>
                    <a:pt x="2004" y="1072"/>
                  </a:moveTo>
                  <a:cubicBezTo>
                    <a:pt x="2598" y="1072"/>
                    <a:pt x="2929" y="1386"/>
                    <a:pt x="2929" y="1386"/>
                  </a:cubicBezTo>
                  <a:cubicBezTo>
                    <a:pt x="2929" y="2147"/>
                    <a:pt x="2929" y="2147"/>
                    <a:pt x="2929" y="2147"/>
                  </a:cubicBezTo>
                  <a:cubicBezTo>
                    <a:pt x="2929" y="2147"/>
                    <a:pt x="2586" y="2392"/>
                    <a:pt x="1957" y="2392"/>
                  </a:cubicBezTo>
                  <a:cubicBezTo>
                    <a:pt x="1328" y="2392"/>
                    <a:pt x="1099" y="2147"/>
                    <a:pt x="1099" y="2147"/>
                  </a:cubicBezTo>
                  <a:cubicBezTo>
                    <a:pt x="1099" y="1386"/>
                    <a:pt x="1099" y="1386"/>
                    <a:pt x="1099" y="1386"/>
                  </a:cubicBezTo>
                  <a:cubicBezTo>
                    <a:pt x="1099" y="1386"/>
                    <a:pt x="1410" y="1072"/>
                    <a:pt x="2004" y="1072"/>
                  </a:cubicBezTo>
                  <a:close/>
                  <a:moveTo>
                    <a:pt x="1992" y="2252"/>
                  </a:moveTo>
                  <a:cubicBezTo>
                    <a:pt x="2404" y="2252"/>
                    <a:pt x="2738" y="2168"/>
                    <a:pt x="2738" y="2066"/>
                  </a:cubicBezTo>
                  <a:cubicBezTo>
                    <a:pt x="2738" y="1963"/>
                    <a:pt x="2404" y="1879"/>
                    <a:pt x="1992" y="1879"/>
                  </a:cubicBezTo>
                  <a:cubicBezTo>
                    <a:pt x="1581" y="1879"/>
                    <a:pt x="1247" y="1963"/>
                    <a:pt x="1247" y="2066"/>
                  </a:cubicBezTo>
                  <a:cubicBezTo>
                    <a:pt x="1247" y="2168"/>
                    <a:pt x="1581" y="2252"/>
                    <a:pt x="1992" y="2252"/>
                  </a:cubicBezTo>
                  <a:close/>
                </a:path>
              </a:pathLst>
            </a:custGeom>
            <a:solidFill>
              <a:srgbClr val="4B649F">
                <a:alpha val="100000"/>
              </a:srgbClr>
            </a:solidFill>
            <a:ln w="9525">
              <a:noFill/>
            </a:ln>
          </p:spPr>
          <p:txBody>
            <a:bodyPr/>
            <a:lstStyle/>
            <a:p>
              <a:endParaRPr lang="zh-CN" altLang="en-US" sz="1800"/>
            </a:p>
          </p:txBody>
        </p:sp>
      </p:grpSp>
      <p:sp>
        <p:nvSpPr>
          <p:cNvPr id="19" name="文本框 2"/>
          <p:cNvSpPr txBox="1"/>
          <p:nvPr/>
        </p:nvSpPr>
        <p:spPr>
          <a:xfrm>
            <a:off x="917258" y="194310"/>
            <a:ext cx="4541837" cy="478155"/>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indent="0" eaLnBrk="1" hangingPunct="1">
              <a:buNone/>
            </a:pPr>
            <a:r>
              <a:rPr lang="zh-CN" altLang="en-US" b="1" dirty="0">
                <a:gradFill>
                  <a:gsLst>
                    <a:gs pos="0">
                      <a:srgbClr val="012D86"/>
                    </a:gs>
                    <a:gs pos="100000">
                      <a:srgbClr val="0E2557"/>
                    </a:gs>
                  </a:gsLst>
                  <a:lin scaled="0"/>
                </a:gradFill>
                <a:latin typeface="Arial" panose="020B0604020202020204" pitchFamily="34" charset="0"/>
                <a:sym typeface="+mn-ea"/>
              </a:rPr>
              <a:t>研究</a:t>
            </a:r>
            <a:r>
              <a:rPr lang="zh-CN" altLang="en-US" b="1" dirty="0">
                <a:gradFill>
                  <a:gsLst>
                    <a:gs pos="0">
                      <a:srgbClr val="012D86"/>
                    </a:gs>
                    <a:gs pos="100000">
                      <a:srgbClr val="0E2557"/>
                    </a:gs>
                  </a:gsLst>
                  <a:lin scaled="0"/>
                </a:gradFill>
                <a:latin typeface="Arial" panose="020B0604020202020204" pitchFamily="34" charset="0"/>
                <a:sym typeface="+mn-ea"/>
              </a:rPr>
              <a:t>结果</a:t>
            </a:r>
            <a:endParaRPr lang="zh-CN" altLang="en-US" b="1" dirty="0">
              <a:gradFill>
                <a:gsLst>
                  <a:gs pos="0">
                    <a:srgbClr val="012D86"/>
                  </a:gs>
                  <a:gs pos="100000">
                    <a:srgbClr val="0E2557"/>
                  </a:gs>
                </a:gsLst>
                <a:lin scaled="0"/>
              </a:gradFill>
              <a:latin typeface="Arial" panose="020B0604020202020204" pitchFamily="34" charset="0"/>
              <a:sym typeface="+mn-ea"/>
            </a:endParaRPr>
          </a:p>
        </p:txBody>
      </p:sp>
      <p:sp>
        <p:nvSpPr>
          <p:cNvPr id="2" name="文本框 1"/>
          <p:cNvSpPr txBox="1"/>
          <p:nvPr/>
        </p:nvSpPr>
        <p:spPr>
          <a:xfrm>
            <a:off x="505460" y="1206500"/>
            <a:ext cx="11181715" cy="1493520"/>
          </a:xfrm>
          <a:prstGeom prst="rect">
            <a:avLst/>
          </a:prstGeom>
          <a:noFill/>
        </p:spPr>
        <p:txBody>
          <a:bodyPr wrap="square" rtlCol="0" anchor="t">
            <a:noAutofit/>
          </a:bodyPr>
          <a:p>
            <a:pPr marL="285750" indent="-285750" algn="l">
              <a:buFont typeface="Wingdings" panose="05000000000000000000" charset="0"/>
              <a:buChar char="Ø"/>
            </a:pPr>
            <a:r>
              <a:rPr lang="zh-CN" altLang="en-US" sz="1800" b="1">
                <a:latin typeface="宋体" panose="02010600030101010101" pitchFamily="2" charset="-122"/>
                <a:ea typeface="宋体" panose="02010600030101010101" pitchFamily="2" charset="-122"/>
                <a:cs typeface="宋体" panose="02010600030101010101" pitchFamily="2" charset="-122"/>
              </a:rPr>
              <a:t>执行功能的个体差异</a:t>
            </a:r>
            <a:endParaRPr lang="zh-CN" altLang="en-US" sz="1800" b="1">
              <a:latin typeface="宋体" panose="02010600030101010101" pitchFamily="2" charset="-122"/>
              <a:ea typeface="宋体" panose="02010600030101010101" pitchFamily="2" charset="-122"/>
              <a:cs typeface="宋体" panose="02010600030101010101" pitchFamily="2" charset="-122"/>
            </a:endParaRPr>
          </a:p>
        </p:txBody>
      </p:sp>
      <p:pic>
        <p:nvPicPr>
          <p:cNvPr id="15" name="图片 14" descr="屏幕截图 2026-06-18 121126"/>
          <p:cNvPicPr>
            <a:picLocks noChangeAspect="1"/>
          </p:cNvPicPr>
          <p:nvPr/>
        </p:nvPicPr>
        <p:blipFill>
          <a:blip r:embed="rId2"/>
          <a:stretch>
            <a:fillRect/>
          </a:stretch>
        </p:blipFill>
        <p:spPr>
          <a:xfrm>
            <a:off x="443865" y="836930"/>
            <a:ext cx="9456420" cy="4006215"/>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10" name="图片 1"/>
          <p:cNvPicPr>
            <a:picLocks noChangeAspect="1"/>
          </p:cNvPicPr>
          <p:nvPr/>
        </p:nvPicPr>
        <p:blipFill>
          <a:blip r:embed="rId1"/>
          <a:stretch>
            <a:fillRect/>
          </a:stretch>
        </p:blipFill>
        <p:spPr>
          <a:xfrm>
            <a:off x="8610600" y="0"/>
            <a:ext cx="3581400" cy="1006475"/>
          </a:xfrm>
          <a:prstGeom prst="rect">
            <a:avLst/>
          </a:prstGeom>
          <a:noFill/>
          <a:ln w="9525">
            <a:noFill/>
          </a:ln>
        </p:spPr>
      </p:pic>
      <p:cxnSp>
        <p:nvCxnSpPr>
          <p:cNvPr id="4" name="直接连接符 3"/>
          <p:cNvCxnSpPr/>
          <p:nvPr/>
        </p:nvCxnSpPr>
        <p:spPr>
          <a:xfrm>
            <a:off x="0" y="798513"/>
            <a:ext cx="11176000" cy="0"/>
          </a:xfrm>
          <a:prstGeom prst="line">
            <a:avLst/>
          </a:prstGeom>
          <a:ln w="25400">
            <a:gradFill>
              <a:gsLst>
                <a:gs pos="0">
                  <a:srgbClr val="4B649F"/>
                </a:gs>
                <a:gs pos="100000">
                  <a:srgbClr val="7DB1CD">
                    <a:alpha val="0"/>
                  </a:srgbClr>
                </a:gs>
              </a:gsLst>
              <a:lin ang="0" scaled="0"/>
            </a:gradFill>
          </a:ln>
        </p:spPr>
        <p:style>
          <a:lnRef idx="1">
            <a:schemeClr val="accent1"/>
          </a:lnRef>
          <a:fillRef idx="0">
            <a:schemeClr val="accent1"/>
          </a:fillRef>
          <a:effectRef idx="0">
            <a:schemeClr val="accent1"/>
          </a:effectRef>
          <a:fontRef idx="minor">
            <a:schemeClr val="tx1"/>
          </a:fontRef>
        </p:style>
      </p:cxnSp>
      <p:sp>
        <p:nvSpPr>
          <p:cNvPr id="5" name="矩形 4"/>
          <p:cNvSpPr/>
          <p:nvPr/>
        </p:nvSpPr>
        <p:spPr>
          <a:xfrm>
            <a:off x="0" y="6724650"/>
            <a:ext cx="12192000" cy="133350"/>
          </a:xfrm>
          <a:prstGeom prst="rect">
            <a:avLst/>
          </a:prstGeom>
          <a:solidFill>
            <a:srgbClr val="4B649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1">
              <a:ln>
                <a:noFill/>
              </a:ln>
              <a:solidFill>
                <a:schemeClr val="lt1"/>
              </a:solidFill>
              <a:effectLst/>
              <a:uLnTx/>
              <a:uFillTx/>
              <a:latin typeface="+mn-lt"/>
              <a:ea typeface="+mn-ea"/>
              <a:cs typeface="+mn-cs"/>
            </a:endParaRPr>
          </a:p>
        </p:txBody>
      </p:sp>
      <p:grpSp>
        <p:nvGrpSpPr>
          <p:cNvPr id="17414" name="组合 5"/>
          <p:cNvGrpSpPr/>
          <p:nvPr/>
        </p:nvGrpSpPr>
        <p:grpSpPr>
          <a:xfrm>
            <a:off x="233363" y="125413"/>
            <a:ext cx="635000" cy="635000"/>
            <a:chOff x="5288161" y="2234042"/>
            <a:chExt cx="1607262" cy="1607262"/>
          </a:xfrm>
        </p:grpSpPr>
        <p:sp>
          <p:nvSpPr>
            <p:cNvPr id="7" name="椭圆 6"/>
            <p:cNvSpPr/>
            <p:nvPr/>
          </p:nvSpPr>
          <p:spPr>
            <a:xfrm>
              <a:off x="5288161" y="2234042"/>
              <a:ext cx="1607262" cy="1607262"/>
            </a:xfrm>
            <a:prstGeom prst="ellipse">
              <a:avLst/>
            </a:prstGeom>
            <a:solidFill>
              <a:srgbClr val="4B649F"/>
            </a:solidFill>
            <a:ln w="19050">
              <a:solidFill>
                <a:srgbClr val="4B649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1">
                <a:ln>
                  <a:noFill/>
                </a:ln>
                <a:solidFill>
                  <a:schemeClr val="lt1"/>
                </a:solidFill>
                <a:effectLst/>
                <a:uLnTx/>
                <a:uFillTx/>
                <a:latin typeface="+mn-lt"/>
                <a:ea typeface="+mn-ea"/>
                <a:cs typeface="+mn-cs"/>
              </a:endParaRPr>
            </a:p>
          </p:txBody>
        </p:sp>
        <p:sp>
          <p:nvSpPr>
            <p:cNvPr id="8" name="椭圆 7"/>
            <p:cNvSpPr/>
            <p:nvPr/>
          </p:nvSpPr>
          <p:spPr>
            <a:xfrm>
              <a:off x="5396650" y="2334495"/>
              <a:ext cx="1390282" cy="1390282"/>
            </a:xfrm>
            <a:prstGeom prst="ellipse">
              <a:avLst/>
            </a:prstGeom>
            <a:solidFill>
              <a:schemeClr val="bg1"/>
            </a:solidFill>
            <a:ln w="19050">
              <a:solidFill>
                <a:srgbClr val="4B649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1">
                <a:ln>
                  <a:noFill/>
                </a:ln>
                <a:solidFill>
                  <a:schemeClr val="lt1"/>
                </a:solidFill>
                <a:effectLst/>
                <a:uLnTx/>
                <a:uFillTx/>
                <a:latin typeface="+mn-lt"/>
                <a:ea typeface="+mn-ea"/>
                <a:cs typeface="+mn-cs"/>
              </a:endParaRPr>
            </a:p>
          </p:txBody>
        </p:sp>
        <p:sp>
          <p:nvSpPr>
            <p:cNvPr id="17440" name="KSO_Shape"/>
            <p:cNvSpPr/>
            <p:nvPr/>
          </p:nvSpPr>
          <p:spPr>
            <a:xfrm>
              <a:off x="5547153" y="2697761"/>
              <a:ext cx="1089278" cy="662788"/>
            </a:xfrm>
            <a:custGeom>
              <a:avLst/>
              <a:gdLst>
                <a:gd name="txL" fmla="*/ 0 w 3931"/>
                <a:gd name="txT" fmla="*/ 0 h 2392"/>
                <a:gd name="txR" fmla="*/ 3931 w 3931"/>
                <a:gd name="txB" fmla="*/ 2392 h 2392"/>
              </a:gdLst>
              <a:ahLst/>
              <a:cxnLst>
                <a:cxn ang="0">
                  <a:pos x="844045" y="356609"/>
                </a:cxn>
                <a:cxn ang="0">
                  <a:pos x="561681" y="235522"/>
                </a:cxn>
                <a:cxn ang="0">
                  <a:pos x="243848" y="356609"/>
                </a:cxn>
                <a:cxn ang="0">
                  <a:pos x="155176" y="319756"/>
                </a:cxn>
                <a:cxn ang="0">
                  <a:pos x="155176" y="428374"/>
                </a:cxn>
                <a:cxn ang="0">
                  <a:pos x="179283" y="461624"/>
                </a:cxn>
                <a:cxn ang="0">
                  <a:pos x="154622" y="494874"/>
                </a:cxn>
                <a:cxn ang="0">
                  <a:pos x="180946" y="611804"/>
                </a:cxn>
                <a:cxn ang="0">
                  <a:pos x="103358" y="611804"/>
                </a:cxn>
                <a:cxn ang="0">
                  <a:pos x="129960" y="494320"/>
                </a:cxn>
                <a:cxn ang="0">
                  <a:pos x="108346" y="461624"/>
                </a:cxn>
                <a:cxn ang="0">
                  <a:pos x="129128" y="429205"/>
                </a:cxn>
                <a:cxn ang="0">
                  <a:pos x="129128" y="308950"/>
                </a:cxn>
                <a:cxn ang="0">
                  <a:pos x="0" y="254918"/>
                </a:cxn>
                <a:cxn ang="0">
                  <a:pos x="568054" y="0"/>
                </a:cxn>
                <a:cxn ang="0">
                  <a:pos x="1089278" y="258243"/>
                </a:cxn>
                <a:cxn ang="0">
                  <a:pos x="844045" y="356609"/>
                </a:cxn>
                <a:cxn ang="0">
                  <a:pos x="555307" y="297035"/>
                </a:cxn>
                <a:cxn ang="0">
                  <a:pos x="811624" y="384040"/>
                </a:cxn>
                <a:cxn ang="0">
                  <a:pos x="811624" y="594902"/>
                </a:cxn>
                <a:cxn ang="0">
                  <a:pos x="542284" y="662788"/>
                </a:cxn>
                <a:cxn ang="0">
                  <a:pos x="304532" y="594902"/>
                </a:cxn>
                <a:cxn ang="0">
                  <a:pos x="304532" y="384040"/>
                </a:cxn>
                <a:cxn ang="0">
                  <a:pos x="555307" y="297035"/>
                </a:cxn>
                <a:cxn ang="0">
                  <a:pos x="551982" y="623996"/>
                </a:cxn>
                <a:cxn ang="0">
                  <a:pos x="758698" y="572458"/>
                </a:cxn>
                <a:cxn ang="0">
                  <a:pos x="551982" y="520643"/>
                </a:cxn>
                <a:cxn ang="0">
                  <a:pos x="345543" y="572458"/>
                </a:cxn>
                <a:cxn ang="0">
                  <a:pos x="551982" y="623996"/>
                </a:cxn>
              </a:cxnLst>
              <a:rect l="txL" t="txT" r="txR" b="txB"/>
              <a:pathLst>
                <a:path w="3931" h="2392">
                  <a:moveTo>
                    <a:pt x="3046" y="1287"/>
                  </a:moveTo>
                  <a:cubicBezTo>
                    <a:pt x="3046" y="1287"/>
                    <a:pt x="2618" y="850"/>
                    <a:pt x="2027" y="850"/>
                  </a:cubicBezTo>
                  <a:cubicBezTo>
                    <a:pt x="1450" y="850"/>
                    <a:pt x="880" y="1287"/>
                    <a:pt x="880" y="1287"/>
                  </a:cubicBezTo>
                  <a:cubicBezTo>
                    <a:pt x="560" y="1154"/>
                    <a:pt x="560" y="1154"/>
                    <a:pt x="560" y="1154"/>
                  </a:cubicBezTo>
                  <a:cubicBezTo>
                    <a:pt x="560" y="1546"/>
                    <a:pt x="560" y="1546"/>
                    <a:pt x="560" y="1546"/>
                  </a:cubicBezTo>
                  <a:cubicBezTo>
                    <a:pt x="610" y="1563"/>
                    <a:pt x="647" y="1610"/>
                    <a:pt x="647" y="1666"/>
                  </a:cubicBezTo>
                  <a:cubicBezTo>
                    <a:pt x="647" y="1723"/>
                    <a:pt x="609" y="1769"/>
                    <a:pt x="558" y="1786"/>
                  </a:cubicBezTo>
                  <a:cubicBezTo>
                    <a:pt x="653" y="2208"/>
                    <a:pt x="653" y="2208"/>
                    <a:pt x="653" y="2208"/>
                  </a:cubicBezTo>
                  <a:cubicBezTo>
                    <a:pt x="373" y="2208"/>
                    <a:pt x="373" y="2208"/>
                    <a:pt x="373" y="2208"/>
                  </a:cubicBezTo>
                  <a:cubicBezTo>
                    <a:pt x="469" y="1784"/>
                    <a:pt x="469" y="1784"/>
                    <a:pt x="469" y="1784"/>
                  </a:cubicBezTo>
                  <a:cubicBezTo>
                    <a:pt x="423" y="1764"/>
                    <a:pt x="391" y="1719"/>
                    <a:pt x="391" y="1666"/>
                  </a:cubicBezTo>
                  <a:cubicBezTo>
                    <a:pt x="391" y="1614"/>
                    <a:pt x="422" y="1570"/>
                    <a:pt x="466" y="1549"/>
                  </a:cubicBezTo>
                  <a:cubicBezTo>
                    <a:pt x="466" y="1115"/>
                    <a:pt x="466" y="1115"/>
                    <a:pt x="466" y="1115"/>
                  </a:cubicBezTo>
                  <a:cubicBezTo>
                    <a:pt x="0" y="920"/>
                    <a:pt x="0" y="920"/>
                    <a:pt x="0" y="920"/>
                  </a:cubicBezTo>
                  <a:cubicBezTo>
                    <a:pt x="2050" y="0"/>
                    <a:pt x="2050" y="0"/>
                    <a:pt x="2050" y="0"/>
                  </a:cubicBezTo>
                  <a:cubicBezTo>
                    <a:pt x="3931" y="932"/>
                    <a:pt x="3931" y="932"/>
                    <a:pt x="3931" y="932"/>
                  </a:cubicBezTo>
                  <a:lnTo>
                    <a:pt x="3046" y="1287"/>
                  </a:lnTo>
                  <a:close/>
                  <a:moveTo>
                    <a:pt x="2004" y="1072"/>
                  </a:moveTo>
                  <a:cubicBezTo>
                    <a:pt x="2598" y="1072"/>
                    <a:pt x="2929" y="1386"/>
                    <a:pt x="2929" y="1386"/>
                  </a:cubicBezTo>
                  <a:cubicBezTo>
                    <a:pt x="2929" y="2147"/>
                    <a:pt x="2929" y="2147"/>
                    <a:pt x="2929" y="2147"/>
                  </a:cubicBezTo>
                  <a:cubicBezTo>
                    <a:pt x="2929" y="2147"/>
                    <a:pt x="2586" y="2392"/>
                    <a:pt x="1957" y="2392"/>
                  </a:cubicBezTo>
                  <a:cubicBezTo>
                    <a:pt x="1328" y="2392"/>
                    <a:pt x="1099" y="2147"/>
                    <a:pt x="1099" y="2147"/>
                  </a:cubicBezTo>
                  <a:cubicBezTo>
                    <a:pt x="1099" y="1386"/>
                    <a:pt x="1099" y="1386"/>
                    <a:pt x="1099" y="1386"/>
                  </a:cubicBezTo>
                  <a:cubicBezTo>
                    <a:pt x="1099" y="1386"/>
                    <a:pt x="1410" y="1072"/>
                    <a:pt x="2004" y="1072"/>
                  </a:cubicBezTo>
                  <a:close/>
                  <a:moveTo>
                    <a:pt x="1992" y="2252"/>
                  </a:moveTo>
                  <a:cubicBezTo>
                    <a:pt x="2404" y="2252"/>
                    <a:pt x="2738" y="2168"/>
                    <a:pt x="2738" y="2066"/>
                  </a:cubicBezTo>
                  <a:cubicBezTo>
                    <a:pt x="2738" y="1963"/>
                    <a:pt x="2404" y="1879"/>
                    <a:pt x="1992" y="1879"/>
                  </a:cubicBezTo>
                  <a:cubicBezTo>
                    <a:pt x="1581" y="1879"/>
                    <a:pt x="1247" y="1963"/>
                    <a:pt x="1247" y="2066"/>
                  </a:cubicBezTo>
                  <a:cubicBezTo>
                    <a:pt x="1247" y="2168"/>
                    <a:pt x="1581" y="2252"/>
                    <a:pt x="1992" y="2252"/>
                  </a:cubicBezTo>
                  <a:close/>
                </a:path>
              </a:pathLst>
            </a:custGeom>
            <a:solidFill>
              <a:srgbClr val="4B649F">
                <a:alpha val="100000"/>
              </a:srgbClr>
            </a:solidFill>
            <a:ln w="9525">
              <a:noFill/>
            </a:ln>
          </p:spPr>
          <p:txBody>
            <a:bodyPr/>
            <a:lstStyle/>
            <a:p>
              <a:endParaRPr lang="zh-CN" altLang="en-US" sz="1800"/>
            </a:p>
          </p:txBody>
        </p:sp>
      </p:grpSp>
      <p:sp>
        <p:nvSpPr>
          <p:cNvPr id="19" name="文本框 2"/>
          <p:cNvSpPr txBox="1"/>
          <p:nvPr/>
        </p:nvSpPr>
        <p:spPr>
          <a:xfrm>
            <a:off x="917258" y="194310"/>
            <a:ext cx="4541837" cy="478155"/>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indent="0" eaLnBrk="1" hangingPunct="1">
              <a:buNone/>
            </a:pPr>
            <a:r>
              <a:rPr lang="zh-CN" altLang="en-US" b="1" dirty="0">
                <a:gradFill>
                  <a:gsLst>
                    <a:gs pos="0">
                      <a:srgbClr val="012D86"/>
                    </a:gs>
                    <a:gs pos="100000">
                      <a:srgbClr val="0E2557"/>
                    </a:gs>
                  </a:gsLst>
                  <a:lin scaled="0"/>
                </a:gradFill>
                <a:latin typeface="Arial" panose="020B0604020202020204" pitchFamily="34" charset="0"/>
                <a:sym typeface="+mn-ea"/>
              </a:rPr>
              <a:t>研究</a:t>
            </a:r>
            <a:r>
              <a:rPr lang="zh-CN" altLang="en-US" b="1" dirty="0">
                <a:gradFill>
                  <a:gsLst>
                    <a:gs pos="0">
                      <a:srgbClr val="012D86"/>
                    </a:gs>
                    <a:gs pos="100000">
                      <a:srgbClr val="0E2557"/>
                    </a:gs>
                  </a:gsLst>
                  <a:lin scaled="0"/>
                </a:gradFill>
                <a:latin typeface="Arial" panose="020B0604020202020204" pitchFamily="34" charset="0"/>
                <a:sym typeface="+mn-ea"/>
              </a:rPr>
              <a:t>结果</a:t>
            </a:r>
            <a:endParaRPr lang="zh-CN" altLang="en-US" b="1" dirty="0">
              <a:gradFill>
                <a:gsLst>
                  <a:gs pos="0">
                    <a:srgbClr val="012D86"/>
                  </a:gs>
                  <a:gs pos="100000">
                    <a:srgbClr val="0E2557"/>
                  </a:gs>
                </a:gsLst>
                <a:lin scaled="0"/>
              </a:gradFill>
              <a:latin typeface="Arial" panose="020B0604020202020204" pitchFamily="34" charset="0"/>
              <a:sym typeface="+mn-ea"/>
            </a:endParaRPr>
          </a:p>
        </p:txBody>
      </p:sp>
      <p:sp>
        <p:nvSpPr>
          <p:cNvPr id="2" name="文本框 1"/>
          <p:cNvSpPr txBox="1"/>
          <p:nvPr/>
        </p:nvSpPr>
        <p:spPr>
          <a:xfrm>
            <a:off x="505460" y="1206500"/>
            <a:ext cx="11181715" cy="1493520"/>
          </a:xfrm>
          <a:prstGeom prst="rect">
            <a:avLst/>
          </a:prstGeom>
          <a:noFill/>
        </p:spPr>
        <p:txBody>
          <a:bodyPr wrap="square" rtlCol="0" anchor="t">
            <a:noAutofit/>
          </a:bodyPr>
          <a:p>
            <a:pPr marL="285750" indent="-285750" algn="l">
              <a:buFont typeface="Wingdings" panose="05000000000000000000" charset="0"/>
              <a:buChar char="Ø"/>
            </a:pPr>
            <a:r>
              <a:rPr lang="zh-CN" altLang="en-US" sz="1800" b="1">
                <a:latin typeface="宋体" panose="02010600030101010101" pitchFamily="2" charset="-122"/>
                <a:ea typeface="宋体" panose="02010600030101010101" pitchFamily="2" charset="-122"/>
                <a:cs typeface="宋体" panose="02010600030101010101" pitchFamily="2" charset="-122"/>
              </a:rPr>
              <a:t>执行功能的个体差异</a:t>
            </a:r>
            <a:endParaRPr lang="zh-CN" altLang="en-US" sz="1800" b="1">
              <a:latin typeface="宋体" panose="02010600030101010101" pitchFamily="2" charset="-122"/>
              <a:ea typeface="宋体" panose="02010600030101010101" pitchFamily="2" charset="-122"/>
              <a:cs typeface="宋体" panose="02010600030101010101" pitchFamily="2" charset="-122"/>
            </a:endParaRPr>
          </a:p>
        </p:txBody>
      </p:sp>
      <p:sp>
        <p:nvSpPr>
          <p:cNvPr id="12" name="文本框 11"/>
          <p:cNvSpPr txBox="1"/>
          <p:nvPr/>
        </p:nvSpPr>
        <p:spPr>
          <a:xfrm>
            <a:off x="6245860" y="1951355"/>
            <a:ext cx="2281555" cy="368300"/>
          </a:xfrm>
          <a:prstGeom prst="rect">
            <a:avLst/>
          </a:prstGeom>
          <a:noFill/>
        </p:spPr>
        <p:txBody>
          <a:bodyPr wrap="square" rtlCol="0">
            <a:spAutoFit/>
          </a:bodyPr>
          <a:p>
            <a:r>
              <a:rPr lang="zh-CN" altLang="en-US" sz="1800" b="1">
                <a:latin typeface="宋体" panose="02010600030101010101" pitchFamily="2" charset="-122"/>
                <a:ea typeface="宋体" panose="02010600030101010101" pitchFamily="2" charset="-122"/>
              </a:rPr>
              <a:t>（复现）</a:t>
            </a:r>
            <a:r>
              <a:rPr lang="en-US" altLang="zh-CN" sz="1800" b="1">
                <a:latin typeface="宋体" panose="02010600030101010101" pitchFamily="2" charset="-122"/>
                <a:ea typeface="宋体" panose="02010600030101010101" pitchFamily="2" charset="-122"/>
              </a:rPr>
              <a:t>Table2</a:t>
            </a:r>
            <a:endParaRPr lang="en-US" altLang="zh-CN" sz="1800" b="1">
              <a:latin typeface="宋体" panose="02010600030101010101" pitchFamily="2" charset="-122"/>
              <a:ea typeface="宋体" panose="02010600030101010101" pitchFamily="2" charset="-122"/>
            </a:endParaRPr>
          </a:p>
        </p:txBody>
      </p:sp>
      <p:pic>
        <p:nvPicPr>
          <p:cNvPr id="13" name="图片 12"/>
          <p:cNvPicPr>
            <a:picLocks noChangeAspect="1"/>
          </p:cNvPicPr>
          <p:nvPr/>
        </p:nvPicPr>
        <p:blipFill>
          <a:blip r:embed="rId2"/>
          <a:stretch>
            <a:fillRect/>
          </a:stretch>
        </p:blipFill>
        <p:spPr>
          <a:xfrm>
            <a:off x="335915" y="1656080"/>
            <a:ext cx="4949190" cy="3008630"/>
          </a:xfrm>
          <a:prstGeom prst="rect">
            <a:avLst/>
          </a:prstGeom>
        </p:spPr>
      </p:pic>
      <p:pic>
        <p:nvPicPr>
          <p:cNvPr id="6" name="图片 5" descr="屏幕截图 2026-06-18 125517"/>
          <p:cNvPicPr>
            <a:picLocks noChangeAspect="1"/>
          </p:cNvPicPr>
          <p:nvPr/>
        </p:nvPicPr>
        <p:blipFill>
          <a:blip r:embed="rId3"/>
          <a:stretch>
            <a:fillRect/>
          </a:stretch>
        </p:blipFill>
        <p:spPr>
          <a:xfrm>
            <a:off x="5939155" y="2286635"/>
            <a:ext cx="5350510" cy="215900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10" name="图片 1"/>
          <p:cNvPicPr>
            <a:picLocks noChangeAspect="1"/>
          </p:cNvPicPr>
          <p:nvPr/>
        </p:nvPicPr>
        <p:blipFill>
          <a:blip r:embed="rId1"/>
          <a:stretch>
            <a:fillRect/>
          </a:stretch>
        </p:blipFill>
        <p:spPr>
          <a:xfrm>
            <a:off x="8610600" y="0"/>
            <a:ext cx="3581400" cy="1006475"/>
          </a:xfrm>
          <a:prstGeom prst="rect">
            <a:avLst/>
          </a:prstGeom>
          <a:noFill/>
          <a:ln w="9525">
            <a:noFill/>
          </a:ln>
        </p:spPr>
      </p:pic>
      <p:cxnSp>
        <p:nvCxnSpPr>
          <p:cNvPr id="4" name="直接连接符 3"/>
          <p:cNvCxnSpPr/>
          <p:nvPr/>
        </p:nvCxnSpPr>
        <p:spPr>
          <a:xfrm>
            <a:off x="0" y="798513"/>
            <a:ext cx="11176000" cy="0"/>
          </a:xfrm>
          <a:prstGeom prst="line">
            <a:avLst/>
          </a:prstGeom>
          <a:ln w="25400">
            <a:gradFill>
              <a:gsLst>
                <a:gs pos="0">
                  <a:srgbClr val="4B649F"/>
                </a:gs>
                <a:gs pos="100000">
                  <a:srgbClr val="7DB1CD">
                    <a:alpha val="0"/>
                  </a:srgbClr>
                </a:gs>
              </a:gsLst>
              <a:lin ang="0" scaled="0"/>
            </a:gradFill>
          </a:ln>
        </p:spPr>
        <p:style>
          <a:lnRef idx="1">
            <a:schemeClr val="accent1"/>
          </a:lnRef>
          <a:fillRef idx="0">
            <a:schemeClr val="accent1"/>
          </a:fillRef>
          <a:effectRef idx="0">
            <a:schemeClr val="accent1"/>
          </a:effectRef>
          <a:fontRef idx="minor">
            <a:schemeClr val="tx1"/>
          </a:fontRef>
        </p:style>
      </p:cxnSp>
      <p:sp>
        <p:nvSpPr>
          <p:cNvPr id="5" name="矩形 4"/>
          <p:cNvSpPr/>
          <p:nvPr/>
        </p:nvSpPr>
        <p:spPr>
          <a:xfrm>
            <a:off x="0" y="6724650"/>
            <a:ext cx="12192000" cy="133350"/>
          </a:xfrm>
          <a:prstGeom prst="rect">
            <a:avLst/>
          </a:prstGeom>
          <a:solidFill>
            <a:srgbClr val="4B649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1">
              <a:ln>
                <a:noFill/>
              </a:ln>
              <a:solidFill>
                <a:schemeClr val="lt1"/>
              </a:solidFill>
              <a:effectLst/>
              <a:uLnTx/>
              <a:uFillTx/>
              <a:latin typeface="+mn-lt"/>
              <a:ea typeface="+mn-ea"/>
              <a:cs typeface="+mn-cs"/>
            </a:endParaRPr>
          </a:p>
        </p:txBody>
      </p:sp>
      <p:grpSp>
        <p:nvGrpSpPr>
          <p:cNvPr id="17414" name="组合 5"/>
          <p:cNvGrpSpPr/>
          <p:nvPr/>
        </p:nvGrpSpPr>
        <p:grpSpPr>
          <a:xfrm>
            <a:off x="233363" y="125413"/>
            <a:ext cx="635000" cy="635000"/>
            <a:chOff x="5288161" y="2234042"/>
            <a:chExt cx="1607262" cy="1607262"/>
          </a:xfrm>
        </p:grpSpPr>
        <p:sp>
          <p:nvSpPr>
            <p:cNvPr id="7" name="椭圆 6"/>
            <p:cNvSpPr/>
            <p:nvPr/>
          </p:nvSpPr>
          <p:spPr>
            <a:xfrm>
              <a:off x="5288161" y="2234042"/>
              <a:ext cx="1607262" cy="1607262"/>
            </a:xfrm>
            <a:prstGeom prst="ellipse">
              <a:avLst/>
            </a:prstGeom>
            <a:solidFill>
              <a:srgbClr val="4B649F"/>
            </a:solidFill>
            <a:ln w="19050">
              <a:solidFill>
                <a:srgbClr val="4B649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1">
                <a:ln>
                  <a:noFill/>
                </a:ln>
                <a:solidFill>
                  <a:schemeClr val="lt1"/>
                </a:solidFill>
                <a:effectLst/>
                <a:uLnTx/>
                <a:uFillTx/>
                <a:latin typeface="+mn-lt"/>
                <a:ea typeface="+mn-ea"/>
                <a:cs typeface="+mn-cs"/>
              </a:endParaRPr>
            </a:p>
          </p:txBody>
        </p:sp>
        <p:sp>
          <p:nvSpPr>
            <p:cNvPr id="8" name="椭圆 7"/>
            <p:cNvSpPr/>
            <p:nvPr/>
          </p:nvSpPr>
          <p:spPr>
            <a:xfrm>
              <a:off x="5396650" y="2334495"/>
              <a:ext cx="1390282" cy="1390282"/>
            </a:xfrm>
            <a:prstGeom prst="ellipse">
              <a:avLst/>
            </a:prstGeom>
            <a:solidFill>
              <a:schemeClr val="bg1"/>
            </a:solidFill>
            <a:ln w="19050">
              <a:solidFill>
                <a:srgbClr val="4B649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1">
                <a:ln>
                  <a:noFill/>
                </a:ln>
                <a:solidFill>
                  <a:schemeClr val="lt1"/>
                </a:solidFill>
                <a:effectLst/>
                <a:uLnTx/>
                <a:uFillTx/>
                <a:latin typeface="+mn-lt"/>
                <a:ea typeface="+mn-ea"/>
                <a:cs typeface="+mn-cs"/>
              </a:endParaRPr>
            </a:p>
          </p:txBody>
        </p:sp>
        <p:sp>
          <p:nvSpPr>
            <p:cNvPr id="17440" name="KSO_Shape"/>
            <p:cNvSpPr/>
            <p:nvPr/>
          </p:nvSpPr>
          <p:spPr>
            <a:xfrm>
              <a:off x="5547153" y="2697761"/>
              <a:ext cx="1089278" cy="662788"/>
            </a:xfrm>
            <a:custGeom>
              <a:avLst/>
              <a:gdLst>
                <a:gd name="txL" fmla="*/ 0 w 3931"/>
                <a:gd name="txT" fmla="*/ 0 h 2392"/>
                <a:gd name="txR" fmla="*/ 3931 w 3931"/>
                <a:gd name="txB" fmla="*/ 2392 h 2392"/>
              </a:gdLst>
              <a:ahLst/>
              <a:cxnLst>
                <a:cxn ang="0">
                  <a:pos x="844045" y="356609"/>
                </a:cxn>
                <a:cxn ang="0">
                  <a:pos x="561681" y="235522"/>
                </a:cxn>
                <a:cxn ang="0">
                  <a:pos x="243848" y="356609"/>
                </a:cxn>
                <a:cxn ang="0">
                  <a:pos x="155176" y="319756"/>
                </a:cxn>
                <a:cxn ang="0">
                  <a:pos x="155176" y="428374"/>
                </a:cxn>
                <a:cxn ang="0">
                  <a:pos x="179283" y="461624"/>
                </a:cxn>
                <a:cxn ang="0">
                  <a:pos x="154622" y="494874"/>
                </a:cxn>
                <a:cxn ang="0">
                  <a:pos x="180946" y="611804"/>
                </a:cxn>
                <a:cxn ang="0">
                  <a:pos x="103358" y="611804"/>
                </a:cxn>
                <a:cxn ang="0">
                  <a:pos x="129960" y="494320"/>
                </a:cxn>
                <a:cxn ang="0">
                  <a:pos x="108346" y="461624"/>
                </a:cxn>
                <a:cxn ang="0">
                  <a:pos x="129128" y="429205"/>
                </a:cxn>
                <a:cxn ang="0">
                  <a:pos x="129128" y="308950"/>
                </a:cxn>
                <a:cxn ang="0">
                  <a:pos x="0" y="254918"/>
                </a:cxn>
                <a:cxn ang="0">
                  <a:pos x="568054" y="0"/>
                </a:cxn>
                <a:cxn ang="0">
                  <a:pos x="1089278" y="258243"/>
                </a:cxn>
                <a:cxn ang="0">
                  <a:pos x="844045" y="356609"/>
                </a:cxn>
                <a:cxn ang="0">
                  <a:pos x="555307" y="297035"/>
                </a:cxn>
                <a:cxn ang="0">
                  <a:pos x="811624" y="384040"/>
                </a:cxn>
                <a:cxn ang="0">
                  <a:pos x="811624" y="594902"/>
                </a:cxn>
                <a:cxn ang="0">
                  <a:pos x="542284" y="662788"/>
                </a:cxn>
                <a:cxn ang="0">
                  <a:pos x="304532" y="594902"/>
                </a:cxn>
                <a:cxn ang="0">
                  <a:pos x="304532" y="384040"/>
                </a:cxn>
                <a:cxn ang="0">
                  <a:pos x="555307" y="297035"/>
                </a:cxn>
                <a:cxn ang="0">
                  <a:pos x="551982" y="623996"/>
                </a:cxn>
                <a:cxn ang="0">
                  <a:pos x="758698" y="572458"/>
                </a:cxn>
                <a:cxn ang="0">
                  <a:pos x="551982" y="520643"/>
                </a:cxn>
                <a:cxn ang="0">
                  <a:pos x="345543" y="572458"/>
                </a:cxn>
                <a:cxn ang="0">
                  <a:pos x="551982" y="623996"/>
                </a:cxn>
              </a:cxnLst>
              <a:rect l="txL" t="txT" r="txR" b="txB"/>
              <a:pathLst>
                <a:path w="3931" h="2392">
                  <a:moveTo>
                    <a:pt x="3046" y="1287"/>
                  </a:moveTo>
                  <a:cubicBezTo>
                    <a:pt x="3046" y="1287"/>
                    <a:pt x="2618" y="850"/>
                    <a:pt x="2027" y="850"/>
                  </a:cubicBezTo>
                  <a:cubicBezTo>
                    <a:pt x="1450" y="850"/>
                    <a:pt x="880" y="1287"/>
                    <a:pt x="880" y="1287"/>
                  </a:cubicBezTo>
                  <a:cubicBezTo>
                    <a:pt x="560" y="1154"/>
                    <a:pt x="560" y="1154"/>
                    <a:pt x="560" y="1154"/>
                  </a:cubicBezTo>
                  <a:cubicBezTo>
                    <a:pt x="560" y="1546"/>
                    <a:pt x="560" y="1546"/>
                    <a:pt x="560" y="1546"/>
                  </a:cubicBezTo>
                  <a:cubicBezTo>
                    <a:pt x="610" y="1563"/>
                    <a:pt x="647" y="1610"/>
                    <a:pt x="647" y="1666"/>
                  </a:cubicBezTo>
                  <a:cubicBezTo>
                    <a:pt x="647" y="1723"/>
                    <a:pt x="609" y="1769"/>
                    <a:pt x="558" y="1786"/>
                  </a:cubicBezTo>
                  <a:cubicBezTo>
                    <a:pt x="653" y="2208"/>
                    <a:pt x="653" y="2208"/>
                    <a:pt x="653" y="2208"/>
                  </a:cubicBezTo>
                  <a:cubicBezTo>
                    <a:pt x="373" y="2208"/>
                    <a:pt x="373" y="2208"/>
                    <a:pt x="373" y="2208"/>
                  </a:cubicBezTo>
                  <a:cubicBezTo>
                    <a:pt x="469" y="1784"/>
                    <a:pt x="469" y="1784"/>
                    <a:pt x="469" y="1784"/>
                  </a:cubicBezTo>
                  <a:cubicBezTo>
                    <a:pt x="423" y="1764"/>
                    <a:pt x="391" y="1719"/>
                    <a:pt x="391" y="1666"/>
                  </a:cubicBezTo>
                  <a:cubicBezTo>
                    <a:pt x="391" y="1614"/>
                    <a:pt x="422" y="1570"/>
                    <a:pt x="466" y="1549"/>
                  </a:cubicBezTo>
                  <a:cubicBezTo>
                    <a:pt x="466" y="1115"/>
                    <a:pt x="466" y="1115"/>
                    <a:pt x="466" y="1115"/>
                  </a:cubicBezTo>
                  <a:cubicBezTo>
                    <a:pt x="0" y="920"/>
                    <a:pt x="0" y="920"/>
                    <a:pt x="0" y="920"/>
                  </a:cubicBezTo>
                  <a:cubicBezTo>
                    <a:pt x="2050" y="0"/>
                    <a:pt x="2050" y="0"/>
                    <a:pt x="2050" y="0"/>
                  </a:cubicBezTo>
                  <a:cubicBezTo>
                    <a:pt x="3931" y="932"/>
                    <a:pt x="3931" y="932"/>
                    <a:pt x="3931" y="932"/>
                  </a:cubicBezTo>
                  <a:lnTo>
                    <a:pt x="3046" y="1287"/>
                  </a:lnTo>
                  <a:close/>
                  <a:moveTo>
                    <a:pt x="2004" y="1072"/>
                  </a:moveTo>
                  <a:cubicBezTo>
                    <a:pt x="2598" y="1072"/>
                    <a:pt x="2929" y="1386"/>
                    <a:pt x="2929" y="1386"/>
                  </a:cubicBezTo>
                  <a:cubicBezTo>
                    <a:pt x="2929" y="2147"/>
                    <a:pt x="2929" y="2147"/>
                    <a:pt x="2929" y="2147"/>
                  </a:cubicBezTo>
                  <a:cubicBezTo>
                    <a:pt x="2929" y="2147"/>
                    <a:pt x="2586" y="2392"/>
                    <a:pt x="1957" y="2392"/>
                  </a:cubicBezTo>
                  <a:cubicBezTo>
                    <a:pt x="1328" y="2392"/>
                    <a:pt x="1099" y="2147"/>
                    <a:pt x="1099" y="2147"/>
                  </a:cubicBezTo>
                  <a:cubicBezTo>
                    <a:pt x="1099" y="1386"/>
                    <a:pt x="1099" y="1386"/>
                    <a:pt x="1099" y="1386"/>
                  </a:cubicBezTo>
                  <a:cubicBezTo>
                    <a:pt x="1099" y="1386"/>
                    <a:pt x="1410" y="1072"/>
                    <a:pt x="2004" y="1072"/>
                  </a:cubicBezTo>
                  <a:close/>
                  <a:moveTo>
                    <a:pt x="1992" y="2252"/>
                  </a:moveTo>
                  <a:cubicBezTo>
                    <a:pt x="2404" y="2252"/>
                    <a:pt x="2738" y="2168"/>
                    <a:pt x="2738" y="2066"/>
                  </a:cubicBezTo>
                  <a:cubicBezTo>
                    <a:pt x="2738" y="1963"/>
                    <a:pt x="2404" y="1879"/>
                    <a:pt x="1992" y="1879"/>
                  </a:cubicBezTo>
                  <a:cubicBezTo>
                    <a:pt x="1581" y="1879"/>
                    <a:pt x="1247" y="1963"/>
                    <a:pt x="1247" y="2066"/>
                  </a:cubicBezTo>
                  <a:cubicBezTo>
                    <a:pt x="1247" y="2168"/>
                    <a:pt x="1581" y="2252"/>
                    <a:pt x="1992" y="2252"/>
                  </a:cubicBezTo>
                  <a:close/>
                </a:path>
              </a:pathLst>
            </a:custGeom>
            <a:solidFill>
              <a:srgbClr val="4B649F">
                <a:alpha val="100000"/>
              </a:srgbClr>
            </a:solidFill>
            <a:ln w="9525">
              <a:noFill/>
            </a:ln>
          </p:spPr>
          <p:txBody>
            <a:bodyPr/>
            <a:lstStyle/>
            <a:p>
              <a:endParaRPr lang="zh-CN" altLang="en-US" sz="1800"/>
            </a:p>
          </p:txBody>
        </p:sp>
      </p:grpSp>
      <p:sp>
        <p:nvSpPr>
          <p:cNvPr id="19" name="文本框 2"/>
          <p:cNvSpPr txBox="1"/>
          <p:nvPr/>
        </p:nvSpPr>
        <p:spPr>
          <a:xfrm>
            <a:off x="917258" y="194310"/>
            <a:ext cx="4541837" cy="478155"/>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indent="0" eaLnBrk="1" hangingPunct="1">
              <a:buNone/>
            </a:pPr>
            <a:r>
              <a:rPr lang="zh-CN" altLang="en-US" b="1" dirty="0">
                <a:gradFill>
                  <a:gsLst>
                    <a:gs pos="0">
                      <a:srgbClr val="012D86"/>
                    </a:gs>
                    <a:gs pos="100000">
                      <a:srgbClr val="0E2557"/>
                    </a:gs>
                  </a:gsLst>
                  <a:lin scaled="0"/>
                </a:gradFill>
                <a:latin typeface="Arial" panose="020B0604020202020204" pitchFamily="34" charset="0"/>
                <a:sym typeface="+mn-ea"/>
              </a:rPr>
              <a:t>研究</a:t>
            </a:r>
            <a:r>
              <a:rPr lang="zh-CN" altLang="en-US" b="1" dirty="0">
                <a:gradFill>
                  <a:gsLst>
                    <a:gs pos="0">
                      <a:srgbClr val="012D86"/>
                    </a:gs>
                    <a:gs pos="100000">
                      <a:srgbClr val="0E2557"/>
                    </a:gs>
                  </a:gsLst>
                  <a:lin scaled="0"/>
                </a:gradFill>
                <a:latin typeface="Arial" panose="020B0604020202020204" pitchFamily="34" charset="0"/>
                <a:sym typeface="+mn-ea"/>
              </a:rPr>
              <a:t>结果</a:t>
            </a:r>
            <a:endParaRPr lang="zh-CN" altLang="en-US" b="1" dirty="0">
              <a:gradFill>
                <a:gsLst>
                  <a:gs pos="0">
                    <a:srgbClr val="012D86"/>
                  </a:gs>
                  <a:gs pos="100000">
                    <a:srgbClr val="0E2557"/>
                  </a:gs>
                </a:gsLst>
                <a:lin scaled="0"/>
              </a:gradFill>
              <a:latin typeface="Arial" panose="020B0604020202020204" pitchFamily="34" charset="0"/>
              <a:sym typeface="+mn-ea"/>
            </a:endParaRPr>
          </a:p>
        </p:txBody>
      </p:sp>
      <p:sp>
        <p:nvSpPr>
          <p:cNvPr id="2" name="文本框 1"/>
          <p:cNvSpPr txBox="1"/>
          <p:nvPr/>
        </p:nvSpPr>
        <p:spPr>
          <a:xfrm>
            <a:off x="505460" y="986155"/>
            <a:ext cx="11181715" cy="1493520"/>
          </a:xfrm>
          <a:prstGeom prst="rect">
            <a:avLst/>
          </a:prstGeom>
          <a:noFill/>
        </p:spPr>
        <p:txBody>
          <a:bodyPr wrap="square" rtlCol="0" anchor="t">
            <a:noAutofit/>
          </a:bodyPr>
          <a:p>
            <a:pPr marL="285750" indent="-285750">
              <a:buFont typeface="Wingdings" panose="05000000000000000000" charset="0"/>
              <a:buChar char="Ø"/>
            </a:pPr>
            <a:r>
              <a:rPr lang="zh-CN" altLang="en-US" sz="1800" b="1">
                <a:latin typeface="宋体" panose="02010600030101010101" pitchFamily="2" charset="-122"/>
                <a:ea typeface="宋体" panose="02010600030101010101" pitchFamily="2" charset="-122"/>
                <a:cs typeface="宋体" panose="02010600030101010101" pitchFamily="2" charset="-122"/>
              </a:rPr>
              <a:t>认知需求的个体差异</a:t>
            </a:r>
            <a:endParaRPr lang="zh-CN" altLang="en-US" sz="1800" b="1">
              <a:latin typeface="宋体" panose="02010600030101010101" pitchFamily="2" charset="-122"/>
              <a:ea typeface="宋体" panose="02010600030101010101" pitchFamily="2" charset="-122"/>
              <a:cs typeface="宋体" panose="02010600030101010101" pitchFamily="2" charset="-122"/>
            </a:endParaRPr>
          </a:p>
          <a:p>
            <a:endParaRPr lang="zh-CN" altLang="en-US" sz="1800">
              <a:latin typeface="宋体" panose="02010600030101010101" pitchFamily="2" charset="-122"/>
              <a:ea typeface="宋体" panose="02010600030101010101" pitchFamily="2" charset="-122"/>
              <a:cs typeface="宋体" panose="02010600030101010101" pitchFamily="2" charset="-122"/>
            </a:endParaRPr>
          </a:p>
        </p:txBody>
      </p:sp>
      <p:pic>
        <p:nvPicPr>
          <p:cNvPr id="6" name="图片 5"/>
          <p:cNvPicPr>
            <a:picLocks noChangeAspect="1"/>
          </p:cNvPicPr>
          <p:nvPr/>
        </p:nvPicPr>
        <p:blipFill>
          <a:blip r:embed="rId2"/>
          <a:stretch>
            <a:fillRect/>
          </a:stretch>
        </p:blipFill>
        <p:spPr>
          <a:xfrm>
            <a:off x="0" y="125730"/>
            <a:ext cx="10379075" cy="6021070"/>
          </a:xfrm>
          <a:prstGeom prst="rect">
            <a:avLst/>
          </a:prstGeom>
        </p:spPr>
      </p:pic>
      <p:sp>
        <p:nvSpPr>
          <p:cNvPr id="9" name="文本框 8"/>
          <p:cNvSpPr txBox="1"/>
          <p:nvPr/>
        </p:nvSpPr>
        <p:spPr>
          <a:xfrm>
            <a:off x="9554845" y="3601085"/>
            <a:ext cx="2303780" cy="2030095"/>
          </a:xfrm>
          <a:prstGeom prst="rect">
            <a:avLst/>
          </a:prstGeom>
          <a:noFill/>
        </p:spPr>
        <p:txBody>
          <a:bodyPr wrap="square" rtlCol="0" anchor="t">
            <a:spAutoFit/>
          </a:bodyPr>
          <a:p>
            <a:pPr algn="just"/>
            <a:r>
              <a:rPr lang="zh-CN" altLang="en-US" sz="1400">
                <a:latin typeface="宋体" panose="02010600030101010101" pitchFamily="2" charset="-122"/>
                <a:ea typeface="宋体" panose="02010600030101010101" pitchFamily="2" charset="-122"/>
                <a:cs typeface="宋体" panose="02010600030101010101" pitchFamily="2" charset="-122"/>
              </a:rPr>
              <a:t>这段代码用于生成</a:t>
            </a:r>
            <a:r>
              <a:rPr lang="en-US" altLang="zh-CN" sz="1400">
                <a:latin typeface="宋体" panose="02010600030101010101" pitchFamily="2" charset="-122"/>
                <a:ea typeface="宋体" panose="02010600030101010101" pitchFamily="2" charset="-122"/>
                <a:cs typeface="宋体" panose="02010600030101010101" pitchFamily="2" charset="-122"/>
              </a:rPr>
              <a:t>Figure 2</a:t>
            </a:r>
            <a:r>
              <a:rPr lang="zh-CN" altLang="en-US" sz="1400">
                <a:latin typeface="宋体" panose="02010600030101010101" pitchFamily="2" charset="-122"/>
                <a:ea typeface="宋体" panose="02010600030101010101" pitchFamily="2" charset="-122"/>
                <a:cs typeface="宋体" panose="02010600030101010101" pitchFamily="2" charset="-122"/>
              </a:rPr>
              <a:t>和</a:t>
            </a:r>
            <a:r>
              <a:rPr lang="en-US" altLang="zh-CN" sz="1400">
                <a:latin typeface="宋体" panose="02010600030101010101" pitchFamily="2" charset="-122"/>
                <a:ea typeface="宋体" panose="02010600030101010101" pitchFamily="2" charset="-122"/>
                <a:cs typeface="宋体" panose="02010600030101010101" pitchFamily="2" charset="-122"/>
              </a:rPr>
              <a:t>Figure 3，</a:t>
            </a:r>
            <a:r>
              <a:rPr lang="zh-CN" altLang="en-US" sz="1400">
                <a:latin typeface="宋体" panose="02010600030101010101" pitchFamily="2" charset="-122"/>
                <a:ea typeface="宋体" panose="02010600030101010101" pitchFamily="2" charset="-122"/>
                <a:cs typeface="宋体" panose="02010600030101010101" pitchFamily="2" charset="-122"/>
              </a:rPr>
              <a:t>首先通过计算每个被试在各条件下的反应时中位数，得到切换代价（</a:t>
            </a:r>
            <a:r>
              <a:rPr lang="en-US" altLang="zh-CN" sz="1400">
                <a:latin typeface="宋体" panose="02010600030101010101" pitchFamily="2" charset="-122"/>
                <a:ea typeface="宋体" panose="02010600030101010101" pitchFamily="2" charset="-122"/>
                <a:cs typeface="宋体" panose="02010600030101010101" pitchFamily="2" charset="-122"/>
              </a:rPr>
              <a:t>switch cost = switch RT − repeat RT），</a:t>
            </a:r>
            <a:r>
              <a:rPr lang="zh-CN" altLang="en-US" sz="1400">
                <a:latin typeface="宋体" panose="02010600030101010101" pitchFamily="2" charset="-122"/>
                <a:ea typeface="宋体" panose="02010600030101010101" pitchFamily="2" charset="-122"/>
                <a:cs typeface="宋体" panose="02010600030101010101" pitchFamily="2" charset="-122"/>
              </a:rPr>
              <a:t>并与</a:t>
            </a:r>
            <a:r>
              <a:rPr lang="en-US" altLang="zh-CN" sz="1400">
                <a:latin typeface="宋体" panose="02010600030101010101" pitchFamily="2" charset="-122"/>
                <a:ea typeface="宋体" panose="02010600030101010101" pitchFamily="2" charset="-122"/>
                <a:cs typeface="宋体" panose="02010600030101010101" pitchFamily="2" charset="-122"/>
              </a:rPr>
              <a:t>Stroop</a:t>
            </a:r>
            <a:r>
              <a:rPr lang="zh-CN" altLang="en-US" sz="1400">
                <a:latin typeface="宋体" panose="02010600030101010101" pitchFamily="2" charset="-122"/>
                <a:ea typeface="宋体" panose="02010600030101010101" pitchFamily="2" charset="-122"/>
                <a:cs typeface="宋体" panose="02010600030101010101" pitchFamily="2" charset="-122"/>
              </a:rPr>
              <a:t>代价和</a:t>
            </a:r>
            <a:r>
              <a:rPr lang="en-US" altLang="zh-CN" sz="1400">
                <a:latin typeface="宋体" panose="02010600030101010101" pitchFamily="2" charset="-122"/>
                <a:ea typeface="宋体" panose="02010600030101010101" pitchFamily="2" charset="-122"/>
                <a:cs typeface="宋体" panose="02010600030101010101" pitchFamily="2" charset="-122"/>
              </a:rPr>
              <a:t>NFC</a:t>
            </a:r>
            <a:r>
              <a:rPr lang="zh-CN" altLang="en-US" sz="1400">
                <a:latin typeface="宋体" panose="02010600030101010101" pitchFamily="2" charset="-122"/>
                <a:ea typeface="宋体" panose="02010600030101010101" pitchFamily="2" charset="-122"/>
                <a:cs typeface="宋体" panose="02010600030101010101" pitchFamily="2" charset="-122"/>
              </a:rPr>
              <a:t>分数合并，构建绘图数据集。</a:t>
            </a:r>
            <a:endParaRPr lang="zh-CN" altLang="en-US" sz="1400">
              <a:latin typeface="宋体" panose="02010600030101010101" pitchFamily="2" charset="-122"/>
              <a:ea typeface="宋体" panose="02010600030101010101" pitchFamily="2" charset="-122"/>
              <a:cs typeface="宋体" panose="02010600030101010101" pitchFamily="2" charset="-122"/>
            </a:endParaRPr>
          </a:p>
        </p:txBody>
      </p:sp>
      <p:cxnSp>
        <p:nvCxnSpPr>
          <p:cNvPr id="14" name="直接箭头连接符 13"/>
          <p:cNvCxnSpPr/>
          <p:nvPr/>
        </p:nvCxnSpPr>
        <p:spPr>
          <a:xfrm>
            <a:off x="7816215" y="4297680"/>
            <a:ext cx="1556385" cy="2540"/>
          </a:xfrm>
          <a:prstGeom prst="straightConnector1">
            <a:avLst/>
          </a:prstGeom>
          <a:ln>
            <a:solidFill>
              <a:schemeClr val="tx1"/>
            </a:solidFill>
            <a:tailEnd type="arrow"/>
          </a:ln>
        </p:spPr>
        <p:style>
          <a:lnRef idx="2">
            <a:schemeClr val="accent1"/>
          </a:lnRef>
          <a:fillRef idx="0">
            <a:srgbClr val="FFFFFF"/>
          </a:fillRef>
          <a:effectRef idx="0">
            <a:srgbClr val="FFFFFF"/>
          </a:effectRef>
          <a:fontRef idx="minor">
            <a:schemeClr val="tx1"/>
          </a:fontRef>
        </p:style>
      </p:cxn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10" name="图片 1"/>
          <p:cNvPicPr>
            <a:picLocks noChangeAspect="1"/>
          </p:cNvPicPr>
          <p:nvPr/>
        </p:nvPicPr>
        <p:blipFill>
          <a:blip r:embed="rId1"/>
          <a:stretch>
            <a:fillRect/>
          </a:stretch>
        </p:blipFill>
        <p:spPr>
          <a:xfrm>
            <a:off x="8610600" y="0"/>
            <a:ext cx="3581400" cy="1006475"/>
          </a:xfrm>
          <a:prstGeom prst="rect">
            <a:avLst/>
          </a:prstGeom>
          <a:noFill/>
          <a:ln w="9525">
            <a:noFill/>
          </a:ln>
        </p:spPr>
      </p:pic>
      <p:cxnSp>
        <p:nvCxnSpPr>
          <p:cNvPr id="4" name="直接连接符 3"/>
          <p:cNvCxnSpPr/>
          <p:nvPr/>
        </p:nvCxnSpPr>
        <p:spPr>
          <a:xfrm>
            <a:off x="0" y="798513"/>
            <a:ext cx="11176000" cy="0"/>
          </a:xfrm>
          <a:prstGeom prst="line">
            <a:avLst/>
          </a:prstGeom>
          <a:ln w="25400">
            <a:gradFill>
              <a:gsLst>
                <a:gs pos="0">
                  <a:srgbClr val="4B649F"/>
                </a:gs>
                <a:gs pos="100000">
                  <a:srgbClr val="7DB1CD">
                    <a:alpha val="0"/>
                  </a:srgbClr>
                </a:gs>
              </a:gsLst>
              <a:lin ang="0" scaled="0"/>
            </a:gradFill>
          </a:ln>
        </p:spPr>
        <p:style>
          <a:lnRef idx="1">
            <a:schemeClr val="accent1"/>
          </a:lnRef>
          <a:fillRef idx="0">
            <a:schemeClr val="accent1"/>
          </a:fillRef>
          <a:effectRef idx="0">
            <a:schemeClr val="accent1"/>
          </a:effectRef>
          <a:fontRef idx="minor">
            <a:schemeClr val="tx1"/>
          </a:fontRef>
        </p:style>
      </p:cxnSp>
      <p:sp>
        <p:nvSpPr>
          <p:cNvPr id="5" name="矩形 4"/>
          <p:cNvSpPr/>
          <p:nvPr/>
        </p:nvSpPr>
        <p:spPr>
          <a:xfrm>
            <a:off x="0" y="6724650"/>
            <a:ext cx="12192000" cy="133350"/>
          </a:xfrm>
          <a:prstGeom prst="rect">
            <a:avLst/>
          </a:prstGeom>
          <a:solidFill>
            <a:srgbClr val="4B649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1">
              <a:ln>
                <a:noFill/>
              </a:ln>
              <a:solidFill>
                <a:schemeClr val="lt1"/>
              </a:solidFill>
              <a:effectLst/>
              <a:uLnTx/>
              <a:uFillTx/>
              <a:latin typeface="+mn-lt"/>
              <a:ea typeface="+mn-ea"/>
              <a:cs typeface="+mn-cs"/>
            </a:endParaRPr>
          </a:p>
        </p:txBody>
      </p:sp>
      <p:grpSp>
        <p:nvGrpSpPr>
          <p:cNvPr id="17414" name="组合 5"/>
          <p:cNvGrpSpPr/>
          <p:nvPr/>
        </p:nvGrpSpPr>
        <p:grpSpPr>
          <a:xfrm>
            <a:off x="233363" y="125413"/>
            <a:ext cx="635000" cy="635000"/>
            <a:chOff x="5288161" y="2234042"/>
            <a:chExt cx="1607262" cy="1607262"/>
          </a:xfrm>
        </p:grpSpPr>
        <p:sp>
          <p:nvSpPr>
            <p:cNvPr id="7" name="椭圆 6"/>
            <p:cNvSpPr/>
            <p:nvPr/>
          </p:nvSpPr>
          <p:spPr>
            <a:xfrm>
              <a:off x="5288161" y="2234042"/>
              <a:ext cx="1607262" cy="1607262"/>
            </a:xfrm>
            <a:prstGeom prst="ellipse">
              <a:avLst/>
            </a:prstGeom>
            <a:solidFill>
              <a:srgbClr val="4B649F"/>
            </a:solidFill>
            <a:ln w="19050">
              <a:solidFill>
                <a:srgbClr val="4B649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1">
                <a:ln>
                  <a:noFill/>
                </a:ln>
                <a:solidFill>
                  <a:schemeClr val="lt1"/>
                </a:solidFill>
                <a:effectLst/>
                <a:uLnTx/>
                <a:uFillTx/>
                <a:latin typeface="+mn-lt"/>
                <a:ea typeface="+mn-ea"/>
                <a:cs typeface="+mn-cs"/>
              </a:endParaRPr>
            </a:p>
          </p:txBody>
        </p:sp>
        <p:sp>
          <p:nvSpPr>
            <p:cNvPr id="8" name="椭圆 7"/>
            <p:cNvSpPr/>
            <p:nvPr/>
          </p:nvSpPr>
          <p:spPr>
            <a:xfrm>
              <a:off x="5396650" y="2334495"/>
              <a:ext cx="1390282" cy="1390282"/>
            </a:xfrm>
            <a:prstGeom prst="ellipse">
              <a:avLst/>
            </a:prstGeom>
            <a:solidFill>
              <a:schemeClr val="bg1"/>
            </a:solidFill>
            <a:ln w="19050">
              <a:solidFill>
                <a:srgbClr val="4B649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1">
                <a:ln>
                  <a:noFill/>
                </a:ln>
                <a:solidFill>
                  <a:schemeClr val="lt1"/>
                </a:solidFill>
                <a:effectLst/>
                <a:uLnTx/>
                <a:uFillTx/>
                <a:latin typeface="+mn-lt"/>
                <a:ea typeface="+mn-ea"/>
                <a:cs typeface="+mn-cs"/>
              </a:endParaRPr>
            </a:p>
          </p:txBody>
        </p:sp>
        <p:sp>
          <p:nvSpPr>
            <p:cNvPr id="17440" name="KSO_Shape"/>
            <p:cNvSpPr/>
            <p:nvPr/>
          </p:nvSpPr>
          <p:spPr>
            <a:xfrm>
              <a:off x="5547153" y="2697761"/>
              <a:ext cx="1089278" cy="662788"/>
            </a:xfrm>
            <a:custGeom>
              <a:avLst/>
              <a:gdLst>
                <a:gd name="txL" fmla="*/ 0 w 3931"/>
                <a:gd name="txT" fmla="*/ 0 h 2392"/>
                <a:gd name="txR" fmla="*/ 3931 w 3931"/>
                <a:gd name="txB" fmla="*/ 2392 h 2392"/>
              </a:gdLst>
              <a:ahLst/>
              <a:cxnLst>
                <a:cxn ang="0">
                  <a:pos x="844045" y="356609"/>
                </a:cxn>
                <a:cxn ang="0">
                  <a:pos x="561681" y="235522"/>
                </a:cxn>
                <a:cxn ang="0">
                  <a:pos x="243848" y="356609"/>
                </a:cxn>
                <a:cxn ang="0">
                  <a:pos x="155176" y="319756"/>
                </a:cxn>
                <a:cxn ang="0">
                  <a:pos x="155176" y="428374"/>
                </a:cxn>
                <a:cxn ang="0">
                  <a:pos x="179283" y="461624"/>
                </a:cxn>
                <a:cxn ang="0">
                  <a:pos x="154622" y="494874"/>
                </a:cxn>
                <a:cxn ang="0">
                  <a:pos x="180946" y="611804"/>
                </a:cxn>
                <a:cxn ang="0">
                  <a:pos x="103358" y="611804"/>
                </a:cxn>
                <a:cxn ang="0">
                  <a:pos x="129960" y="494320"/>
                </a:cxn>
                <a:cxn ang="0">
                  <a:pos x="108346" y="461624"/>
                </a:cxn>
                <a:cxn ang="0">
                  <a:pos x="129128" y="429205"/>
                </a:cxn>
                <a:cxn ang="0">
                  <a:pos x="129128" y="308950"/>
                </a:cxn>
                <a:cxn ang="0">
                  <a:pos x="0" y="254918"/>
                </a:cxn>
                <a:cxn ang="0">
                  <a:pos x="568054" y="0"/>
                </a:cxn>
                <a:cxn ang="0">
                  <a:pos x="1089278" y="258243"/>
                </a:cxn>
                <a:cxn ang="0">
                  <a:pos x="844045" y="356609"/>
                </a:cxn>
                <a:cxn ang="0">
                  <a:pos x="555307" y="297035"/>
                </a:cxn>
                <a:cxn ang="0">
                  <a:pos x="811624" y="384040"/>
                </a:cxn>
                <a:cxn ang="0">
                  <a:pos x="811624" y="594902"/>
                </a:cxn>
                <a:cxn ang="0">
                  <a:pos x="542284" y="662788"/>
                </a:cxn>
                <a:cxn ang="0">
                  <a:pos x="304532" y="594902"/>
                </a:cxn>
                <a:cxn ang="0">
                  <a:pos x="304532" y="384040"/>
                </a:cxn>
                <a:cxn ang="0">
                  <a:pos x="555307" y="297035"/>
                </a:cxn>
                <a:cxn ang="0">
                  <a:pos x="551982" y="623996"/>
                </a:cxn>
                <a:cxn ang="0">
                  <a:pos x="758698" y="572458"/>
                </a:cxn>
                <a:cxn ang="0">
                  <a:pos x="551982" y="520643"/>
                </a:cxn>
                <a:cxn ang="0">
                  <a:pos x="345543" y="572458"/>
                </a:cxn>
                <a:cxn ang="0">
                  <a:pos x="551982" y="623996"/>
                </a:cxn>
              </a:cxnLst>
              <a:rect l="txL" t="txT" r="txR" b="txB"/>
              <a:pathLst>
                <a:path w="3931" h="2392">
                  <a:moveTo>
                    <a:pt x="3046" y="1287"/>
                  </a:moveTo>
                  <a:cubicBezTo>
                    <a:pt x="3046" y="1287"/>
                    <a:pt x="2618" y="850"/>
                    <a:pt x="2027" y="850"/>
                  </a:cubicBezTo>
                  <a:cubicBezTo>
                    <a:pt x="1450" y="850"/>
                    <a:pt x="880" y="1287"/>
                    <a:pt x="880" y="1287"/>
                  </a:cubicBezTo>
                  <a:cubicBezTo>
                    <a:pt x="560" y="1154"/>
                    <a:pt x="560" y="1154"/>
                    <a:pt x="560" y="1154"/>
                  </a:cubicBezTo>
                  <a:cubicBezTo>
                    <a:pt x="560" y="1546"/>
                    <a:pt x="560" y="1546"/>
                    <a:pt x="560" y="1546"/>
                  </a:cubicBezTo>
                  <a:cubicBezTo>
                    <a:pt x="610" y="1563"/>
                    <a:pt x="647" y="1610"/>
                    <a:pt x="647" y="1666"/>
                  </a:cubicBezTo>
                  <a:cubicBezTo>
                    <a:pt x="647" y="1723"/>
                    <a:pt x="609" y="1769"/>
                    <a:pt x="558" y="1786"/>
                  </a:cubicBezTo>
                  <a:cubicBezTo>
                    <a:pt x="653" y="2208"/>
                    <a:pt x="653" y="2208"/>
                    <a:pt x="653" y="2208"/>
                  </a:cubicBezTo>
                  <a:cubicBezTo>
                    <a:pt x="373" y="2208"/>
                    <a:pt x="373" y="2208"/>
                    <a:pt x="373" y="2208"/>
                  </a:cubicBezTo>
                  <a:cubicBezTo>
                    <a:pt x="469" y="1784"/>
                    <a:pt x="469" y="1784"/>
                    <a:pt x="469" y="1784"/>
                  </a:cubicBezTo>
                  <a:cubicBezTo>
                    <a:pt x="423" y="1764"/>
                    <a:pt x="391" y="1719"/>
                    <a:pt x="391" y="1666"/>
                  </a:cubicBezTo>
                  <a:cubicBezTo>
                    <a:pt x="391" y="1614"/>
                    <a:pt x="422" y="1570"/>
                    <a:pt x="466" y="1549"/>
                  </a:cubicBezTo>
                  <a:cubicBezTo>
                    <a:pt x="466" y="1115"/>
                    <a:pt x="466" y="1115"/>
                    <a:pt x="466" y="1115"/>
                  </a:cubicBezTo>
                  <a:cubicBezTo>
                    <a:pt x="0" y="920"/>
                    <a:pt x="0" y="920"/>
                    <a:pt x="0" y="920"/>
                  </a:cubicBezTo>
                  <a:cubicBezTo>
                    <a:pt x="2050" y="0"/>
                    <a:pt x="2050" y="0"/>
                    <a:pt x="2050" y="0"/>
                  </a:cubicBezTo>
                  <a:cubicBezTo>
                    <a:pt x="3931" y="932"/>
                    <a:pt x="3931" y="932"/>
                    <a:pt x="3931" y="932"/>
                  </a:cubicBezTo>
                  <a:lnTo>
                    <a:pt x="3046" y="1287"/>
                  </a:lnTo>
                  <a:close/>
                  <a:moveTo>
                    <a:pt x="2004" y="1072"/>
                  </a:moveTo>
                  <a:cubicBezTo>
                    <a:pt x="2598" y="1072"/>
                    <a:pt x="2929" y="1386"/>
                    <a:pt x="2929" y="1386"/>
                  </a:cubicBezTo>
                  <a:cubicBezTo>
                    <a:pt x="2929" y="2147"/>
                    <a:pt x="2929" y="2147"/>
                    <a:pt x="2929" y="2147"/>
                  </a:cubicBezTo>
                  <a:cubicBezTo>
                    <a:pt x="2929" y="2147"/>
                    <a:pt x="2586" y="2392"/>
                    <a:pt x="1957" y="2392"/>
                  </a:cubicBezTo>
                  <a:cubicBezTo>
                    <a:pt x="1328" y="2392"/>
                    <a:pt x="1099" y="2147"/>
                    <a:pt x="1099" y="2147"/>
                  </a:cubicBezTo>
                  <a:cubicBezTo>
                    <a:pt x="1099" y="1386"/>
                    <a:pt x="1099" y="1386"/>
                    <a:pt x="1099" y="1386"/>
                  </a:cubicBezTo>
                  <a:cubicBezTo>
                    <a:pt x="1099" y="1386"/>
                    <a:pt x="1410" y="1072"/>
                    <a:pt x="2004" y="1072"/>
                  </a:cubicBezTo>
                  <a:close/>
                  <a:moveTo>
                    <a:pt x="1992" y="2252"/>
                  </a:moveTo>
                  <a:cubicBezTo>
                    <a:pt x="2404" y="2252"/>
                    <a:pt x="2738" y="2168"/>
                    <a:pt x="2738" y="2066"/>
                  </a:cubicBezTo>
                  <a:cubicBezTo>
                    <a:pt x="2738" y="1963"/>
                    <a:pt x="2404" y="1879"/>
                    <a:pt x="1992" y="1879"/>
                  </a:cubicBezTo>
                  <a:cubicBezTo>
                    <a:pt x="1581" y="1879"/>
                    <a:pt x="1247" y="1963"/>
                    <a:pt x="1247" y="2066"/>
                  </a:cubicBezTo>
                  <a:cubicBezTo>
                    <a:pt x="1247" y="2168"/>
                    <a:pt x="1581" y="2252"/>
                    <a:pt x="1992" y="2252"/>
                  </a:cubicBezTo>
                  <a:close/>
                </a:path>
              </a:pathLst>
            </a:custGeom>
            <a:solidFill>
              <a:srgbClr val="4B649F">
                <a:alpha val="100000"/>
              </a:srgbClr>
            </a:solidFill>
            <a:ln w="9525">
              <a:noFill/>
            </a:ln>
          </p:spPr>
          <p:txBody>
            <a:bodyPr/>
            <a:lstStyle/>
            <a:p>
              <a:endParaRPr lang="zh-CN" altLang="en-US" sz="1800"/>
            </a:p>
          </p:txBody>
        </p:sp>
      </p:grpSp>
      <p:sp>
        <p:nvSpPr>
          <p:cNvPr id="19" name="文本框 2"/>
          <p:cNvSpPr txBox="1"/>
          <p:nvPr/>
        </p:nvSpPr>
        <p:spPr>
          <a:xfrm>
            <a:off x="917258" y="194310"/>
            <a:ext cx="4541837" cy="478155"/>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indent="0" eaLnBrk="1" hangingPunct="1">
              <a:buNone/>
            </a:pPr>
            <a:r>
              <a:rPr lang="zh-CN" altLang="en-US" b="1" dirty="0">
                <a:gradFill>
                  <a:gsLst>
                    <a:gs pos="0">
                      <a:srgbClr val="012D86"/>
                    </a:gs>
                    <a:gs pos="100000">
                      <a:srgbClr val="0E2557"/>
                    </a:gs>
                  </a:gsLst>
                  <a:lin scaled="0"/>
                </a:gradFill>
                <a:latin typeface="Arial" panose="020B0604020202020204" pitchFamily="34" charset="0"/>
                <a:sym typeface="+mn-ea"/>
              </a:rPr>
              <a:t>研究</a:t>
            </a:r>
            <a:r>
              <a:rPr lang="zh-CN" altLang="en-US" b="1" dirty="0">
                <a:gradFill>
                  <a:gsLst>
                    <a:gs pos="0">
                      <a:srgbClr val="012D86"/>
                    </a:gs>
                    <a:gs pos="100000">
                      <a:srgbClr val="0E2557"/>
                    </a:gs>
                  </a:gsLst>
                  <a:lin scaled="0"/>
                </a:gradFill>
                <a:latin typeface="Arial" panose="020B0604020202020204" pitchFamily="34" charset="0"/>
                <a:sym typeface="+mn-ea"/>
              </a:rPr>
              <a:t>结果</a:t>
            </a:r>
            <a:endParaRPr lang="zh-CN" altLang="en-US" b="1" dirty="0">
              <a:gradFill>
                <a:gsLst>
                  <a:gs pos="0">
                    <a:srgbClr val="012D86"/>
                  </a:gs>
                  <a:gs pos="100000">
                    <a:srgbClr val="0E2557"/>
                  </a:gs>
                </a:gsLst>
                <a:lin scaled="0"/>
              </a:gradFill>
              <a:latin typeface="Arial" panose="020B0604020202020204" pitchFamily="34" charset="0"/>
              <a:sym typeface="+mn-ea"/>
            </a:endParaRPr>
          </a:p>
        </p:txBody>
      </p:sp>
      <p:sp>
        <p:nvSpPr>
          <p:cNvPr id="2" name="文本框 1"/>
          <p:cNvSpPr txBox="1"/>
          <p:nvPr/>
        </p:nvSpPr>
        <p:spPr>
          <a:xfrm>
            <a:off x="505460" y="986155"/>
            <a:ext cx="11181715" cy="1493520"/>
          </a:xfrm>
          <a:prstGeom prst="rect">
            <a:avLst/>
          </a:prstGeom>
          <a:noFill/>
        </p:spPr>
        <p:txBody>
          <a:bodyPr wrap="square" rtlCol="0" anchor="t">
            <a:noAutofit/>
          </a:bodyPr>
          <a:p>
            <a:pPr marL="285750" indent="-285750">
              <a:buFont typeface="Wingdings" panose="05000000000000000000" charset="0"/>
              <a:buChar char="Ø"/>
            </a:pPr>
            <a:r>
              <a:rPr lang="zh-CN" altLang="en-US" sz="1800" b="1">
                <a:latin typeface="宋体" panose="02010600030101010101" pitchFamily="2" charset="-122"/>
                <a:ea typeface="宋体" panose="02010600030101010101" pitchFamily="2" charset="-122"/>
                <a:cs typeface="宋体" panose="02010600030101010101" pitchFamily="2" charset="-122"/>
              </a:rPr>
              <a:t>认知需求的个体差异</a:t>
            </a:r>
            <a:endParaRPr lang="zh-CN" altLang="en-US" sz="1800" b="1">
              <a:latin typeface="宋体" panose="02010600030101010101" pitchFamily="2" charset="-122"/>
              <a:ea typeface="宋体" panose="02010600030101010101" pitchFamily="2" charset="-122"/>
              <a:cs typeface="宋体" panose="02010600030101010101" pitchFamily="2" charset="-122"/>
            </a:endParaRPr>
          </a:p>
          <a:p>
            <a:endParaRPr lang="zh-CN" altLang="en-US" sz="1800">
              <a:latin typeface="宋体" panose="02010600030101010101" pitchFamily="2" charset="-122"/>
              <a:ea typeface="宋体" panose="02010600030101010101" pitchFamily="2" charset="-122"/>
              <a:cs typeface="宋体" panose="02010600030101010101" pitchFamily="2" charset="-122"/>
            </a:endParaRPr>
          </a:p>
        </p:txBody>
      </p:sp>
      <p:pic>
        <p:nvPicPr>
          <p:cNvPr id="6" name="图片 5"/>
          <p:cNvPicPr>
            <a:picLocks noChangeAspect="1"/>
          </p:cNvPicPr>
          <p:nvPr/>
        </p:nvPicPr>
        <p:blipFill>
          <a:blip r:embed="rId2"/>
          <a:stretch>
            <a:fillRect/>
          </a:stretch>
        </p:blipFill>
        <p:spPr>
          <a:xfrm>
            <a:off x="704850" y="1440180"/>
            <a:ext cx="3779520" cy="5130165"/>
          </a:xfrm>
          <a:prstGeom prst="rect">
            <a:avLst/>
          </a:prstGeom>
        </p:spPr>
      </p:pic>
      <p:sp>
        <p:nvSpPr>
          <p:cNvPr id="12" name="文本框 11"/>
          <p:cNvSpPr txBox="1"/>
          <p:nvPr/>
        </p:nvSpPr>
        <p:spPr>
          <a:xfrm>
            <a:off x="7436485" y="836930"/>
            <a:ext cx="2281555" cy="368300"/>
          </a:xfrm>
          <a:prstGeom prst="rect">
            <a:avLst/>
          </a:prstGeom>
          <a:noFill/>
        </p:spPr>
        <p:txBody>
          <a:bodyPr wrap="square" rtlCol="0">
            <a:spAutoFit/>
          </a:bodyPr>
          <a:p>
            <a:r>
              <a:rPr lang="zh-CN" altLang="en-US" b="1">
                <a:latin typeface="宋体" panose="02010600030101010101" pitchFamily="2" charset="-122"/>
                <a:ea typeface="宋体" panose="02010600030101010101" pitchFamily="2" charset="-122"/>
              </a:rPr>
              <a:t>（复现）</a:t>
            </a:r>
            <a:r>
              <a:rPr lang="en-US" altLang="zh-CN" b="1">
                <a:latin typeface="宋体" panose="02010600030101010101" pitchFamily="2" charset="-122"/>
                <a:ea typeface="宋体" panose="02010600030101010101" pitchFamily="2" charset="-122"/>
              </a:rPr>
              <a:t>F</a:t>
            </a:r>
            <a:r>
              <a:rPr lang="en-US" altLang="zh-CN" b="1">
                <a:latin typeface="宋体" panose="02010600030101010101" pitchFamily="2" charset="-122"/>
                <a:ea typeface="宋体" panose="02010600030101010101" pitchFamily="2" charset="-122"/>
              </a:rPr>
              <a:t>igure3</a:t>
            </a:r>
            <a:endParaRPr lang="en-US" altLang="zh-CN" b="1">
              <a:latin typeface="宋体" panose="02010600030101010101" pitchFamily="2" charset="-122"/>
              <a:ea typeface="宋体" panose="02010600030101010101" pitchFamily="2" charset="-122"/>
            </a:endParaRPr>
          </a:p>
        </p:txBody>
      </p:sp>
      <p:pic>
        <p:nvPicPr>
          <p:cNvPr id="9" name="图片 8"/>
          <p:cNvPicPr>
            <a:picLocks noChangeAspect="1"/>
          </p:cNvPicPr>
          <p:nvPr/>
        </p:nvPicPr>
        <p:blipFill>
          <a:blip r:embed="rId3"/>
          <a:stretch>
            <a:fillRect/>
          </a:stretch>
        </p:blipFill>
        <p:spPr>
          <a:xfrm>
            <a:off x="5126355" y="1306830"/>
            <a:ext cx="5973445" cy="2441575"/>
          </a:xfrm>
          <a:prstGeom prst="rect">
            <a:avLst/>
          </a:prstGeom>
        </p:spPr>
      </p:pic>
      <p:sp>
        <p:nvSpPr>
          <p:cNvPr id="10" name="文本框 9"/>
          <p:cNvSpPr txBox="1"/>
          <p:nvPr/>
        </p:nvSpPr>
        <p:spPr>
          <a:xfrm>
            <a:off x="11080115" y="2168525"/>
            <a:ext cx="645160" cy="368300"/>
          </a:xfrm>
          <a:prstGeom prst="rect">
            <a:avLst/>
          </a:prstGeom>
          <a:noFill/>
        </p:spPr>
        <p:txBody>
          <a:bodyPr wrap="square" rtlCol="0">
            <a:spAutoFit/>
          </a:bodyPr>
          <a:p>
            <a:r>
              <a:rPr lang="en-US" altLang="zh-CN"/>
              <a:t>1</a:t>
            </a:r>
            <a:r>
              <a:rPr lang="zh-CN" altLang="en-US"/>
              <a:t>版</a:t>
            </a:r>
            <a:endParaRPr lang="zh-CN" altLang="en-US"/>
          </a:p>
        </p:txBody>
      </p:sp>
      <p:sp>
        <p:nvSpPr>
          <p:cNvPr id="11" name="文本框 10"/>
          <p:cNvSpPr txBox="1"/>
          <p:nvPr/>
        </p:nvSpPr>
        <p:spPr>
          <a:xfrm>
            <a:off x="11176000" y="4711700"/>
            <a:ext cx="645160" cy="368300"/>
          </a:xfrm>
          <a:prstGeom prst="rect">
            <a:avLst/>
          </a:prstGeom>
          <a:noFill/>
        </p:spPr>
        <p:txBody>
          <a:bodyPr wrap="square" rtlCol="0">
            <a:spAutoFit/>
          </a:bodyPr>
          <a:p>
            <a:r>
              <a:rPr lang="en-US" altLang="zh-CN"/>
              <a:t>2</a:t>
            </a:r>
            <a:r>
              <a:rPr lang="zh-CN" altLang="en-US"/>
              <a:t>版</a:t>
            </a:r>
            <a:endParaRPr lang="zh-CN" altLang="en-US"/>
          </a:p>
        </p:txBody>
      </p:sp>
      <p:pic>
        <p:nvPicPr>
          <p:cNvPr id="13" name="图片 12"/>
          <p:cNvPicPr>
            <a:picLocks noChangeAspect="1"/>
          </p:cNvPicPr>
          <p:nvPr/>
        </p:nvPicPr>
        <p:blipFill>
          <a:blip r:embed="rId4"/>
          <a:stretch>
            <a:fillRect/>
          </a:stretch>
        </p:blipFill>
        <p:spPr>
          <a:xfrm>
            <a:off x="5126355" y="3743325"/>
            <a:ext cx="5973445" cy="284607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10" name="图片 1"/>
          <p:cNvPicPr>
            <a:picLocks noChangeAspect="1"/>
          </p:cNvPicPr>
          <p:nvPr/>
        </p:nvPicPr>
        <p:blipFill>
          <a:blip r:embed="rId1"/>
          <a:stretch>
            <a:fillRect/>
          </a:stretch>
        </p:blipFill>
        <p:spPr>
          <a:xfrm>
            <a:off x="8610600" y="0"/>
            <a:ext cx="3581400" cy="1006475"/>
          </a:xfrm>
          <a:prstGeom prst="rect">
            <a:avLst/>
          </a:prstGeom>
          <a:noFill/>
          <a:ln w="9525">
            <a:noFill/>
          </a:ln>
        </p:spPr>
      </p:pic>
      <p:cxnSp>
        <p:nvCxnSpPr>
          <p:cNvPr id="4" name="直接连接符 3"/>
          <p:cNvCxnSpPr/>
          <p:nvPr/>
        </p:nvCxnSpPr>
        <p:spPr>
          <a:xfrm>
            <a:off x="0" y="798513"/>
            <a:ext cx="11176000" cy="0"/>
          </a:xfrm>
          <a:prstGeom prst="line">
            <a:avLst/>
          </a:prstGeom>
          <a:ln w="25400">
            <a:gradFill>
              <a:gsLst>
                <a:gs pos="0">
                  <a:srgbClr val="4B649F"/>
                </a:gs>
                <a:gs pos="100000">
                  <a:srgbClr val="7DB1CD">
                    <a:alpha val="0"/>
                  </a:srgbClr>
                </a:gs>
              </a:gsLst>
              <a:lin ang="0" scaled="0"/>
            </a:gradFill>
          </a:ln>
        </p:spPr>
        <p:style>
          <a:lnRef idx="1">
            <a:schemeClr val="accent1"/>
          </a:lnRef>
          <a:fillRef idx="0">
            <a:schemeClr val="accent1"/>
          </a:fillRef>
          <a:effectRef idx="0">
            <a:schemeClr val="accent1"/>
          </a:effectRef>
          <a:fontRef idx="minor">
            <a:schemeClr val="tx1"/>
          </a:fontRef>
        </p:style>
      </p:cxnSp>
      <p:sp>
        <p:nvSpPr>
          <p:cNvPr id="5" name="矩形 4"/>
          <p:cNvSpPr/>
          <p:nvPr/>
        </p:nvSpPr>
        <p:spPr>
          <a:xfrm>
            <a:off x="0" y="6724650"/>
            <a:ext cx="12192000" cy="133350"/>
          </a:xfrm>
          <a:prstGeom prst="rect">
            <a:avLst/>
          </a:prstGeom>
          <a:solidFill>
            <a:srgbClr val="4B649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1">
              <a:ln>
                <a:noFill/>
              </a:ln>
              <a:solidFill>
                <a:schemeClr val="lt1"/>
              </a:solidFill>
              <a:effectLst/>
              <a:uLnTx/>
              <a:uFillTx/>
              <a:latin typeface="+mn-lt"/>
              <a:ea typeface="+mn-ea"/>
              <a:cs typeface="+mn-cs"/>
            </a:endParaRPr>
          </a:p>
        </p:txBody>
      </p:sp>
      <p:grpSp>
        <p:nvGrpSpPr>
          <p:cNvPr id="17414" name="组合 5"/>
          <p:cNvGrpSpPr/>
          <p:nvPr/>
        </p:nvGrpSpPr>
        <p:grpSpPr>
          <a:xfrm>
            <a:off x="233363" y="125413"/>
            <a:ext cx="635000" cy="635000"/>
            <a:chOff x="5288161" y="2234042"/>
            <a:chExt cx="1607262" cy="1607262"/>
          </a:xfrm>
        </p:grpSpPr>
        <p:sp>
          <p:nvSpPr>
            <p:cNvPr id="7" name="椭圆 6"/>
            <p:cNvSpPr/>
            <p:nvPr/>
          </p:nvSpPr>
          <p:spPr>
            <a:xfrm>
              <a:off x="5288161" y="2234042"/>
              <a:ext cx="1607262" cy="1607262"/>
            </a:xfrm>
            <a:prstGeom prst="ellipse">
              <a:avLst/>
            </a:prstGeom>
            <a:solidFill>
              <a:srgbClr val="4B649F"/>
            </a:solidFill>
            <a:ln w="19050">
              <a:solidFill>
                <a:srgbClr val="4B649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1">
                <a:ln>
                  <a:noFill/>
                </a:ln>
                <a:solidFill>
                  <a:schemeClr val="lt1"/>
                </a:solidFill>
                <a:effectLst/>
                <a:uLnTx/>
                <a:uFillTx/>
                <a:latin typeface="+mn-lt"/>
                <a:ea typeface="+mn-ea"/>
                <a:cs typeface="+mn-cs"/>
              </a:endParaRPr>
            </a:p>
          </p:txBody>
        </p:sp>
        <p:sp>
          <p:nvSpPr>
            <p:cNvPr id="8" name="椭圆 7"/>
            <p:cNvSpPr/>
            <p:nvPr/>
          </p:nvSpPr>
          <p:spPr>
            <a:xfrm>
              <a:off x="5396650" y="2334495"/>
              <a:ext cx="1390282" cy="1390282"/>
            </a:xfrm>
            <a:prstGeom prst="ellipse">
              <a:avLst/>
            </a:prstGeom>
            <a:solidFill>
              <a:schemeClr val="bg1"/>
            </a:solidFill>
            <a:ln w="19050">
              <a:solidFill>
                <a:srgbClr val="4B649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1">
                <a:ln>
                  <a:noFill/>
                </a:ln>
                <a:solidFill>
                  <a:schemeClr val="lt1"/>
                </a:solidFill>
                <a:effectLst/>
                <a:uLnTx/>
                <a:uFillTx/>
                <a:latin typeface="+mn-lt"/>
                <a:ea typeface="+mn-ea"/>
                <a:cs typeface="+mn-cs"/>
              </a:endParaRPr>
            </a:p>
          </p:txBody>
        </p:sp>
        <p:sp>
          <p:nvSpPr>
            <p:cNvPr id="17440" name="KSO_Shape"/>
            <p:cNvSpPr/>
            <p:nvPr/>
          </p:nvSpPr>
          <p:spPr>
            <a:xfrm>
              <a:off x="5547153" y="2697761"/>
              <a:ext cx="1089278" cy="662788"/>
            </a:xfrm>
            <a:custGeom>
              <a:avLst/>
              <a:gdLst>
                <a:gd name="txL" fmla="*/ 0 w 3931"/>
                <a:gd name="txT" fmla="*/ 0 h 2392"/>
                <a:gd name="txR" fmla="*/ 3931 w 3931"/>
                <a:gd name="txB" fmla="*/ 2392 h 2392"/>
              </a:gdLst>
              <a:ahLst/>
              <a:cxnLst>
                <a:cxn ang="0">
                  <a:pos x="844045" y="356609"/>
                </a:cxn>
                <a:cxn ang="0">
                  <a:pos x="561681" y="235522"/>
                </a:cxn>
                <a:cxn ang="0">
                  <a:pos x="243848" y="356609"/>
                </a:cxn>
                <a:cxn ang="0">
                  <a:pos x="155176" y="319756"/>
                </a:cxn>
                <a:cxn ang="0">
                  <a:pos x="155176" y="428374"/>
                </a:cxn>
                <a:cxn ang="0">
                  <a:pos x="179283" y="461624"/>
                </a:cxn>
                <a:cxn ang="0">
                  <a:pos x="154622" y="494874"/>
                </a:cxn>
                <a:cxn ang="0">
                  <a:pos x="180946" y="611804"/>
                </a:cxn>
                <a:cxn ang="0">
                  <a:pos x="103358" y="611804"/>
                </a:cxn>
                <a:cxn ang="0">
                  <a:pos x="129960" y="494320"/>
                </a:cxn>
                <a:cxn ang="0">
                  <a:pos x="108346" y="461624"/>
                </a:cxn>
                <a:cxn ang="0">
                  <a:pos x="129128" y="429205"/>
                </a:cxn>
                <a:cxn ang="0">
                  <a:pos x="129128" y="308950"/>
                </a:cxn>
                <a:cxn ang="0">
                  <a:pos x="0" y="254918"/>
                </a:cxn>
                <a:cxn ang="0">
                  <a:pos x="568054" y="0"/>
                </a:cxn>
                <a:cxn ang="0">
                  <a:pos x="1089278" y="258243"/>
                </a:cxn>
                <a:cxn ang="0">
                  <a:pos x="844045" y="356609"/>
                </a:cxn>
                <a:cxn ang="0">
                  <a:pos x="555307" y="297035"/>
                </a:cxn>
                <a:cxn ang="0">
                  <a:pos x="811624" y="384040"/>
                </a:cxn>
                <a:cxn ang="0">
                  <a:pos x="811624" y="594902"/>
                </a:cxn>
                <a:cxn ang="0">
                  <a:pos x="542284" y="662788"/>
                </a:cxn>
                <a:cxn ang="0">
                  <a:pos x="304532" y="594902"/>
                </a:cxn>
                <a:cxn ang="0">
                  <a:pos x="304532" y="384040"/>
                </a:cxn>
                <a:cxn ang="0">
                  <a:pos x="555307" y="297035"/>
                </a:cxn>
                <a:cxn ang="0">
                  <a:pos x="551982" y="623996"/>
                </a:cxn>
                <a:cxn ang="0">
                  <a:pos x="758698" y="572458"/>
                </a:cxn>
                <a:cxn ang="0">
                  <a:pos x="551982" y="520643"/>
                </a:cxn>
                <a:cxn ang="0">
                  <a:pos x="345543" y="572458"/>
                </a:cxn>
                <a:cxn ang="0">
                  <a:pos x="551982" y="623996"/>
                </a:cxn>
              </a:cxnLst>
              <a:rect l="txL" t="txT" r="txR" b="txB"/>
              <a:pathLst>
                <a:path w="3931" h="2392">
                  <a:moveTo>
                    <a:pt x="3046" y="1287"/>
                  </a:moveTo>
                  <a:cubicBezTo>
                    <a:pt x="3046" y="1287"/>
                    <a:pt x="2618" y="850"/>
                    <a:pt x="2027" y="850"/>
                  </a:cubicBezTo>
                  <a:cubicBezTo>
                    <a:pt x="1450" y="850"/>
                    <a:pt x="880" y="1287"/>
                    <a:pt x="880" y="1287"/>
                  </a:cubicBezTo>
                  <a:cubicBezTo>
                    <a:pt x="560" y="1154"/>
                    <a:pt x="560" y="1154"/>
                    <a:pt x="560" y="1154"/>
                  </a:cubicBezTo>
                  <a:cubicBezTo>
                    <a:pt x="560" y="1546"/>
                    <a:pt x="560" y="1546"/>
                    <a:pt x="560" y="1546"/>
                  </a:cubicBezTo>
                  <a:cubicBezTo>
                    <a:pt x="610" y="1563"/>
                    <a:pt x="647" y="1610"/>
                    <a:pt x="647" y="1666"/>
                  </a:cubicBezTo>
                  <a:cubicBezTo>
                    <a:pt x="647" y="1723"/>
                    <a:pt x="609" y="1769"/>
                    <a:pt x="558" y="1786"/>
                  </a:cubicBezTo>
                  <a:cubicBezTo>
                    <a:pt x="653" y="2208"/>
                    <a:pt x="653" y="2208"/>
                    <a:pt x="653" y="2208"/>
                  </a:cubicBezTo>
                  <a:cubicBezTo>
                    <a:pt x="373" y="2208"/>
                    <a:pt x="373" y="2208"/>
                    <a:pt x="373" y="2208"/>
                  </a:cubicBezTo>
                  <a:cubicBezTo>
                    <a:pt x="469" y="1784"/>
                    <a:pt x="469" y="1784"/>
                    <a:pt x="469" y="1784"/>
                  </a:cubicBezTo>
                  <a:cubicBezTo>
                    <a:pt x="423" y="1764"/>
                    <a:pt x="391" y="1719"/>
                    <a:pt x="391" y="1666"/>
                  </a:cubicBezTo>
                  <a:cubicBezTo>
                    <a:pt x="391" y="1614"/>
                    <a:pt x="422" y="1570"/>
                    <a:pt x="466" y="1549"/>
                  </a:cubicBezTo>
                  <a:cubicBezTo>
                    <a:pt x="466" y="1115"/>
                    <a:pt x="466" y="1115"/>
                    <a:pt x="466" y="1115"/>
                  </a:cubicBezTo>
                  <a:cubicBezTo>
                    <a:pt x="0" y="920"/>
                    <a:pt x="0" y="920"/>
                    <a:pt x="0" y="920"/>
                  </a:cubicBezTo>
                  <a:cubicBezTo>
                    <a:pt x="2050" y="0"/>
                    <a:pt x="2050" y="0"/>
                    <a:pt x="2050" y="0"/>
                  </a:cubicBezTo>
                  <a:cubicBezTo>
                    <a:pt x="3931" y="932"/>
                    <a:pt x="3931" y="932"/>
                    <a:pt x="3931" y="932"/>
                  </a:cubicBezTo>
                  <a:lnTo>
                    <a:pt x="3046" y="1287"/>
                  </a:lnTo>
                  <a:close/>
                  <a:moveTo>
                    <a:pt x="2004" y="1072"/>
                  </a:moveTo>
                  <a:cubicBezTo>
                    <a:pt x="2598" y="1072"/>
                    <a:pt x="2929" y="1386"/>
                    <a:pt x="2929" y="1386"/>
                  </a:cubicBezTo>
                  <a:cubicBezTo>
                    <a:pt x="2929" y="2147"/>
                    <a:pt x="2929" y="2147"/>
                    <a:pt x="2929" y="2147"/>
                  </a:cubicBezTo>
                  <a:cubicBezTo>
                    <a:pt x="2929" y="2147"/>
                    <a:pt x="2586" y="2392"/>
                    <a:pt x="1957" y="2392"/>
                  </a:cubicBezTo>
                  <a:cubicBezTo>
                    <a:pt x="1328" y="2392"/>
                    <a:pt x="1099" y="2147"/>
                    <a:pt x="1099" y="2147"/>
                  </a:cubicBezTo>
                  <a:cubicBezTo>
                    <a:pt x="1099" y="1386"/>
                    <a:pt x="1099" y="1386"/>
                    <a:pt x="1099" y="1386"/>
                  </a:cubicBezTo>
                  <a:cubicBezTo>
                    <a:pt x="1099" y="1386"/>
                    <a:pt x="1410" y="1072"/>
                    <a:pt x="2004" y="1072"/>
                  </a:cubicBezTo>
                  <a:close/>
                  <a:moveTo>
                    <a:pt x="1992" y="2252"/>
                  </a:moveTo>
                  <a:cubicBezTo>
                    <a:pt x="2404" y="2252"/>
                    <a:pt x="2738" y="2168"/>
                    <a:pt x="2738" y="2066"/>
                  </a:cubicBezTo>
                  <a:cubicBezTo>
                    <a:pt x="2738" y="1963"/>
                    <a:pt x="2404" y="1879"/>
                    <a:pt x="1992" y="1879"/>
                  </a:cubicBezTo>
                  <a:cubicBezTo>
                    <a:pt x="1581" y="1879"/>
                    <a:pt x="1247" y="1963"/>
                    <a:pt x="1247" y="2066"/>
                  </a:cubicBezTo>
                  <a:cubicBezTo>
                    <a:pt x="1247" y="2168"/>
                    <a:pt x="1581" y="2252"/>
                    <a:pt x="1992" y="2252"/>
                  </a:cubicBezTo>
                  <a:close/>
                </a:path>
              </a:pathLst>
            </a:custGeom>
            <a:solidFill>
              <a:srgbClr val="4B649F">
                <a:alpha val="100000"/>
              </a:srgbClr>
            </a:solidFill>
            <a:ln w="9525">
              <a:noFill/>
            </a:ln>
          </p:spPr>
          <p:txBody>
            <a:bodyPr/>
            <a:lstStyle/>
            <a:p>
              <a:endParaRPr lang="zh-CN" altLang="en-US" sz="1800"/>
            </a:p>
          </p:txBody>
        </p:sp>
      </p:grpSp>
      <p:sp>
        <p:nvSpPr>
          <p:cNvPr id="19" name="文本框 2"/>
          <p:cNvSpPr txBox="1"/>
          <p:nvPr/>
        </p:nvSpPr>
        <p:spPr>
          <a:xfrm>
            <a:off x="917258" y="194310"/>
            <a:ext cx="4541837" cy="478155"/>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indent="0" eaLnBrk="1" hangingPunct="1">
              <a:buNone/>
            </a:pPr>
            <a:r>
              <a:rPr lang="zh-CN" altLang="en-US" b="1" dirty="0">
                <a:gradFill>
                  <a:gsLst>
                    <a:gs pos="0">
                      <a:srgbClr val="012D86"/>
                    </a:gs>
                    <a:gs pos="100000">
                      <a:srgbClr val="0E2557"/>
                    </a:gs>
                  </a:gsLst>
                  <a:lin scaled="0"/>
                </a:gradFill>
                <a:latin typeface="Arial" panose="020B0604020202020204" pitchFamily="34" charset="0"/>
                <a:sym typeface="+mn-ea"/>
              </a:rPr>
              <a:t>研究</a:t>
            </a:r>
            <a:r>
              <a:rPr lang="zh-CN" altLang="en-US" b="1" dirty="0">
                <a:gradFill>
                  <a:gsLst>
                    <a:gs pos="0">
                      <a:srgbClr val="012D86"/>
                    </a:gs>
                    <a:gs pos="100000">
                      <a:srgbClr val="0E2557"/>
                    </a:gs>
                  </a:gsLst>
                  <a:lin scaled="0"/>
                </a:gradFill>
                <a:latin typeface="Arial" panose="020B0604020202020204" pitchFamily="34" charset="0"/>
                <a:sym typeface="+mn-ea"/>
              </a:rPr>
              <a:t>结果</a:t>
            </a:r>
            <a:endParaRPr lang="zh-CN" altLang="en-US" b="1" dirty="0">
              <a:gradFill>
                <a:gsLst>
                  <a:gs pos="0">
                    <a:srgbClr val="012D86"/>
                  </a:gs>
                  <a:gs pos="100000">
                    <a:srgbClr val="0E2557"/>
                  </a:gs>
                </a:gsLst>
                <a:lin scaled="0"/>
              </a:gradFill>
              <a:latin typeface="Arial" panose="020B0604020202020204" pitchFamily="34" charset="0"/>
              <a:sym typeface="+mn-ea"/>
            </a:endParaRPr>
          </a:p>
        </p:txBody>
      </p:sp>
      <p:sp>
        <p:nvSpPr>
          <p:cNvPr id="2" name="文本框 1"/>
          <p:cNvSpPr txBox="1"/>
          <p:nvPr/>
        </p:nvSpPr>
        <p:spPr>
          <a:xfrm>
            <a:off x="505460" y="986155"/>
            <a:ext cx="11181715" cy="1493520"/>
          </a:xfrm>
          <a:prstGeom prst="rect">
            <a:avLst/>
          </a:prstGeom>
          <a:noFill/>
        </p:spPr>
        <p:txBody>
          <a:bodyPr wrap="square" rtlCol="0" anchor="t">
            <a:noAutofit/>
          </a:bodyPr>
          <a:p>
            <a:pPr marL="285750" indent="-285750">
              <a:buFont typeface="Wingdings" panose="05000000000000000000" charset="0"/>
              <a:buChar char="Ø"/>
            </a:pPr>
            <a:r>
              <a:rPr lang="zh-CN" altLang="en-US" sz="1800" b="1">
                <a:latin typeface="宋体" panose="02010600030101010101" pitchFamily="2" charset="-122"/>
                <a:ea typeface="宋体" panose="02010600030101010101" pitchFamily="2" charset="-122"/>
                <a:cs typeface="宋体" panose="02010600030101010101" pitchFamily="2" charset="-122"/>
              </a:rPr>
              <a:t>认知需求的个体差异</a:t>
            </a:r>
            <a:endParaRPr lang="zh-CN" altLang="en-US" sz="1800" b="1">
              <a:latin typeface="宋体" panose="02010600030101010101" pitchFamily="2" charset="-122"/>
              <a:ea typeface="宋体" panose="02010600030101010101" pitchFamily="2" charset="-122"/>
              <a:cs typeface="宋体" panose="02010600030101010101" pitchFamily="2" charset="-122"/>
            </a:endParaRPr>
          </a:p>
          <a:p>
            <a:endParaRPr lang="zh-CN" altLang="en-US" sz="1800">
              <a:latin typeface="宋体" panose="02010600030101010101" pitchFamily="2" charset="-122"/>
              <a:ea typeface="宋体" panose="02010600030101010101" pitchFamily="2" charset="-122"/>
              <a:cs typeface="宋体" panose="02010600030101010101" pitchFamily="2" charset="-122"/>
            </a:endParaRPr>
          </a:p>
        </p:txBody>
      </p:sp>
      <p:pic>
        <p:nvPicPr>
          <p:cNvPr id="6" name="图片 5" descr="屏幕截图 2026-06-17 143844"/>
          <p:cNvPicPr>
            <a:picLocks noChangeAspect="1"/>
          </p:cNvPicPr>
          <p:nvPr/>
        </p:nvPicPr>
        <p:blipFill>
          <a:blip r:embed="rId2"/>
          <a:stretch>
            <a:fillRect/>
          </a:stretch>
        </p:blipFill>
        <p:spPr>
          <a:xfrm>
            <a:off x="421005" y="1621155"/>
            <a:ext cx="4770755" cy="2634615"/>
          </a:xfrm>
          <a:prstGeom prst="rect">
            <a:avLst/>
          </a:prstGeom>
        </p:spPr>
      </p:pic>
      <p:sp>
        <p:nvSpPr>
          <p:cNvPr id="12" name="文本框 11"/>
          <p:cNvSpPr txBox="1"/>
          <p:nvPr/>
        </p:nvSpPr>
        <p:spPr>
          <a:xfrm>
            <a:off x="5617210" y="1852930"/>
            <a:ext cx="2281555" cy="368300"/>
          </a:xfrm>
          <a:prstGeom prst="rect">
            <a:avLst/>
          </a:prstGeom>
          <a:noFill/>
        </p:spPr>
        <p:txBody>
          <a:bodyPr wrap="square" rtlCol="0">
            <a:spAutoFit/>
          </a:bodyPr>
          <a:p>
            <a:r>
              <a:rPr lang="zh-CN" altLang="en-US" sz="1800" b="1">
                <a:latin typeface="宋体" panose="02010600030101010101" pitchFamily="2" charset="-122"/>
                <a:ea typeface="宋体" panose="02010600030101010101" pitchFamily="2" charset="-122"/>
              </a:rPr>
              <a:t>（复现）</a:t>
            </a:r>
            <a:r>
              <a:rPr lang="en-US" altLang="zh-CN" sz="1800" b="1">
                <a:latin typeface="宋体" panose="02010600030101010101" pitchFamily="2" charset="-122"/>
                <a:ea typeface="宋体" panose="02010600030101010101" pitchFamily="2" charset="-122"/>
              </a:rPr>
              <a:t>Table3</a:t>
            </a:r>
            <a:endParaRPr lang="en-US" altLang="zh-CN" sz="1800" b="1">
              <a:latin typeface="宋体" panose="02010600030101010101" pitchFamily="2" charset="-122"/>
              <a:ea typeface="宋体" panose="02010600030101010101" pitchFamily="2" charset="-122"/>
            </a:endParaRPr>
          </a:p>
        </p:txBody>
      </p:sp>
      <p:pic>
        <p:nvPicPr>
          <p:cNvPr id="10" name="图片 9" descr="屏幕截图 2026-06-18 125524"/>
          <p:cNvPicPr>
            <a:picLocks noChangeAspect="1"/>
          </p:cNvPicPr>
          <p:nvPr/>
        </p:nvPicPr>
        <p:blipFill>
          <a:blip r:embed="rId3"/>
          <a:stretch>
            <a:fillRect/>
          </a:stretch>
        </p:blipFill>
        <p:spPr>
          <a:xfrm>
            <a:off x="5459095" y="2221230"/>
            <a:ext cx="5579110" cy="1901190"/>
          </a:xfrm>
          <a:prstGeom prst="rect">
            <a:avLst/>
          </a:prstGeom>
        </p:spPr>
      </p:pic>
      <p:pic>
        <p:nvPicPr>
          <p:cNvPr id="11" name="图片 10"/>
          <p:cNvPicPr>
            <a:picLocks noChangeAspect="1"/>
          </p:cNvPicPr>
          <p:nvPr/>
        </p:nvPicPr>
        <p:blipFill>
          <a:blip r:embed="rId4"/>
          <a:stretch>
            <a:fillRect/>
          </a:stretch>
        </p:blipFill>
        <p:spPr>
          <a:xfrm>
            <a:off x="3655060" y="4122420"/>
            <a:ext cx="6568440" cy="207264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2540000"/>
            <a:ext cx="5619750" cy="1965325"/>
          </a:xfrm>
          <a:prstGeom prst="rect">
            <a:avLst/>
          </a:prstGeom>
          <a:solidFill>
            <a:srgbClr val="4B649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1">
              <a:ln>
                <a:noFill/>
              </a:ln>
              <a:solidFill>
                <a:schemeClr val="lt1"/>
              </a:solidFill>
              <a:effectLst/>
              <a:uLnTx/>
              <a:uFillTx/>
              <a:latin typeface="+mn-lt"/>
              <a:ea typeface="+mn-ea"/>
              <a:cs typeface="+mn-cs"/>
            </a:endParaRPr>
          </a:p>
        </p:txBody>
      </p:sp>
      <p:grpSp>
        <p:nvGrpSpPr>
          <p:cNvPr id="7173" name="组合 5"/>
          <p:cNvGrpSpPr/>
          <p:nvPr/>
        </p:nvGrpSpPr>
        <p:grpSpPr>
          <a:xfrm>
            <a:off x="1519238" y="2232025"/>
            <a:ext cx="2581275" cy="2582863"/>
            <a:chOff x="1131485" y="2234042"/>
            <a:chExt cx="1607262" cy="1607262"/>
          </a:xfrm>
        </p:grpSpPr>
        <p:sp>
          <p:nvSpPr>
            <p:cNvPr id="7" name="椭圆 6"/>
            <p:cNvSpPr/>
            <p:nvPr/>
          </p:nvSpPr>
          <p:spPr>
            <a:xfrm>
              <a:off x="1131485" y="2234042"/>
              <a:ext cx="1607262" cy="1607262"/>
            </a:xfrm>
            <a:prstGeom prst="ellipse">
              <a:avLst/>
            </a:prstGeom>
            <a:solidFill>
              <a:srgbClr val="4B649F"/>
            </a:solidFill>
            <a:ln w="19050">
              <a:solidFill>
                <a:srgbClr val="4B649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1">
                <a:ln>
                  <a:noFill/>
                </a:ln>
                <a:solidFill>
                  <a:schemeClr val="lt1"/>
                </a:solidFill>
                <a:effectLst/>
                <a:uLnTx/>
                <a:uFillTx/>
                <a:latin typeface="+mn-lt"/>
                <a:ea typeface="+mn-ea"/>
                <a:cs typeface="+mn-cs"/>
              </a:endParaRPr>
            </a:p>
          </p:txBody>
        </p:sp>
        <p:sp>
          <p:nvSpPr>
            <p:cNvPr id="8" name="椭圆 7"/>
            <p:cNvSpPr/>
            <p:nvPr/>
          </p:nvSpPr>
          <p:spPr>
            <a:xfrm>
              <a:off x="1241206" y="2343696"/>
              <a:ext cx="1387820" cy="1387955"/>
            </a:xfrm>
            <a:prstGeom prst="ellipse">
              <a:avLst/>
            </a:prstGeom>
            <a:solidFill>
              <a:schemeClr val="bg1"/>
            </a:solidFill>
            <a:ln w="19050">
              <a:solidFill>
                <a:srgbClr val="4B649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1">
                <a:ln>
                  <a:noFill/>
                </a:ln>
                <a:solidFill>
                  <a:schemeClr val="lt1"/>
                </a:solidFill>
                <a:effectLst/>
                <a:uLnTx/>
                <a:uFillTx/>
                <a:latin typeface="+mn-lt"/>
                <a:ea typeface="+mn-ea"/>
                <a:cs typeface="+mn-cs"/>
              </a:endParaRPr>
            </a:p>
          </p:txBody>
        </p:sp>
        <p:sp>
          <p:nvSpPr>
            <p:cNvPr id="7178" name="KSO_Shape"/>
            <p:cNvSpPr/>
            <p:nvPr/>
          </p:nvSpPr>
          <p:spPr>
            <a:xfrm>
              <a:off x="1480150" y="2597150"/>
              <a:ext cx="909932" cy="881046"/>
            </a:xfrm>
            <a:custGeom>
              <a:avLst/>
              <a:gdLst>
                <a:gd name="txL" fmla="*/ 0 w 8965002"/>
                <a:gd name="txT" fmla="*/ 0 h 8673857"/>
                <a:gd name="txR" fmla="*/ 8965002 w 8965002"/>
                <a:gd name="txB" fmla="*/ 8673857 h 8673857"/>
              </a:gdLst>
              <a:ahLst/>
              <a:cxnLst>
                <a:cxn ang="0">
                  <a:pos x="839090" y="366042"/>
                </a:cxn>
                <a:cxn ang="0">
                  <a:pos x="863104" y="366042"/>
                </a:cxn>
                <a:cxn ang="0">
                  <a:pos x="902746" y="441180"/>
                </a:cxn>
                <a:cxn ang="0">
                  <a:pos x="706823" y="736389"/>
                </a:cxn>
                <a:cxn ang="0">
                  <a:pos x="660701" y="759273"/>
                </a:cxn>
                <a:cxn ang="0">
                  <a:pos x="545586" y="759273"/>
                </a:cxn>
                <a:cxn ang="0">
                  <a:pos x="545586" y="852336"/>
                </a:cxn>
                <a:cxn ang="0">
                  <a:pos x="530339" y="877509"/>
                </a:cxn>
                <a:cxn ang="0">
                  <a:pos x="516236" y="880942"/>
                </a:cxn>
                <a:cxn ang="0">
                  <a:pos x="498320" y="875602"/>
                </a:cxn>
                <a:cxn ang="0">
                  <a:pos x="408745" y="814959"/>
                </a:cxn>
                <a:cxn ang="0">
                  <a:pos x="321074" y="875602"/>
                </a:cxn>
                <a:cxn ang="0">
                  <a:pos x="289056" y="877509"/>
                </a:cxn>
                <a:cxn ang="0">
                  <a:pos x="272665" y="852336"/>
                </a:cxn>
                <a:cxn ang="0">
                  <a:pos x="272665" y="619678"/>
                </a:cxn>
                <a:cxn ang="0">
                  <a:pos x="321837" y="521275"/>
                </a:cxn>
                <a:cxn ang="0">
                  <a:pos x="337465" y="517080"/>
                </a:cxn>
                <a:cxn ang="0">
                  <a:pos x="577605" y="517080"/>
                </a:cxn>
                <a:cxn ang="0">
                  <a:pos x="544824" y="637986"/>
                </a:cxn>
                <a:cxn ang="0">
                  <a:pos x="632113" y="637986"/>
                </a:cxn>
                <a:cxn ang="0">
                  <a:pos x="839090" y="366042"/>
                </a:cxn>
                <a:cxn ang="0">
                  <a:pos x="620142" y="13"/>
                </a:cxn>
                <a:cxn ang="0">
                  <a:pos x="832163" y="13977"/>
                </a:cxn>
                <a:cxn ang="0">
                  <a:pos x="870659" y="89869"/>
                </a:cxn>
                <a:cxn ang="0">
                  <a:pos x="630157" y="403735"/>
                </a:cxn>
                <a:cxn ang="0">
                  <a:pos x="586707" y="424329"/>
                </a:cxn>
                <a:cxn ang="0">
                  <a:pos x="224239" y="424329"/>
                </a:cxn>
                <a:cxn ang="0">
                  <a:pos x="116756" y="556282"/>
                </a:cxn>
                <a:cxn ang="0">
                  <a:pos x="182694" y="632175"/>
                </a:cxn>
                <a:cxn ang="0">
                  <a:pos x="211661" y="637895"/>
                </a:cxn>
                <a:cxn ang="0">
                  <a:pos x="211661" y="759170"/>
                </a:cxn>
                <a:cxn ang="0">
                  <a:pos x="5462" y="581071"/>
                </a:cxn>
                <a:cxn ang="0">
                  <a:pos x="6605" y="480390"/>
                </a:cxn>
                <a:cxn ang="0">
                  <a:pos x="275693" y="68131"/>
                </a:cxn>
                <a:cxn ang="0">
                  <a:pos x="356877" y="23130"/>
                </a:cxn>
                <a:cxn ang="0">
                  <a:pos x="620142" y="13"/>
                </a:cxn>
              </a:cxnLst>
              <a:rect l="txL" t="txT" r="txR" b="txB"/>
              <a:pathLst>
                <a:path w="8965002" h="8673857">
                  <a:moveTo>
                    <a:pt x="8267042" y="3603669"/>
                  </a:moveTo>
                  <a:cubicBezTo>
                    <a:pt x="8267042" y="3603669"/>
                    <a:pt x="8267042" y="3603669"/>
                    <a:pt x="8503636" y="3603669"/>
                  </a:cubicBezTo>
                  <a:cubicBezTo>
                    <a:pt x="8770275" y="3603669"/>
                    <a:pt x="9115779" y="3885289"/>
                    <a:pt x="8894206" y="4343392"/>
                  </a:cubicBezTo>
                  <a:cubicBezTo>
                    <a:pt x="8894206" y="4343392"/>
                    <a:pt x="8894206" y="4343392"/>
                    <a:pt x="6963891" y="7249712"/>
                  </a:cubicBezTo>
                  <a:cubicBezTo>
                    <a:pt x="6817428" y="7463743"/>
                    <a:pt x="6610877" y="7475008"/>
                    <a:pt x="6509479" y="7475008"/>
                  </a:cubicBezTo>
                  <a:cubicBezTo>
                    <a:pt x="6509479" y="7475008"/>
                    <a:pt x="6509479" y="7475008"/>
                    <a:pt x="5375325" y="7475008"/>
                  </a:cubicBezTo>
                  <a:cubicBezTo>
                    <a:pt x="5375325" y="7475008"/>
                    <a:pt x="5375325" y="7475008"/>
                    <a:pt x="5375325" y="8391212"/>
                  </a:cubicBezTo>
                  <a:cubicBezTo>
                    <a:pt x="5375325" y="8503860"/>
                    <a:pt x="5326504" y="8586469"/>
                    <a:pt x="5225106" y="8639038"/>
                  </a:cubicBezTo>
                  <a:cubicBezTo>
                    <a:pt x="5180040" y="8661567"/>
                    <a:pt x="5131219" y="8672833"/>
                    <a:pt x="5086153" y="8672833"/>
                  </a:cubicBezTo>
                  <a:cubicBezTo>
                    <a:pt x="5026066" y="8672833"/>
                    <a:pt x="4962223" y="8654057"/>
                    <a:pt x="4909646" y="8620263"/>
                  </a:cubicBezTo>
                  <a:cubicBezTo>
                    <a:pt x="4909646" y="8620263"/>
                    <a:pt x="4909646" y="8620263"/>
                    <a:pt x="4027109" y="8023229"/>
                  </a:cubicBezTo>
                  <a:cubicBezTo>
                    <a:pt x="4027109" y="8023229"/>
                    <a:pt x="4027109" y="8023229"/>
                    <a:pt x="3163349" y="8620263"/>
                  </a:cubicBezTo>
                  <a:cubicBezTo>
                    <a:pt x="3069463" y="8684097"/>
                    <a:pt x="2949287" y="8691607"/>
                    <a:pt x="2847889" y="8639038"/>
                  </a:cubicBezTo>
                  <a:cubicBezTo>
                    <a:pt x="2750247" y="8586469"/>
                    <a:pt x="2686404" y="8503860"/>
                    <a:pt x="2686404" y="8391212"/>
                  </a:cubicBezTo>
                  <a:cubicBezTo>
                    <a:pt x="2686404" y="8391212"/>
                    <a:pt x="2686404" y="8391212"/>
                    <a:pt x="2686404" y="6100701"/>
                  </a:cubicBezTo>
                  <a:cubicBezTo>
                    <a:pt x="2686404" y="5559991"/>
                    <a:pt x="2990598" y="5237066"/>
                    <a:pt x="3170860" y="5131928"/>
                  </a:cubicBezTo>
                  <a:cubicBezTo>
                    <a:pt x="3215926" y="5105644"/>
                    <a:pt x="3268503" y="5090624"/>
                    <a:pt x="3324835" y="5090624"/>
                  </a:cubicBezTo>
                  <a:cubicBezTo>
                    <a:pt x="3324835" y="5090624"/>
                    <a:pt x="3324835" y="5090624"/>
                    <a:pt x="5690785" y="5090624"/>
                  </a:cubicBezTo>
                  <a:cubicBezTo>
                    <a:pt x="5371570" y="5406038"/>
                    <a:pt x="5367814" y="5980543"/>
                    <a:pt x="5367814" y="6280938"/>
                  </a:cubicBezTo>
                  <a:cubicBezTo>
                    <a:pt x="5367814" y="6280938"/>
                    <a:pt x="5367814" y="6280938"/>
                    <a:pt x="6227818" y="6280938"/>
                  </a:cubicBezTo>
                  <a:cubicBezTo>
                    <a:pt x="6227818" y="6280938"/>
                    <a:pt x="6227818" y="6280938"/>
                    <a:pt x="8267042" y="3603669"/>
                  </a:cubicBezTo>
                  <a:close/>
                  <a:moveTo>
                    <a:pt x="6109875" y="128"/>
                  </a:moveTo>
                  <a:cubicBezTo>
                    <a:pt x="6829153" y="-2490"/>
                    <a:pt x="7579192" y="34821"/>
                    <a:pt x="8198796" y="137601"/>
                  </a:cubicBezTo>
                  <a:cubicBezTo>
                    <a:pt x="8705745" y="220201"/>
                    <a:pt x="8739542" y="678257"/>
                    <a:pt x="8578069" y="884757"/>
                  </a:cubicBezTo>
                  <a:cubicBezTo>
                    <a:pt x="8578069" y="884757"/>
                    <a:pt x="6234838" y="3955980"/>
                    <a:pt x="6208552" y="3974753"/>
                  </a:cubicBezTo>
                  <a:cubicBezTo>
                    <a:pt x="6107162" y="4098653"/>
                    <a:pt x="5953199" y="4177498"/>
                    <a:pt x="5780461" y="4177498"/>
                  </a:cubicBezTo>
                  <a:cubicBezTo>
                    <a:pt x="5780461" y="4177498"/>
                    <a:pt x="5780461" y="4177498"/>
                    <a:pt x="2209285" y="4177498"/>
                  </a:cubicBezTo>
                  <a:cubicBezTo>
                    <a:pt x="1818747" y="4177498"/>
                    <a:pt x="970076" y="4545444"/>
                    <a:pt x="1150325" y="5476573"/>
                  </a:cubicBezTo>
                  <a:cubicBezTo>
                    <a:pt x="1217918" y="5825746"/>
                    <a:pt x="1465760" y="6103583"/>
                    <a:pt x="1799971" y="6223729"/>
                  </a:cubicBezTo>
                  <a:cubicBezTo>
                    <a:pt x="1875075" y="6253765"/>
                    <a:pt x="2002751" y="6268783"/>
                    <a:pt x="2085365" y="6280047"/>
                  </a:cubicBezTo>
                  <a:cubicBezTo>
                    <a:pt x="2085365" y="6280047"/>
                    <a:pt x="2085365" y="6280047"/>
                    <a:pt x="2085365" y="7473994"/>
                  </a:cubicBezTo>
                  <a:cubicBezTo>
                    <a:pt x="1582171" y="7440203"/>
                    <a:pt x="335451" y="7004675"/>
                    <a:pt x="53813" y="5720619"/>
                  </a:cubicBezTo>
                  <a:cubicBezTo>
                    <a:pt x="-25046" y="5397728"/>
                    <a:pt x="-13780" y="5056063"/>
                    <a:pt x="65078" y="4729417"/>
                  </a:cubicBezTo>
                  <a:cubicBezTo>
                    <a:pt x="282879" y="3283915"/>
                    <a:pt x="2351982" y="944830"/>
                    <a:pt x="2716235" y="670748"/>
                  </a:cubicBezTo>
                  <a:cubicBezTo>
                    <a:pt x="2960321" y="471756"/>
                    <a:pt x="3234449" y="310311"/>
                    <a:pt x="3516088" y="227711"/>
                  </a:cubicBezTo>
                  <a:cubicBezTo>
                    <a:pt x="3797726" y="119767"/>
                    <a:pt x="4911078" y="4491"/>
                    <a:pt x="6109875" y="128"/>
                  </a:cubicBezTo>
                  <a:close/>
                </a:path>
              </a:pathLst>
            </a:custGeom>
            <a:solidFill>
              <a:srgbClr val="4B649F">
                <a:alpha val="100000"/>
              </a:srgbClr>
            </a:solidFill>
            <a:ln w="9525">
              <a:noFill/>
            </a:ln>
          </p:spPr>
          <p:txBody>
            <a:bodyPr/>
            <a:lstStyle/>
            <a:p>
              <a:endParaRPr lang="zh-CN" altLang="en-US"/>
            </a:p>
          </p:txBody>
        </p:sp>
      </p:grpSp>
      <p:pic>
        <p:nvPicPr>
          <p:cNvPr id="7174" name="图片 9"/>
          <p:cNvPicPr>
            <a:picLocks noChangeAspect="1"/>
          </p:cNvPicPr>
          <p:nvPr/>
        </p:nvPicPr>
        <p:blipFill>
          <a:blip r:embed="rId1"/>
          <a:stretch>
            <a:fillRect/>
          </a:stretch>
        </p:blipFill>
        <p:spPr>
          <a:xfrm>
            <a:off x="6326188" y="5200650"/>
            <a:ext cx="5865812" cy="1657350"/>
          </a:xfrm>
          <a:prstGeom prst="rect">
            <a:avLst/>
          </a:prstGeom>
          <a:noFill/>
          <a:ln w="9525">
            <a:noFill/>
          </a:ln>
        </p:spPr>
      </p:pic>
      <p:pic>
        <p:nvPicPr>
          <p:cNvPr id="7175" name="图片 10"/>
          <p:cNvPicPr>
            <a:picLocks noChangeAspect="1"/>
          </p:cNvPicPr>
          <p:nvPr/>
        </p:nvPicPr>
        <p:blipFill>
          <a:blip r:embed="rId2"/>
          <a:stretch>
            <a:fillRect/>
          </a:stretch>
        </p:blipFill>
        <p:spPr>
          <a:xfrm>
            <a:off x="0" y="0"/>
            <a:ext cx="7878763" cy="2216150"/>
          </a:xfrm>
          <a:prstGeom prst="rect">
            <a:avLst/>
          </a:prstGeom>
          <a:noFill/>
          <a:ln w="9525">
            <a:noFill/>
          </a:ln>
        </p:spPr>
      </p:pic>
      <p:sp>
        <p:nvSpPr>
          <p:cNvPr id="12291" name="文本框 2"/>
          <p:cNvSpPr txBox="1"/>
          <p:nvPr/>
        </p:nvSpPr>
        <p:spPr>
          <a:xfrm>
            <a:off x="5885801" y="2875939"/>
            <a:ext cx="7215808" cy="603885"/>
          </a:xfrm>
          <a:prstGeom prst="rect">
            <a:avLst/>
          </a:prstGeom>
          <a:noFill/>
          <a:ln w="9525">
            <a:noFill/>
          </a:ln>
        </p:spPr>
        <p:txBody>
          <a:bodyPr wrap="square">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indent="0" defTabSz="1600200">
              <a:lnSpc>
                <a:spcPts val="4000"/>
              </a:lnSpc>
              <a:spcBef>
                <a:spcPct val="0"/>
              </a:spcBef>
              <a:spcAft>
                <a:spcPct val="35000"/>
              </a:spcAft>
              <a:buNone/>
            </a:pPr>
            <a:r>
              <a:rPr lang="en-US" altLang="zh-CN" sz="4400" b="1">
                <a:solidFill>
                  <a:srgbClr val="4B649F"/>
                </a:solidFill>
                <a:latin typeface="+mj-lt"/>
                <a:cs typeface="Times New Roman" panose="02020603050405020304" pitchFamily="18" charset="0"/>
              </a:rPr>
              <a:t>4.</a:t>
            </a:r>
            <a:r>
              <a:rPr lang="zh-CN" altLang="en-US" sz="4400" b="1">
                <a:solidFill>
                  <a:srgbClr val="4B649F"/>
                </a:solidFill>
                <a:latin typeface="+mj-lt"/>
                <a:cs typeface="Times New Roman" panose="02020603050405020304" pitchFamily="18" charset="0"/>
              </a:rPr>
              <a:t>讨论与</a:t>
            </a:r>
            <a:r>
              <a:rPr lang="zh-CN" altLang="en-US" sz="4400" b="1">
                <a:solidFill>
                  <a:srgbClr val="4B649F"/>
                </a:solidFill>
                <a:latin typeface="+mj-lt"/>
                <a:cs typeface="Times New Roman" panose="02020603050405020304" pitchFamily="18" charset="0"/>
              </a:rPr>
              <a:t>结论</a:t>
            </a:r>
            <a:endParaRPr lang="zh-CN" altLang="en-US" sz="4400" b="1">
              <a:solidFill>
                <a:srgbClr val="4B649F"/>
              </a:solidFill>
              <a:latin typeface="+mj-lt"/>
              <a:cs typeface="Times New Roman" panose="02020603050405020304" pitchFamily="18"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10" name="图片 1"/>
          <p:cNvPicPr>
            <a:picLocks noChangeAspect="1"/>
          </p:cNvPicPr>
          <p:nvPr/>
        </p:nvPicPr>
        <p:blipFill>
          <a:blip r:embed="rId1"/>
          <a:stretch>
            <a:fillRect/>
          </a:stretch>
        </p:blipFill>
        <p:spPr>
          <a:xfrm>
            <a:off x="8610600" y="0"/>
            <a:ext cx="3581400" cy="1006475"/>
          </a:xfrm>
          <a:prstGeom prst="rect">
            <a:avLst/>
          </a:prstGeom>
          <a:noFill/>
          <a:ln w="9525">
            <a:noFill/>
          </a:ln>
        </p:spPr>
      </p:pic>
      <p:sp>
        <p:nvSpPr>
          <p:cNvPr id="17411" name="文本框 2"/>
          <p:cNvSpPr txBox="1"/>
          <p:nvPr/>
        </p:nvSpPr>
        <p:spPr>
          <a:xfrm>
            <a:off x="868363" y="25400"/>
            <a:ext cx="5532437" cy="737235"/>
          </a:xfrm>
          <a:prstGeom prst="rect">
            <a:avLst/>
          </a:prstGeom>
          <a:noFill/>
          <a:ln w="9525">
            <a:noFill/>
          </a:ln>
        </p:spPr>
        <p:txBody>
          <a:bodyPr wrap="square">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50000"/>
              </a:lnSpc>
              <a:spcBef>
                <a:spcPct val="0"/>
              </a:spcBef>
              <a:buFontTx/>
              <a:buNone/>
            </a:pPr>
            <a:r>
              <a:rPr lang="zh-CN" altLang="en-US" b="1">
                <a:solidFill>
                  <a:srgbClr val="4B649F"/>
                </a:solidFill>
              </a:rPr>
              <a:t>讨论与</a:t>
            </a:r>
            <a:r>
              <a:rPr lang="zh-CN" altLang="en-US" b="1">
                <a:solidFill>
                  <a:srgbClr val="4B649F"/>
                </a:solidFill>
              </a:rPr>
              <a:t>结论</a:t>
            </a:r>
            <a:endParaRPr lang="zh-CN" altLang="en-US" b="1">
              <a:solidFill>
                <a:srgbClr val="4B649F"/>
              </a:solidFill>
            </a:endParaRPr>
          </a:p>
        </p:txBody>
      </p:sp>
      <p:cxnSp>
        <p:nvCxnSpPr>
          <p:cNvPr id="4" name="直接连接符 3"/>
          <p:cNvCxnSpPr/>
          <p:nvPr/>
        </p:nvCxnSpPr>
        <p:spPr>
          <a:xfrm>
            <a:off x="0" y="798513"/>
            <a:ext cx="11176000" cy="0"/>
          </a:xfrm>
          <a:prstGeom prst="line">
            <a:avLst/>
          </a:prstGeom>
          <a:ln w="25400">
            <a:gradFill>
              <a:gsLst>
                <a:gs pos="0">
                  <a:srgbClr val="4B649F"/>
                </a:gs>
                <a:gs pos="100000">
                  <a:srgbClr val="7DB1CD">
                    <a:alpha val="0"/>
                  </a:srgbClr>
                </a:gs>
              </a:gsLst>
              <a:lin ang="0" scaled="0"/>
            </a:gradFill>
          </a:ln>
        </p:spPr>
        <p:style>
          <a:lnRef idx="1">
            <a:schemeClr val="accent1"/>
          </a:lnRef>
          <a:fillRef idx="0">
            <a:schemeClr val="accent1"/>
          </a:fillRef>
          <a:effectRef idx="0">
            <a:schemeClr val="accent1"/>
          </a:effectRef>
          <a:fontRef idx="minor">
            <a:schemeClr val="tx1"/>
          </a:fontRef>
        </p:style>
      </p:cxnSp>
      <p:sp>
        <p:nvSpPr>
          <p:cNvPr id="5" name="矩形 4"/>
          <p:cNvSpPr/>
          <p:nvPr/>
        </p:nvSpPr>
        <p:spPr>
          <a:xfrm>
            <a:off x="-81280" y="6642735"/>
            <a:ext cx="12192000" cy="133350"/>
          </a:xfrm>
          <a:prstGeom prst="rect">
            <a:avLst/>
          </a:prstGeom>
          <a:solidFill>
            <a:srgbClr val="4B649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1">
              <a:ln>
                <a:noFill/>
              </a:ln>
              <a:solidFill>
                <a:schemeClr val="lt1"/>
              </a:solidFill>
              <a:effectLst/>
              <a:uLnTx/>
              <a:uFillTx/>
              <a:latin typeface="+mn-lt"/>
              <a:ea typeface="+mn-ea"/>
              <a:cs typeface="+mn-cs"/>
            </a:endParaRPr>
          </a:p>
        </p:txBody>
      </p:sp>
      <p:grpSp>
        <p:nvGrpSpPr>
          <p:cNvPr id="17414" name="组合 5"/>
          <p:cNvGrpSpPr/>
          <p:nvPr/>
        </p:nvGrpSpPr>
        <p:grpSpPr>
          <a:xfrm>
            <a:off x="233363" y="125413"/>
            <a:ext cx="635000" cy="635000"/>
            <a:chOff x="5288161" y="2234042"/>
            <a:chExt cx="1607262" cy="1607262"/>
          </a:xfrm>
        </p:grpSpPr>
        <p:sp>
          <p:nvSpPr>
            <p:cNvPr id="7" name="椭圆 6"/>
            <p:cNvSpPr/>
            <p:nvPr/>
          </p:nvSpPr>
          <p:spPr>
            <a:xfrm>
              <a:off x="5288161" y="2234042"/>
              <a:ext cx="1607262" cy="1607262"/>
            </a:xfrm>
            <a:prstGeom prst="ellipse">
              <a:avLst/>
            </a:prstGeom>
            <a:solidFill>
              <a:srgbClr val="4B649F"/>
            </a:solidFill>
            <a:ln w="19050">
              <a:solidFill>
                <a:srgbClr val="4B649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1">
                <a:ln>
                  <a:noFill/>
                </a:ln>
                <a:solidFill>
                  <a:schemeClr val="lt1"/>
                </a:solidFill>
                <a:effectLst/>
                <a:uLnTx/>
                <a:uFillTx/>
                <a:latin typeface="+mn-lt"/>
                <a:ea typeface="+mn-ea"/>
                <a:cs typeface="+mn-cs"/>
              </a:endParaRPr>
            </a:p>
          </p:txBody>
        </p:sp>
        <p:sp>
          <p:nvSpPr>
            <p:cNvPr id="8" name="椭圆 7"/>
            <p:cNvSpPr/>
            <p:nvPr/>
          </p:nvSpPr>
          <p:spPr>
            <a:xfrm>
              <a:off x="5396650" y="2334495"/>
              <a:ext cx="1390282" cy="1390282"/>
            </a:xfrm>
            <a:prstGeom prst="ellipse">
              <a:avLst/>
            </a:prstGeom>
            <a:solidFill>
              <a:schemeClr val="bg1"/>
            </a:solidFill>
            <a:ln w="19050">
              <a:solidFill>
                <a:srgbClr val="4B649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1">
                <a:ln>
                  <a:noFill/>
                </a:ln>
                <a:solidFill>
                  <a:schemeClr val="lt1"/>
                </a:solidFill>
                <a:effectLst/>
                <a:uLnTx/>
                <a:uFillTx/>
                <a:latin typeface="+mn-lt"/>
                <a:ea typeface="+mn-ea"/>
                <a:cs typeface="+mn-cs"/>
              </a:endParaRPr>
            </a:p>
          </p:txBody>
        </p:sp>
        <p:sp>
          <p:nvSpPr>
            <p:cNvPr id="17440" name="KSO_Shape"/>
            <p:cNvSpPr/>
            <p:nvPr/>
          </p:nvSpPr>
          <p:spPr>
            <a:xfrm>
              <a:off x="5547153" y="2697761"/>
              <a:ext cx="1089278" cy="662788"/>
            </a:xfrm>
            <a:custGeom>
              <a:avLst/>
              <a:gdLst>
                <a:gd name="txL" fmla="*/ 0 w 3931"/>
                <a:gd name="txT" fmla="*/ 0 h 2392"/>
                <a:gd name="txR" fmla="*/ 3931 w 3931"/>
                <a:gd name="txB" fmla="*/ 2392 h 2392"/>
              </a:gdLst>
              <a:ahLst/>
              <a:cxnLst>
                <a:cxn ang="0">
                  <a:pos x="844045" y="356609"/>
                </a:cxn>
                <a:cxn ang="0">
                  <a:pos x="561681" y="235522"/>
                </a:cxn>
                <a:cxn ang="0">
                  <a:pos x="243848" y="356609"/>
                </a:cxn>
                <a:cxn ang="0">
                  <a:pos x="155176" y="319756"/>
                </a:cxn>
                <a:cxn ang="0">
                  <a:pos x="155176" y="428374"/>
                </a:cxn>
                <a:cxn ang="0">
                  <a:pos x="179283" y="461624"/>
                </a:cxn>
                <a:cxn ang="0">
                  <a:pos x="154622" y="494874"/>
                </a:cxn>
                <a:cxn ang="0">
                  <a:pos x="180946" y="611804"/>
                </a:cxn>
                <a:cxn ang="0">
                  <a:pos x="103358" y="611804"/>
                </a:cxn>
                <a:cxn ang="0">
                  <a:pos x="129960" y="494320"/>
                </a:cxn>
                <a:cxn ang="0">
                  <a:pos x="108346" y="461624"/>
                </a:cxn>
                <a:cxn ang="0">
                  <a:pos x="129128" y="429205"/>
                </a:cxn>
                <a:cxn ang="0">
                  <a:pos x="129128" y="308950"/>
                </a:cxn>
                <a:cxn ang="0">
                  <a:pos x="0" y="254918"/>
                </a:cxn>
                <a:cxn ang="0">
                  <a:pos x="568054" y="0"/>
                </a:cxn>
                <a:cxn ang="0">
                  <a:pos x="1089278" y="258243"/>
                </a:cxn>
                <a:cxn ang="0">
                  <a:pos x="844045" y="356609"/>
                </a:cxn>
                <a:cxn ang="0">
                  <a:pos x="555307" y="297035"/>
                </a:cxn>
                <a:cxn ang="0">
                  <a:pos x="811624" y="384040"/>
                </a:cxn>
                <a:cxn ang="0">
                  <a:pos x="811624" y="594902"/>
                </a:cxn>
                <a:cxn ang="0">
                  <a:pos x="542284" y="662788"/>
                </a:cxn>
                <a:cxn ang="0">
                  <a:pos x="304532" y="594902"/>
                </a:cxn>
                <a:cxn ang="0">
                  <a:pos x="304532" y="384040"/>
                </a:cxn>
                <a:cxn ang="0">
                  <a:pos x="555307" y="297035"/>
                </a:cxn>
                <a:cxn ang="0">
                  <a:pos x="551982" y="623996"/>
                </a:cxn>
                <a:cxn ang="0">
                  <a:pos x="758698" y="572458"/>
                </a:cxn>
                <a:cxn ang="0">
                  <a:pos x="551982" y="520643"/>
                </a:cxn>
                <a:cxn ang="0">
                  <a:pos x="345543" y="572458"/>
                </a:cxn>
                <a:cxn ang="0">
                  <a:pos x="551982" y="623996"/>
                </a:cxn>
              </a:cxnLst>
              <a:rect l="txL" t="txT" r="txR" b="txB"/>
              <a:pathLst>
                <a:path w="3931" h="2392">
                  <a:moveTo>
                    <a:pt x="3046" y="1287"/>
                  </a:moveTo>
                  <a:cubicBezTo>
                    <a:pt x="3046" y="1287"/>
                    <a:pt x="2618" y="850"/>
                    <a:pt x="2027" y="850"/>
                  </a:cubicBezTo>
                  <a:cubicBezTo>
                    <a:pt x="1450" y="850"/>
                    <a:pt x="880" y="1287"/>
                    <a:pt x="880" y="1287"/>
                  </a:cubicBezTo>
                  <a:cubicBezTo>
                    <a:pt x="560" y="1154"/>
                    <a:pt x="560" y="1154"/>
                    <a:pt x="560" y="1154"/>
                  </a:cubicBezTo>
                  <a:cubicBezTo>
                    <a:pt x="560" y="1546"/>
                    <a:pt x="560" y="1546"/>
                    <a:pt x="560" y="1546"/>
                  </a:cubicBezTo>
                  <a:cubicBezTo>
                    <a:pt x="610" y="1563"/>
                    <a:pt x="647" y="1610"/>
                    <a:pt x="647" y="1666"/>
                  </a:cubicBezTo>
                  <a:cubicBezTo>
                    <a:pt x="647" y="1723"/>
                    <a:pt x="609" y="1769"/>
                    <a:pt x="558" y="1786"/>
                  </a:cubicBezTo>
                  <a:cubicBezTo>
                    <a:pt x="653" y="2208"/>
                    <a:pt x="653" y="2208"/>
                    <a:pt x="653" y="2208"/>
                  </a:cubicBezTo>
                  <a:cubicBezTo>
                    <a:pt x="373" y="2208"/>
                    <a:pt x="373" y="2208"/>
                    <a:pt x="373" y="2208"/>
                  </a:cubicBezTo>
                  <a:cubicBezTo>
                    <a:pt x="469" y="1784"/>
                    <a:pt x="469" y="1784"/>
                    <a:pt x="469" y="1784"/>
                  </a:cubicBezTo>
                  <a:cubicBezTo>
                    <a:pt x="423" y="1764"/>
                    <a:pt x="391" y="1719"/>
                    <a:pt x="391" y="1666"/>
                  </a:cubicBezTo>
                  <a:cubicBezTo>
                    <a:pt x="391" y="1614"/>
                    <a:pt x="422" y="1570"/>
                    <a:pt x="466" y="1549"/>
                  </a:cubicBezTo>
                  <a:cubicBezTo>
                    <a:pt x="466" y="1115"/>
                    <a:pt x="466" y="1115"/>
                    <a:pt x="466" y="1115"/>
                  </a:cubicBezTo>
                  <a:cubicBezTo>
                    <a:pt x="0" y="920"/>
                    <a:pt x="0" y="920"/>
                    <a:pt x="0" y="920"/>
                  </a:cubicBezTo>
                  <a:cubicBezTo>
                    <a:pt x="2050" y="0"/>
                    <a:pt x="2050" y="0"/>
                    <a:pt x="2050" y="0"/>
                  </a:cubicBezTo>
                  <a:cubicBezTo>
                    <a:pt x="3931" y="932"/>
                    <a:pt x="3931" y="932"/>
                    <a:pt x="3931" y="932"/>
                  </a:cubicBezTo>
                  <a:lnTo>
                    <a:pt x="3046" y="1287"/>
                  </a:lnTo>
                  <a:close/>
                  <a:moveTo>
                    <a:pt x="2004" y="1072"/>
                  </a:moveTo>
                  <a:cubicBezTo>
                    <a:pt x="2598" y="1072"/>
                    <a:pt x="2929" y="1386"/>
                    <a:pt x="2929" y="1386"/>
                  </a:cubicBezTo>
                  <a:cubicBezTo>
                    <a:pt x="2929" y="2147"/>
                    <a:pt x="2929" y="2147"/>
                    <a:pt x="2929" y="2147"/>
                  </a:cubicBezTo>
                  <a:cubicBezTo>
                    <a:pt x="2929" y="2147"/>
                    <a:pt x="2586" y="2392"/>
                    <a:pt x="1957" y="2392"/>
                  </a:cubicBezTo>
                  <a:cubicBezTo>
                    <a:pt x="1328" y="2392"/>
                    <a:pt x="1099" y="2147"/>
                    <a:pt x="1099" y="2147"/>
                  </a:cubicBezTo>
                  <a:cubicBezTo>
                    <a:pt x="1099" y="1386"/>
                    <a:pt x="1099" y="1386"/>
                    <a:pt x="1099" y="1386"/>
                  </a:cubicBezTo>
                  <a:cubicBezTo>
                    <a:pt x="1099" y="1386"/>
                    <a:pt x="1410" y="1072"/>
                    <a:pt x="2004" y="1072"/>
                  </a:cubicBezTo>
                  <a:close/>
                  <a:moveTo>
                    <a:pt x="1992" y="2252"/>
                  </a:moveTo>
                  <a:cubicBezTo>
                    <a:pt x="2404" y="2252"/>
                    <a:pt x="2738" y="2168"/>
                    <a:pt x="2738" y="2066"/>
                  </a:cubicBezTo>
                  <a:cubicBezTo>
                    <a:pt x="2738" y="1963"/>
                    <a:pt x="2404" y="1879"/>
                    <a:pt x="1992" y="1879"/>
                  </a:cubicBezTo>
                  <a:cubicBezTo>
                    <a:pt x="1581" y="1879"/>
                    <a:pt x="1247" y="1963"/>
                    <a:pt x="1247" y="2066"/>
                  </a:cubicBezTo>
                  <a:cubicBezTo>
                    <a:pt x="1247" y="2168"/>
                    <a:pt x="1581" y="2252"/>
                    <a:pt x="1992" y="2252"/>
                  </a:cubicBezTo>
                  <a:close/>
                </a:path>
              </a:pathLst>
            </a:custGeom>
            <a:solidFill>
              <a:srgbClr val="4B649F">
                <a:alpha val="100000"/>
              </a:srgbClr>
            </a:solidFill>
            <a:ln w="9525">
              <a:noFill/>
            </a:ln>
          </p:spPr>
          <p:txBody>
            <a:bodyPr/>
            <a:lstStyle/>
            <a:p>
              <a:endParaRPr lang="zh-CN" altLang="en-US"/>
            </a:p>
          </p:txBody>
        </p:sp>
      </p:grpSp>
      <p:sp>
        <p:nvSpPr>
          <p:cNvPr id="2" name="文本框 1"/>
          <p:cNvSpPr txBox="1"/>
          <p:nvPr/>
        </p:nvSpPr>
        <p:spPr>
          <a:xfrm>
            <a:off x="504190" y="1675765"/>
            <a:ext cx="10968990" cy="1753235"/>
          </a:xfrm>
          <a:prstGeom prst="rect">
            <a:avLst/>
          </a:prstGeom>
          <a:noFill/>
        </p:spPr>
        <p:txBody>
          <a:bodyPr wrap="square" rtlCol="0" anchor="t">
            <a:spAutoFit/>
          </a:bodyPr>
          <a:p>
            <a:pPr marL="285750" indent="-285750">
              <a:buFont typeface="Wingdings" panose="05000000000000000000" charset="0"/>
              <a:buChar char="Ø"/>
            </a:pPr>
            <a:r>
              <a:rPr lang="zh-CN" altLang="en-US">
                <a:latin typeface="宋体" panose="02010600030101010101" pitchFamily="2" charset="-122"/>
                <a:ea typeface="宋体" panose="02010600030101010101" pitchFamily="2" charset="-122"/>
                <a:cs typeface="宋体" panose="02010600030101010101" pitchFamily="2" charset="-122"/>
              </a:rPr>
              <a:t>要么原文的方法描述不够详细，导致无法精确复现</a:t>
            </a:r>
            <a:endParaRPr lang="zh-CN" altLang="en-US">
              <a:latin typeface="宋体" panose="02010600030101010101" pitchFamily="2" charset="-122"/>
              <a:ea typeface="宋体" panose="02010600030101010101" pitchFamily="2" charset="-122"/>
              <a:cs typeface="宋体" panose="02010600030101010101" pitchFamily="2" charset="-122"/>
            </a:endParaRPr>
          </a:p>
          <a:p>
            <a:pPr marL="285750" indent="-285750">
              <a:buFont typeface="Wingdings" panose="05000000000000000000" charset="0"/>
              <a:buChar char="Ø"/>
            </a:pPr>
            <a:endParaRPr lang="en-US" altLang="zh-CN">
              <a:latin typeface="宋体" panose="02010600030101010101" pitchFamily="2" charset="-122"/>
              <a:ea typeface="宋体" panose="02010600030101010101" pitchFamily="2" charset="-122"/>
              <a:cs typeface="宋体" panose="02010600030101010101" pitchFamily="2" charset="-122"/>
            </a:endParaRPr>
          </a:p>
          <a:p>
            <a:pPr marL="285750" indent="-285750">
              <a:buFont typeface="Wingdings" panose="05000000000000000000" charset="0"/>
              <a:buChar char="Ø"/>
            </a:pPr>
            <a:r>
              <a:rPr lang="zh-CN" altLang="en-US">
                <a:latin typeface="宋体" panose="02010600030101010101" pitchFamily="2" charset="-122"/>
                <a:ea typeface="宋体" panose="02010600030101010101" pitchFamily="2" charset="-122"/>
                <a:cs typeface="宋体" panose="02010600030101010101" pitchFamily="2" charset="-122"/>
              </a:rPr>
              <a:t>要么原文的数据分析存在某些未报告的操作</a:t>
            </a:r>
            <a:endParaRPr lang="zh-CN" altLang="en-US">
              <a:latin typeface="宋体" panose="02010600030101010101" pitchFamily="2" charset="-122"/>
              <a:ea typeface="宋体" panose="02010600030101010101" pitchFamily="2" charset="-122"/>
              <a:cs typeface="宋体" panose="02010600030101010101" pitchFamily="2" charset="-122"/>
            </a:endParaRPr>
          </a:p>
          <a:p>
            <a:pPr marL="285750" indent="-285750">
              <a:buFont typeface="Wingdings" panose="05000000000000000000" charset="0"/>
              <a:buChar char="Ø"/>
            </a:pPr>
            <a:endParaRPr lang="en-US" altLang="zh-CN">
              <a:latin typeface="宋体" panose="02010600030101010101" pitchFamily="2" charset="-122"/>
              <a:ea typeface="宋体" panose="02010600030101010101" pitchFamily="2" charset="-122"/>
              <a:cs typeface="宋体" panose="02010600030101010101" pitchFamily="2" charset="-122"/>
            </a:endParaRPr>
          </a:p>
          <a:p>
            <a:pPr marL="285750" indent="-285750">
              <a:buFont typeface="Wingdings" panose="05000000000000000000" charset="0"/>
              <a:buChar char="Ø"/>
            </a:pPr>
            <a:r>
              <a:rPr lang="zh-CN" altLang="en-US">
                <a:latin typeface="宋体" panose="02010600030101010101" pitchFamily="2" charset="-122"/>
                <a:ea typeface="宋体" panose="02010600030101010101" pitchFamily="2" charset="-122"/>
                <a:cs typeface="宋体" panose="02010600030101010101" pitchFamily="2" charset="-122"/>
              </a:rPr>
              <a:t>要么原作者仓库中的数据与论文实际使用的数据版本不一致（复现者注意到仓库中似乎包含了论文中未报告的额外数据）</a:t>
            </a:r>
            <a:endParaRPr lang="zh-CN" altLang="en-US">
              <a:latin typeface="宋体" panose="02010600030101010101" pitchFamily="2" charset="-122"/>
              <a:ea typeface="宋体" panose="02010600030101010101" pitchFamily="2" charset="-122"/>
              <a:cs typeface="宋体" panose="02010600030101010101" pitchFamily="2" charset="-122"/>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10" name="图片 1"/>
          <p:cNvPicPr>
            <a:picLocks noChangeAspect="1"/>
          </p:cNvPicPr>
          <p:nvPr/>
        </p:nvPicPr>
        <p:blipFill>
          <a:blip r:embed="rId1"/>
          <a:stretch>
            <a:fillRect/>
          </a:stretch>
        </p:blipFill>
        <p:spPr>
          <a:xfrm>
            <a:off x="8610600" y="0"/>
            <a:ext cx="3581400" cy="1006475"/>
          </a:xfrm>
          <a:prstGeom prst="rect">
            <a:avLst/>
          </a:prstGeom>
          <a:noFill/>
          <a:ln w="9525">
            <a:noFill/>
          </a:ln>
        </p:spPr>
      </p:pic>
      <p:sp>
        <p:nvSpPr>
          <p:cNvPr id="17411" name="文本框 2"/>
          <p:cNvSpPr txBox="1"/>
          <p:nvPr/>
        </p:nvSpPr>
        <p:spPr>
          <a:xfrm>
            <a:off x="868363" y="25400"/>
            <a:ext cx="5532437" cy="737235"/>
          </a:xfrm>
          <a:prstGeom prst="rect">
            <a:avLst/>
          </a:prstGeom>
          <a:noFill/>
          <a:ln w="9525">
            <a:noFill/>
          </a:ln>
        </p:spPr>
        <p:txBody>
          <a:bodyPr wrap="square">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50000"/>
              </a:lnSpc>
              <a:spcBef>
                <a:spcPct val="0"/>
              </a:spcBef>
              <a:buFontTx/>
              <a:buNone/>
            </a:pPr>
            <a:r>
              <a:rPr lang="zh-CN" altLang="en-US" b="1">
                <a:solidFill>
                  <a:srgbClr val="4B649F"/>
                </a:solidFill>
              </a:rPr>
              <a:t>讨论与</a:t>
            </a:r>
            <a:r>
              <a:rPr lang="zh-CN" altLang="en-US" b="1">
                <a:solidFill>
                  <a:srgbClr val="4B649F"/>
                </a:solidFill>
              </a:rPr>
              <a:t>结论</a:t>
            </a:r>
            <a:endParaRPr lang="zh-CN" altLang="en-US" b="1">
              <a:solidFill>
                <a:srgbClr val="4B649F"/>
              </a:solidFill>
            </a:endParaRPr>
          </a:p>
        </p:txBody>
      </p:sp>
      <p:cxnSp>
        <p:nvCxnSpPr>
          <p:cNvPr id="4" name="直接连接符 3"/>
          <p:cNvCxnSpPr/>
          <p:nvPr/>
        </p:nvCxnSpPr>
        <p:spPr>
          <a:xfrm>
            <a:off x="0" y="798513"/>
            <a:ext cx="11176000" cy="0"/>
          </a:xfrm>
          <a:prstGeom prst="line">
            <a:avLst/>
          </a:prstGeom>
          <a:ln w="25400">
            <a:gradFill>
              <a:gsLst>
                <a:gs pos="0">
                  <a:srgbClr val="4B649F"/>
                </a:gs>
                <a:gs pos="100000">
                  <a:srgbClr val="7DB1CD">
                    <a:alpha val="0"/>
                  </a:srgbClr>
                </a:gs>
              </a:gsLst>
              <a:lin ang="0" scaled="0"/>
            </a:gradFill>
          </a:ln>
        </p:spPr>
        <p:style>
          <a:lnRef idx="1">
            <a:schemeClr val="accent1"/>
          </a:lnRef>
          <a:fillRef idx="0">
            <a:schemeClr val="accent1"/>
          </a:fillRef>
          <a:effectRef idx="0">
            <a:schemeClr val="accent1"/>
          </a:effectRef>
          <a:fontRef idx="minor">
            <a:schemeClr val="tx1"/>
          </a:fontRef>
        </p:style>
      </p:cxnSp>
      <p:sp>
        <p:nvSpPr>
          <p:cNvPr id="5" name="矩形 4"/>
          <p:cNvSpPr/>
          <p:nvPr/>
        </p:nvSpPr>
        <p:spPr>
          <a:xfrm>
            <a:off x="-81280" y="6642735"/>
            <a:ext cx="12192000" cy="133350"/>
          </a:xfrm>
          <a:prstGeom prst="rect">
            <a:avLst/>
          </a:prstGeom>
          <a:solidFill>
            <a:srgbClr val="4B649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1">
              <a:ln>
                <a:noFill/>
              </a:ln>
              <a:solidFill>
                <a:schemeClr val="lt1"/>
              </a:solidFill>
              <a:effectLst/>
              <a:uLnTx/>
              <a:uFillTx/>
              <a:latin typeface="+mn-lt"/>
              <a:ea typeface="+mn-ea"/>
              <a:cs typeface="+mn-cs"/>
            </a:endParaRPr>
          </a:p>
        </p:txBody>
      </p:sp>
      <p:grpSp>
        <p:nvGrpSpPr>
          <p:cNvPr id="17414" name="组合 5"/>
          <p:cNvGrpSpPr/>
          <p:nvPr/>
        </p:nvGrpSpPr>
        <p:grpSpPr>
          <a:xfrm>
            <a:off x="233363" y="125413"/>
            <a:ext cx="635000" cy="635000"/>
            <a:chOff x="5288161" y="2234042"/>
            <a:chExt cx="1607262" cy="1607262"/>
          </a:xfrm>
        </p:grpSpPr>
        <p:sp>
          <p:nvSpPr>
            <p:cNvPr id="7" name="椭圆 6"/>
            <p:cNvSpPr/>
            <p:nvPr/>
          </p:nvSpPr>
          <p:spPr>
            <a:xfrm>
              <a:off x="5288161" y="2234042"/>
              <a:ext cx="1607262" cy="1607262"/>
            </a:xfrm>
            <a:prstGeom prst="ellipse">
              <a:avLst/>
            </a:prstGeom>
            <a:solidFill>
              <a:srgbClr val="4B649F"/>
            </a:solidFill>
            <a:ln w="19050">
              <a:solidFill>
                <a:srgbClr val="4B649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1">
                <a:ln>
                  <a:noFill/>
                </a:ln>
                <a:solidFill>
                  <a:schemeClr val="lt1"/>
                </a:solidFill>
                <a:effectLst/>
                <a:uLnTx/>
                <a:uFillTx/>
                <a:latin typeface="+mn-lt"/>
                <a:ea typeface="+mn-ea"/>
                <a:cs typeface="+mn-cs"/>
              </a:endParaRPr>
            </a:p>
          </p:txBody>
        </p:sp>
        <p:sp>
          <p:nvSpPr>
            <p:cNvPr id="8" name="椭圆 7"/>
            <p:cNvSpPr/>
            <p:nvPr/>
          </p:nvSpPr>
          <p:spPr>
            <a:xfrm>
              <a:off x="5396650" y="2334495"/>
              <a:ext cx="1390282" cy="1390282"/>
            </a:xfrm>
            <a:prstGeom prst="ellipse">
              <a:avLst/>
            </a:prstGeom>
            <a:solidFill>
              <a:schemeClr val="bg1"/>
            </a:solidFill>
            <a:ln w="19050">
              <a:solidFill>
                <a:srgbClr val="4B649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1">
                <a:ln>
                  <a:noFill/>
                </a:ln>
                <a:solidFill>
                  <a:schemeClr val="lt1"/>
                </a:solidFill>
                <a:effectLst/>
                <a:uLnTx/>
                <a:uFillTx/>
                <a:latin typeface="+mn-lt"/>
                <a:ea typeface="+mn-ea"/>
                <a:cs typeface="+mn-cs"/>
              </a:endParaRPr>
            </a:p>
          </p:txBody>
        </p:sp>
        <p:sp>
          <p:nvSpPr>
            <p:cNvPr id="17440" name="KSO_Shape"/>
            <p:cNvSpPr/>
            <p:nvPr/>
          </p:nvSpPr>
          <p:spPr>
            <a:xfrm>
              <a:off x="5547153" y="2697761"/>
              <a:ext cx="1089278" cy="662788"/>
            </a:xfrm>
            <a:custGeom>
              <a:avLst/>
              <a:gdLst>
                <a:gd name="txL" fmla="*/ 0 w 3931"/>
                <a:gd name="txT" fmla="*/ 0 h 2392"/>
                <a:gd name="txR" fmla="*/ 3931 w 3931"/>
                <a:gd name="txB" fmla="*/ 2392 h 2392"/>
              </a:gdLst>
              <a:ahLst/>
              <a:cxnLst>
                <a:cxn ang="0">
                  <a:pos x="844045" y="356609"/>
                </a:cxn>
                <a:cxn ang="0">
                  <a:pos x="561681" y="235522"/>
                </a:cxn>
                <a:cxn ang="0">
                  <a:pos x="243848" y="356609"/>
                </a:cxn>
                <a:cxn ang="0">
                  <a:pos x="155176" y="319756"/>
                </a:cxn>
                <a:cxn ang="0">
                  <a:pos x="155176" y="428374"/>
                </a:cxn>
                <a:cxn ang="0">
                  <a:pos x="179283" y="461624"/>
                </a:cxn>
                <a:cxn ang="0">
                  <a:pos x="154622" y="494874"/>
                </a:cxn>
                <a:cxn ang="0">
                  <a:pos x="180946" y="611804"/>
                </a:cxn>
                <a:cxn ang="0">
                  <a:pos x="103358" y="611804"/>
                </a:cxn>
                <a:cxn ang="0">
                  <a:pos x="129960" y="494320"/>
                </a:cxn>
                <a:cxn ang="0">
                  <a:pos x="108346" y="461624"/>
                </a:cxn>
                <a:cxn ang="0">
                  <a:pos x="129128" y="429205"/>
                </a:cxn>
                <a:cxn ang="0">
                  <a:pos x="129128" y="308950"/>
                </a:cxn>
                <a:cxn ang="0">
                  <a:pos x="0" y="254918"/>
                </a:cxn>
                <a:cxn ang="0">
                  <a:pos x="568054" y="0"/>
                </a:cxn>
                <a:cxn ang="0">
                  <a:pos x="1089278" y="258243"/>
                </a:cxn>
                <a:cxn ang="0">
                  <a:pos x="844045" y="356609"/>
                </a:cxn>
                <a:cxn ang="0">
                  <a:pos x="555307" y="297035"/>
                </a:cxn>
                <a:cxn ang="0">
                  <a:pos x="811624" y="384040"/>
                </a:cxn>
                <a:cxn ang="0">
                  <a:pos x="811624" y="594902"/>
                </a:cxn>
                <a:cxn ang="0">
                  <a:pos x="542284" y="662788"/>
                </a:cxn>
                <a:cxn ang="0">
                  <a:pos x="304532" y="594902"/>
                </a:cxn>
                <a:cxn ang="0">
                  <a:pos x="304532" y="384040"/>
                </a:cxn>
                <a:cxn ang="0">
                  <a:pos x="555307" y="297035"/>
                </a:cxn>
                <a:cxn ang="0">
                  <a:pos x="551982" y="623996"/>
                </a:cxn>
                <a:cxn ang="0">
                  <a:pos x="758698" y="572458"/>
                </a:cxn>
                <a:cxn ang="0">
                  <a:pos x="551982" y="520643"/>
                </a:cxn>
                <a:cxn ang="0">
                  <a:pos x="345543" y="572458"/>
                </a:cxn>
                <a:cxn ang="0">
                  <a:pos x="551982" y="623996"/>
                </a:cxn>
              </a:cxnLst>
              <a:rect l="txL" t="txT" r="txR" b="txB"/>
              <a:pathLst>
                <a:path w="3931" h="2392">
                  <a:moveTo>
                    <a:pt x="3046" y="1287"/>
                  </a:moveTo>
                  <a:cubicBezTo>
                    <a:pt x="3046" y="1287"/>
                    <a:pt x="2618" y="850"/>
                    <a:pt x="2027" y="850"/>
                  </a:cubicBezTo>
                  <a:cubicBezTo>
                    <a:pt x="1450" y="850"/>
                    <a:pt x="880" y="1287"/>
                    <a:pt x="880" y="1287"/>
                  </a:cubicBezTo>
                  <a:cubicBezTo>
                    <a:pt x="560" y="1154"/>
                    <a:pt x="560" y="1154"/>
                    <a:pt x="560" y="1154"/>
                  </a:cubicBezTo>
                  <a:cubicBezTo>
                    <a:pt x="560" y="1546"/>
                    <a:pt x="560" y="1546"/>
                    <a:pt x="560" y="1546"/>
                  </a:cubicBezTo>
                  <a:cubicBezTo>
                    <a:pt x="610" y="1563"/>
                    <a:pt x="647" y="1610"/>
                    <a:pt x="647" y="1666"/>
                  </a:cubicBezTo>
                  <a:cubicBezTo>
                    <a:pt x="647" y="1723"/>
                    <a:pt x="609" y="1769"/>
                    <a:pt x="558" y="1786"/>
                  </a:cubicBezTo>
                  <a:cubicBezTo>
                    <a:pt x="653" y="2208"/>
                    <a:pt x="653" y="2208"/>
                    <a:pt x="653" y="2208"/>
                  </a:cubicBezTo>
                  <a:cubicBezTo>
                    <a:pt x="373" y="2208"/>
                    <a:pt x="373" y="2208"/>
                    <a:pt x="373" y="2208"/>
                  </a:cubicBezTo>
                  <a:cubicBezTo>
                    <a:pt x="469" y="1784"/>
                    <a:pt x="469" y="1784"/>
                    <a:pt x="469" y="1784"/>
                  </a:cubicBezTo>
                  <a:cubicBezTo>
                    <a:pt x="423" y="1764"/>
                    <a:pt x="391" y="1719"/>
                    <a:pt x="391" y="1666"/>
                  </a:cubicBezTo>
                  <a:cubicBezTo>
                    <a:pt x="391" y="1614"/>
                    <a:pt x="422" y="1570"/>
                    <a:pt x="466" y="1549"/>
                  </a:cubicBezTo>
                  <a:cubicBezTo>
                    <a:pt x="466" y="1115"/>
                    <a:pt x="466" y="1115"/>
                    <a:pt x="466" y="1115"/>
                  </a:cubicBezTo>
                  <a:cubicBezTo>
                    <a:pt x="0" y="920"/>
                    <a:pt x="0" y="920"/>
                    <a:pt x="0" y="920"/>
                  </a:cubicBezTo>
                  <a:cubicBezTo>
                    <a:pt x="2050" y="0"/>
                    <a:pt x="2050" y="0"/>
                    <a:pt x="2050" y="0"/>
                  </a:cubicBezTo>
                  <a:cubicBezTo>
                    <a:pt x="3931" y="932"/>
                    <a:pt x="3931" y="932"/>
                    <a:pt x="3931" y="932"/>
                  </a:cubicBezTo>
                  <a:lnTo>
                    <a:pt x="3046" y="1287"/>
                  </a:lnTo>
                  <a:close/>
                  <a:moveTo>
                    <a:pt x="2004" y="1072"/>
                  </a:moveTo>
                  <a:cubicBezTo>
                    <a:pt x="2598" y="1072"/>
                    <a:pt x="2929" y="1386"/>
                    <a:pt x="2929" y="1386"/>
                  </a:cubicBezTo>
                  <a:cubicBezTo>
                    <a:pt x="2929" y="2147"/>
                    <a:pt x="2929" y="2147"/>
                    <a:pt x="2929" y="2147"/>
                  </a:cubicBezTo>
                  <a:cubicBezTo>
                    <a:pt x="2929" y="2147"/>
                    <a:pt x="2586" y="2392"/>
                    <a:pt x="1957" y="2392"/>
                  </a:cubicBezTo>
                  <a:cubicBezTo>
                    <a:pt x="1328" y="2392"/>
                    <a:pt x="1099" y="2147"/>
                    <a:pt x="1099" y="2147"/>
                  </a:cubicBezTo>
                  <a:cubicBezTo>
                    <a:pt x="1099" y="1386"/>
                    <a:pt x="1099" y="1386"/>
                    <a:pt x="1099" y="1386"/>
                  </a:cubicBezTo>
                  <a:cubicBezTo>
                    <a:pt x="1099" y="1386"/>
                    <a:pt x="1410" y="1072"/>
                    <a:pt x="2004" y="1072"/>
                  </a:cubicBezTo>
                  <a:close/>
                  <a:moveTo>
                    <a:pt x="1992" y="2252"/>
                  </a:moveTo>
                  <a:cubicBezTo>
                    <a:pt x="2404" y="2252"/>
                    <a:pt x="2738" y="2168"/>
                    <a:pt x="2738" y="2066"/>
                  </a:cubicBezTo>
                  <a:cubicBezTo>
                    <a:pt x="2738" y="1963"/>
                    <a:pt x="2404" y="1879"/>
                    <a:pt x="1992" y="1879"/>
                  </a:cubicBezTo>
                  <a:cubicBezTo>
                    <a:pt x="1581" y="1879"/>
                    <a:pt x="1247" y="1963"/>
                    <a:pt x="1247" y="2066"/>
                  </a:cubicBezTo>
                  <a:cubicBezTo>
                    <a:pt x="1247" y="2168"/>
                    <a:pt x="1581" y="2252"/>
                    <a:pt x="1992" y="2252"/>
                  </a:cubicBezTo>
                  <a:close/>
                </a:path>
              </a:pathLst>
            </a:custGeom>
            <a:solidFill>
              <a:srgbClr val="4B649F">
                <a:alpha val="100000"/>
              </a:srgbClr>
            </a:solidFill>
            <a:ln w="9525">
              <a:noFill/>
            </a:ln>
          </p:spPr>
          <p:txBody>
            <a:bodyPr/>
            <a:lstStyle/>
            <a:p>
              <a:endParaRPr lang="zh-CN" altLang="en-US" sz="1800"/>
            </a:p>
          </p:txBody>
        </p:sp>
      </p:grpSp>
      <p:sp>
        <p:nvSpPr>
          <p:cNvPr id="2" name="文本框 1"/>
          <p:cNvSpPr txBox="1"/>
          <p:nvPr/>
        </p:nvSpPr>
        <p:spPr>
          <a:xfrm>
            <a:off x="275590" y="1122045"/>
            <a:ext cx="11483340" cy="4799965"/>
          </a:xfrm>
          <a:prstGeom prst="rect">
            <a:avLst/>
          </a:prstGeom>
          <a:noFill/>
        </p:spPr>
        <p:txBody>
          <a:bodyPr wrap="square" rtlCol="0" anchor="t">
            <a:spAutoFit/>
          </a:bodyPr>
          <a:p>
            <a:pPr marL="342900" indent="-342900">
              <a:buFont typeface="Wingdings" panose="05000000000000000000" charset="0"/>
              <a:buChar char="Ø"/>
            </a:pPr>
            <a:r>
              <a:rPr lang="zh-CN" altLang="en-US" sz="1800" b="1">
                <a:latin typeface="宋体" panose="02010600030101010101" pitchFamily="2" charset="-122"/>
                <a:ea typeface="宋体" panose="02010600030101010101" pitchFamily="2" charset="-122"/>
                <a:cs typeface="宋体" panose="02010600030101010101" pitchFamily="2" charset="-122"/>
              </a:rPr>
              <a:t>执行功能（</a:t>
            </a:r>
            <a:r>
              <a:rPr lang="en-US" altLang="zh-CN" sz="1800" b="1">
                <a:latin typeface="宋体" panose="02010600030101010101" pitchFamily="2" charset="-122"/>
                <a:ea typeface="宋体" panose="02010600030101010101" pitchFamily="2" charset="-122"/>
                <a:cs typeface="宋体" panose="02010600030101010101" pitchFamily="2" charset="-122"/>
              </a:rPr>
              <a:t>EF）</a:t>
            </a:r>
            <a:r>
              <a:rPr lang="zh-CN" altLang="en-US" sz="1800" b="1">
                <a:latin typeface="宋体" panose="02010600030101010101" pitchFamily="2" charset="-122"/>
                <a:ea typeface="宋体" panose="02010600030101010101" pitchFamily="2" charset="-122"/>
                <a:cs typeface="宋体" panose="02010600030101010101" pitchFamily="2" charset="-122"/>
              </a:rPr>
              <a:t>的调节作用</a:t>
            </a:r>
            <a:endParaRPr lang="zh-CN" altLang="en-US" sz="1800" b="1">
              <a:latin typeface="宋体" panose="02010600030101010101" pitchFamily="2" charset="-122"/>
              <a:ea typeface="宋体" panose="02010600030101010101" pitchFamily="2" charset="-122"/>
              <a:cs typeface="宋体" panose="02010600030101010101" pitchFamily="2" charset="-122"/>
            </a:endParaRPr>
          </a:p>
          <a:p>
            <a:pPr>
              <a:buFont typeface="Wingdings" panose="05000000000000000000" charset="0"/>
            </a:pPr>
            <a:r>
              <a:rPr lang="zh-CN" altLang="en-US" sz="1800">
                <a:latin typeface="宋体" panose="02010600030101010101" pitchFamily="2" charset="-122"/>
                <a:ea typeface="宋体" panose="02010600030101010101" pitchFamily="2" charset="-122"/>
                <a:cs typeface="宋体" panose="02010600030101010101" pitchFamily="2" charset="-122"/>
              </a:rPr>
              <a:t>基于认知努力的成本 - 收益权衡理论，本研究证实认知能力会约束奖励对认知努力的调动效果：低执行功能个体感知到的任务转换认知成本更高，高额金钱奖励能够有效抵消这份主观成本，因此奖励可明显降低其任务转换代价、促使其投入更多脑力；而高执行功能个体本身付出认知努力的成本极低，奖励带来的收益提升无法进一步改变其认知投入水平，对奖励不敏感。</a:t>
            </a:r>
            <a:endParaRPr lang="zh-CN" altLang="en-US" sz="1800">
              <a:latin typeface="宋体" panose="02010600030101010101" pitchFamily="2" charset="-122"/>
              <a:ea typeface="宋体" panose="02010600030101010101" pitchFamily="2" charset="-122"/>
              <a:cs typeface="宋体" panose="02010600030101010101" pitchFamily="2" charset="-122"/>
            </a:endParaRPr>
          </a:p>
          <a:p>
            <a:pPr>
              <a:buFont typeface="Wingdings" panose="05000000000000000000" charset="0"/>
            </a:pPr>
            <a:endParaRPr lang="zh-CN" altLang="en-US" sz="1800">
              <a:latin typeface="宋体" panose="02010600030101010101" pitchFamily="2" charset="-122"/>
              <a:ea typeface="宋体" panose="02010600030101010101" pitchFamily="2" charset="-122"/>
              <a:cs typeface="宋体" panose="02010600030101010101" pitchFamily="2" charset="-122"/>
            </a:endParaRPr>
          </a:p>
          <a:p>
            <a:pPr marL="285750" indent="-285750">
              <a:buFont typeface="Wingdings" panose="05000000000000000000" charset="0"/>
              <a:buChar char="Ø"/>
            </a:pPr>
            <a:r>
              <a:rPr lang="zh-CN" altLang="en-US" sz="1800" b="1">
                <a:latin typeface="宋体" panose="02010600030101010101" pitchFamily="2" charset="-122"/>
                <a:ea typeface="宋体" panose="02010600030101010101" pitchFamily="2" charset="-122"/>
                <a:cs typeface="宋体" panose="02010600030101010101" pitchFamily="2" charset="-122"/>
              </a:rPr>
              <a:t>认知需求（</a:t>
            </a:r>
            <a:r>
              <a:rPr lang="en-US" altLang="zh-CN" sz="1800" b="1">
                <a:latin typeface="宋体" panose="02010600030101010101" pitchFamily="2" charset="-122"/>
                <a:ea typeface="宋体" panose="02010600030101010101" pitchFamily="2" charset="-122"/>
                <a:cs typeface="宋体" panose="02010600030101010101" pitchFamily="2" charset="-122"/>
              </a:rPr>
              <a:t>NFC）</a:t>
            </a:r>
            <a:r>
              <a:rPr lang="zh-CN" altLang="en-US" sz="1800" b="1">
                <a:latin typeface="宋体" panose="02010600030101010101" pitchFamily="2" charset="-122"/>
                <a:ea typeface="宋体" panose="02010600030101010101" pitchFamily="2" charset="-122"/>
                <a:cs typeface="宋体" panose="02010600030101010101" pitchFamily="2" charset="-122"/>
              </a:rPr>
              <a:t>的调节作用</a:t>
            </a:r>
            <a:endParaRPr lang="zh-CN" altLang="en-US" sz="1800" b="1">
              <a:latin typeface="宋体" panose="02010600030101010101" pitchFamily="2" charset="-122"/>
              <a:ea typeface="宋体" panose="02010600030101010101" pitchFamily="2" charset="-122"/>
              <a:cs typeface="宋体" panose="02010600030101010101" pitchFamily="2" charset="-122"/>
            </a:endParaRPr>
          </a:p>
          <a:p>
            <a:pPr>
              <a:buFont typeface="Wingdings" panose="05000000000000000000" charset="0"/>
            </a:pPr>
            <a:r>
              <a:rPr lang="zh-CN" altLang="en-US" sz="1800">
                <a:latin typeface="宋体" panose="02010600030101010101" pitchFamily="2" charset="-122"/>
                <a:ea typeface="宋体" panose="02010600030101010101" pitchFamily="2" charset="-122"/>
                <a:cs typeface="宋体" panose="02010600030101010101" pitchFamily="2" charset="-122"/>
              </a:rPr>
              <a:t>认知需求代表个体主动思考的内在动机，同样独立影响奖励驱动的努力行为：低认知需求者本身不愿主动进行高负荷脑力活动，更依赖外部金钱奖励激励，奖励会减少其转换代价、提升认知投入；高认知需求者自带思考内在动机，外部奖励反而无法提升其努力，甚至会增大任务转换代价。</a:t>
            </a:r>
            <a:endParaRPr lang="zh-CN" altLang="en-US" sz="1800">
              <a:latin typeface="宋体" panose="02010600030101010101" pitchFamily="2" charset="-122"/>
              <a:ea typeface="宋体" panose="02010600030101010101" pitchFamily="2" charset="-122"/>
              <a:cs typeface="宋体" panose="02010600030101010101" pitchFamily="2" charset="-122"/>
            </a:endParaRPr>
          </a:p>
          <a:p>
            <a:pPr>
              <a:buFont typeface="Wingdings" panose="05000000000000000000" charset="0"/>
            </a:pPr>
            <a:endParaRPr lang="zh-CN" altLang="en-US" sz="1800">
              <a:latin typeface="宋体" panose="02010600030101010101" pitchFamily="2" charset="-122"/>
              <a:ea typeface="宋体" panose="02010600030101010101" pitchFamily="2" charset="-122"/>
              <a:cs typeface="宋体" panose="02010600030101010101" pitchFamily="2" charset="-122"/>
            </a:endParaRPr>
          </a:p>
          <a:p>
            <a:pPr marL="285750" indent="-285750">
              <a:buFont typeface="Wingdings" panose="05000000000000000000" charset="0"/>
              <a:buChar char="Ø"/>
            </a:pPr>
            <a:r>
              <a:rPr lang="zh-CN" altLang="en-US" sz="1800" b="1">
                <a:latin typeface="宋体" panose="02010600030101010101" pitchFamily="2" charset="-122"/>
                <a:ea typeface="宋体" panose="02010600030101010101" pitchFamily="2" charset="-122"/>
                <a:cs typeface="宋体" panose="02010600030101010101" pitchFamily="2" charset="-122"/>
              </a:rPr>
              <a:t>和前人研究的对比与补充</a:t>
            </a:r>
            <a:endParaRPr lang="zh-CN" altLang="en-US" sz="1800" b="1">
              <a:latin typeface="宋体" panose="02010600030101010101" pitchFamily="2" charset="-122"/>
              <a:ea typeface="宋体" panose="02010600030101010101" pitchFamily="2" charset="-122"/>
              <a:cs typeface="宋体" panose="02010600030101010101" pitchFamily="2" charset="-122"/>
            </a:endParaRPr>
          </a:p>
          <a:p>
            <a:pPr>
              <a:buFont typeface="Wingdings" panose="05000000000000000000" charset="0"/>
            </a:pPr>
            <a:r>
              <a:rPr lang="zh-CN" altLang="en-US" sz="1800">
                <a:latin typeface="宋体" panose="02010600030101010101" pitchFamily="2" charset="-122"/>
                <a:ea typeface="宋体" panose="02010600030101010101" pitchFamily="2" charset="-122"/>
                <a:cs typeface="宋体" panose="02010600030101010101" pitchFamily="2" charset="-122"/>
              </a:rPr>
              <a:t>过往研究证明特定条件下奖励可以降低任务转换代价，但本研究显示，仅依靠奖励本身无法统一产生该效应，高低奖励 5 美分的差值不足以整体提升所有人的认知努力；奖励的作用存在极强个体分化：奖励金额差距虽无法改变全体被试的平均表现，但足以区分不同认知能力、不同认知需求人群的努力投入差异，这也解释了过往相关研究结论不一致、证据模棱两可的原因。</a:t>
            </a:r>
            <a:endParaRPr lang="zh-CN" altLang="en-US" sz="1800">
              <a:latin typeface="宋体" panose="02010600030101010101" pitchFamily="2" charset="-122"/>
              <a:ea typeface="宋体" panose="02010600030101010101" pitchFamily="2" charset="-122"/>
              <a:cs typeface="宋体" panose="02010600030101010101" pitchFamily="2" charset="-122"/>
            </a:endParaRPr>
          </a:p>
          <a:p>
            <a:pPr>
              <a:buFont typeface="Wingdings" panose="05000000000000000000" charset="0"/>
            </a:pPr>
            <a:endParaRPr lang="zh-CN" altLang="en-US" sz="1800">
              <a:latin typeface="宋体" panose="02010600030101010101" pitchFamily="2" charset="-122"/>
              <a:ea typeface="宋体" panose="02010600030101010101" pitchFamily="2" charset="-122"/>
              <a:cs typeface="宋体" panose="02010600030101010101" pitchFamily="2" charset="-122"/>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10" name="图片 1"/>
          <p:cNvPicPr>
            <a:picLocks noChangeAspect="1"/>
          </p:cNvPicPr>
          <p:nvPr/>
        </p:nvPicPr>
        <p:blipFill>
          <a:blip r:embed="rId1"/>
          <a:stretch>
            <a:fillRect/>
          </a:stretch>
        </p:blipFill>
        <p:spPr>
          <a:xfrm>
            <a:off x="8610600" y="0"/>
            <a:ext cx="3581400" cy="1006475"/>
          </a:xfrm>
          <a:prstGeom prst="rect">
            <a:avLst/>
          </a:prstGeom>
          <a:noFill/>
          <a:ln w="9525">
            <a:noFill/>
          </a:ln>
        </p:spPr>
      </p:pic>
      <p:sp>
        <p:nvSpPr>
          <p:cNvPr id="17411" name="文本框 2"/>
          <p:cNvSpPr txBox="1"/>
          <p:nvPr/>
        </p:nvSpPr>
        <p:spPr>
          <a:xfrm>
            <a:off x="868363" y="25400"/>
            <a:ext cx="5532437" cy="737235"/>
          </a:xfrm>
          <a:prstGeom prst="rect">
            <a:avLst/>
          </a:prstGeom>
          <a:noFill/>
          <a:ln w="9525">
            <a:noFill/>
          </a:ln>
        </p:spPr>
        <p:txBody>
          <a:bodyPr wrap="square">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50000"/>
              </a:lnSpc>
              <a:spcBef>
                <a:spcPct val="0"/>
              </a:spcBef>
              <a:buFontTx/>
              <a:buNone/>
            </a:pPr>
            <a:r>
              <a:rPr lang="zh-CN" altLang="en-US" b="1">
                <a:solidFill>
                  <a:srgbClr val="4B649F"/>
                </a:solidFill>
              </a:rPr>
              <a:t>讨论与</a:t>
            </a:r>
            <a:r>
              <a:rPr lang="zh-CN" altLang="en-US" b="1">
                <a:solidFill>
                  <a:srgbClr val="4B649F"/>
                </a:solidFill>
              </a:rPr>
              <a:t>结论</a:t>
            </a:r>
            <a:endParaRPr lang="zh-CN" altLang="en-US" b="1">
              <a:solidFill>
                <a:srgbClr val="4B649F"/>
              </a:solidFill>
            </a:endParaRPr>
          </a:p>
        </p:txBody>
      </p:sp>
      <p:cxnSp>
        <p:nvCxnSpPr>
          <p:cNvPr id="4" name="直接连接符 3"/>
          <p:cNvCxnSpPr/>
          <p:nvPr/>
        </p:nvCxnSpPr>
        <p:spPr>
          <a:xfrm>
            <a:off x="0" y="798513"/>
            <a:ext cx="11176000" cy="0"/>
          </a:xfrm>
          <a:prstGeom prst="line">
            <a:avLst/>
          </a:prstGeom>
          <a:ln w="25400">
            <a:gradFill>
              <a:gsLst>
                <a:gs pos="0">
                  <a:srgbClr val="4B649F"/>
                </a:gs>
                <a:gs pos="100000">
                  <a:srgbClr val="7DB1CD">
                    <a:alpha val="0"/>
                  </a:srgbClr>
                </a:gs>
              </a:gsLst>
              <a:lin ang="0" scaled="0"/>
            </a:gradFill>
          </a:ln>
        </p:spPr>
        <p:style>
          <a:lnRef idx="1">
            <a:schemeClr val="accent1"/>
          </a:lnRef>
          <a:fillRef idx="0">
            <a:schemeClr val="accent1"/>
          </a:fillRef>
          <a:effectRef idx="0">
            <a:schemeClr val="accent1"/>
          </a:effectRef>
          <a:fontRef idx="minor">
            <a:schemeClr val="tx1"/>
          </a:fontRef>
        </p:style>
      </p:cxnSp>
      <p:sp>
        <p:nvSpPr>
          <p:cNvPr id="5" name="矩形 4"/>
          <p:cNvSpPr/>
          <p:nvPr/>
        </p:nvSpPr>
        <p:spPr>
          <a:xfrm>
            <a:off x="-81280" y="6642735"/>
            <a:ext cx="12192000" cy="133350"/>
          </a:xfrm>
          <a:prstGeom prst="rect">
            <a:avLst/>
          </a:prstGeom>
          <a:solidFill>
            <a:srgbClr val="4B649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1">
              <a:ln>
                <a:noFill/>
              </a:ln>
              <a:solidFill>
                <a:schemeClr val="lt1"/>
              </a:solidFill>
              <a:effectLst/>
              <a:uLnTx/>
              <a:uFillTx/>
              <a:latin typeface="+mn-lt"/>
              <a:ea typeface="+mn-ea"/>
              <a:cs typeface="+mn-cs"/>
            </a:endParaRPr>
          </a:p>
        </p:txBody>
      </p:sp>
      <p:grpSp>
        <p:nvGrpSpPr>
          <p:cNvPr id="17414" name="组合 5"/>
          <p:cNvGrpSpPr/>
          <p:nvPr/>
        </p:nvGrpSpPr>
        <p:grpSpPr>
          <a:xfrm>
            <a:off x="233363" y="125413"/>
            <a:ext cx="635000" cy="635000"/>
            <a:chOff x="5288161" y="2234042"/>
            <a:chExt cx="1607262" cy="1607262"/>
          </a:xfrm>
        </p:grpSpPr>
        <p:sp>
          <p:nvSpPr>
            <p:cNvPr id="7" name="椭圆 6"/>
            <p:cNvSpPr/>
            <p:nvPr/>
          </p:nvSpPr>
          <p:spPr>
            <a:xfrm>
              <a:off x="5288161" y="2234042"/>
              <a:ext cx="1607262" cy="1607262"/>
            </a:xfrm>
            <a:prstGeom prst="ellipse">
              <a:avLst/>
            </a:prstGeom>
            <a:solidFill>
              <a:srgbClr val="4B649F"/>
            </a:solidFill>
            <a:ln w="19050">
              <a:solidFill>
                <a:srgbClr val="4B649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1">
                <a:ln>
                  <a:noFill/>
                </a:ln>
                <a:solidFill>
                  <a:schemeClr val="lt1"/>
                </a:solidFill>
                <a:effectLst/>
                <a:uLnTx/>
                <a:uFillTx/>
                <a:latin typeface="+mn-lt"/>
                <a:ea typeface="+mn-ea"/>
                <a:cs typeface="+mn-cs"/>
              </a:endParaRPr>
            </a:p>
          </p:txBody>
        </p:sp>
        <p:sp>
          <p:nvSpPr>
            <p:cNvPr id="8" name="椭圆 7"/>
            <p:cNvSpPr/>
            <p:nvPr/>
          </p:nvSpPr>
          <p:spPr>
            <a:xfrm>
              <a:off x="5396650" y="2334495"/>
              <a:ext cx="1390282" cy="1390282"/>
            </a:xfrm>
            <a:prstGeom prst="ellipse">
              <a:avLst/>
            </a:prstGeom>
            <a:solidFill>
              <a:schemeClr val="bg1"/>
            </a:solidFill>
            <a:ln w="19050">
              <a:solidFill>
                <a:srgbClr val="4B649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1">
                <a:ln>
                  <a:noFill/>
                </a:ln>
                <a:solidFill>
                  <a:schemeClr val="lt1"/>
                </a:solidFill>
                <a:effectLst/>
                <a:uLnTx/>
                <a:uFillTx/>
                <a:latin typeface="+mn-lt"/>
                <a:ea typeface="+mn-ea"/>
                <a:cs typeface="+mn-cs"/>
              </a:endParaRPr>
            </a:p>
          </p:txBody>
        </p:sp>
        <p:sp>
          <p:nvSpPr>
            <p:cNvPr id="17440" name="KSO_Shape"/>
            <p:cNvSpPr/>
            <p:nvPr/>
          </p:nvSpPr>
          <p:spPr>
            <a:xfrm>
              <a:off x="5547153" y="2697761"/>
              <a:ext cx="1089278" cy="662788"/>
            </a:xfrm>
            <a:custGeom>
              <a:avLst/>
              <a:gdLst>
                <a:gd name="txL" fmla="*/ 0 w 3931"/>
                <a:gd name="txT" fmla="*/ 0 h 2392"/>
                <a:gd name="txR" fmla="*/ 3931 w 3931"/>
                <a:gd name="txB" fmla="*/ 2392 h 2392"/>
              </a:gdLst>
              <a:ahLst/>
              <a:cxnLst>
                <a:cxn ang="0">
                  <a:pos x="844045" y="356609"/>
                </a:cxn>
                <a:cxn ang="0">
                  <a:pos x="561681" y="235522"/>
                </a:cxn>
                <a:cxn ang="0">
                  <a:pos x="243848" y="356609"/>
                </a:cxn>
                <a:cxn ang="0">
                  <a:pos x="155176" y="319756"/>
                </a:cxn>
                <a:cxn ang="0">
                  <a:pos x="155176" y="428374"/>
                </a:cxn>
                <a:cxn ang="0">
                  <a:pos x="179283" y="461624"/>
                </a:cxn>
                <a:cxn ang="0">
                  <a:pos x="154622" y="494874"/>
                </a:cxn>
                <a:cxn ang="0">
                  <a:pos x="180946" y="611804"/>
                </a:cxn>
                <a:cxn ang="0">
                  <a:pos x="103358" y="611804"/>
                </a:cxn>
                <a:cxn ang="0">
                  <a:pos x="129960" y="494320"/>
                </a:cxn>
                <a:cxn ang="0">
                  <a:pos x="108346" y="461624"/>
                </a:cxn>
                <a:cxn ang="0">
                  <a:pos x="129128" y="429205"/>
                </a:cxn>
                <a:cxn ang="0">
                  <a:pos x="129128" y="308950"/>
                </a:cxn>
                <a:cxn ang="0">
                  <a:pos x="0" y="254918"/>
                </a:cxn>
                <a:cxn ang="0">
                  <a:pos x="568054" y="0"/>
                </a:cxn>
                <a:cxn ang="0">
                  <a:pos x="1089278" y="258243"/>
                </a:cxn>
                <a:cxn ang="0">
                  <a:pos x="844045" y="356609"/>
                </a:cxn>
                <a:cxn ang="0">
                  <a:pos x="555307" y="297035"/>
                </a:cxn>
                <a:cxn ang="0">
                  <a:pos x="811624" y="384040"/>
                </a:cxn>
                <a:cxn ang="0">
                  <a:pos x="811624" y="594902"/>
                </a:cxn>
                <a:cxn ang="0">
                  <a:pos x="542284" y="662788"/>
                </a:cxn>
                <a:cxn ang="0">
                  <a:pos x="304532" y="594902"/>
                </a:cxn>
                <a:cxn ang="0">
                  <a:pos x="304532" y="384040"/>
                </a:cxn>
                <a:cxn ang="0">
                  <a:pos x="555307" y="297035"/>
                </a:cxn>
                <a:cxn ang="0">
                  <a:pos x="551982" y="623996"/>
                </a:cxn>
                <a:cxn ang="0">
                  <a:pos x="758698" y="572458"/>
                </a:cxn>
                <a:cxn ang="0">
                  <a:pos x="551982" y="520643"/>
                </a:cxn>
                <a:cxn ang="0">
                  <a:pos x="345543" y="572458"/>
                </a:cxn>
                <a:cxn ang="0">
                  <a:pos x="551982" y="623996"/>
                </a:cxn>
              </a:cxnLst>
              <a:rect l="txL" t="txT" r="txR" b="txB"/>
              <a:pathLst>
                <a:path w="3931" h="2392">
                  <a:moveTo>
                    <a:pt x="3046" y="1287"/>
                  </a:moveTo>
                  <a:cubicBezTo>
                    <a:pt x="3046" y="1287"/>
                    <a:pt x="2618" y="850"/>
                    <a:pt x="2027" y="850"/>
                  </a:cubicBezTo>
                  <a:cubicBezTo>
                    <a:pt x="1450" y="850"/>
                    <a:pt x="880" y="1287"/>
                    <a:pt x="880" y="1287"/>
                  </a:cubicBezTo>
                  <a:cubicBezTo>
                    <a:pt x="560" y="1154"/>
                    <a:pt x="560" y="1154"/>
                    <a:pt x="560" y="1154"/>
                  </a:cubicBezTo>
                  <a:cubicBezTo>
                    <a:pt x="560" y="1546"/>
                    <a:pt x="560" y="1546"/>
                    <a:pt x="560" y="1546"/>
                  </a:cubicBezTo>
                  <a:cubicBezTo>
                    <a:pt x="610" y="1563"/>
                    <a:pt x="647" y="1610"/>
                    <a:pt x="647" y="1666"/>
                  </a:cubicBezTo>
                  <a:cubicBezTo>
                    <a:pt x="647" y="1723"/>
                    <a:pt x="609" y="1769"/>
                    <a:pt x="558" y="1786"/>
                  </a:cubicBezTo>
                  <a:cubicBezTo>
                    <a:pt x="653" y="2208"/>
                    <a:pt x="653" y="2208"/>
                    <a:pt x="653" y="2208"/>
                  </a:cubicBezTo>
                  <a:cubicBezTo>
                    <a:pt x="373" y="2208"/>
                    <a:pt x="373" y="2208"/>
                    <a:pt x="373" y="2208"/>
                  </a:cubicBezTo>
                  <a:cubicBezTo>
                    <a:pt x="469" y="1784"/>
                    <a:pt x="469" y="1784"/>
                    <a:pt x="469" y="1784"/>
                  </a:cubicBezTo>
                  <a:cubicBezTo>
                    <a:pt x="423" y="1764"/>
                    <a:pt x="391" y="1719"/>
                    <a:pt x="391" y="1666"/>
                  </a:cubicBezTo>
                  <a:cubicBezTo>
                    <a:pt x="391" y="1614"/>
                    <a:pt x="422" y="1570"/>
                    <a:pt x="466" y="1549"/>
                  </a:cubicBezTo>
                  <a:cubicBezTo>
                    <a:pt x="466" y="1115"/>
                    <a:pt x="466" y="1115"/>
                    <a:pt x="466" y="1115"/>
                  </a:cubicBezTo>
                  <a:cubicBezTo>
                    <a:pt x="0" y="920"/>
                    <a:pt x="0" y="920"/>
                    <a:pt x="0" y="920"/>
                  </a:cubicBezTo>
                  <a:cubicBezTo>
                    <a:pt x="2050" y="0"/>
                    <a:pt x="2050" y="0"/>
                    <a:pt x="2050" y="0"/>
                  </a:cubicBezTo>
                  <a:cubicBezTo>
                    <a:pt x="3931" y="932"/>
                    <a:pt x="3931" y="932"/>
                    <a:pt x="3931" y="932"/>
                  </a:cubicBezTo>
                  <a:lnTo>
                    <a:pt x="3046" y="1287"/>
                  </a:lnTo>
                  <a:close/>
                  <a:moveTo>
                    <a:pt x="2004" y="1072"/>
                  </a:moveTo>
                  <a:cubicBezTo>
                    <a:pt x="2598" y="1072"/>
                    <a:pt x="2929" y="1386"/>
                    <a:pt x="2929" y="1386"/>
                  </a:cubicBezTo>
                  <a:cubicBezTo>
                    <a:pt x="2929" y="2147"/>
                    <a:pt x="2929" y="2147"/>
                    <a:pt x="2929" y="2147"/>
                  </a:cubicBezTo>
                  <a:cubicBezTo>
                    <a:pt x="2929" y="2147"/>
                    <a:pt x="2586" y="2392"/>
                    <a:pt x="1957" y="2392"/>
                  </a:cubicBezTo>
                  <a:cubicBezTo>
                    <a:pt x="1328" y="2392"/>
                    <a:pt x="1099" y="2147"/>
                    <a:pt x="1099" y="2147"/>
                  </a:cubicBezTo>
                  <a:cubicBezTo>
                    <a:pt x="1099" y="1386"/>
                    <a:pt x="1099" y="1386"/>
                    <a:pt x="1099" y="1386"/>
                  </a:cubicBezTo>
                  <a:cubicBezTo>
                    <a:pt x="1099" y="1386"/>
                    <a:pt x="1410" y="1072"/>
                    <a:pt x="2004" y="1072"/>
                  </a:cubicBezTo>
                  <a:close/>
                  <a:moveTo>
                    <a:pt x="1992" y="2252"/>
                  </a:moveTo>
                  <a:cubicBezTo>
                    <a:pt x="2404" y="2252"/>
                    <a:pt x="2738" y="2168"/>
                    <a:pt x="2738" y="2066"/>
                  </a:cubicBezTo>
                  <a:cubicBezTo>
                    <a:pt x="2738" y="1963"/>
                    <a:pt x="2404" y="1879"/>
                    <a:pt x="1992" y="1879"/>
                  </a:cubicBezTo>
                  <a:cubicBezTo>
                    <a:pt x="1581" y="1879"/>
                    <a:pt x="1247" y="1963"/>
                    <a:pt x="1247" y="2066"/>
                  </a:cubicBezTo>
                  <a:cubicBezTo>
                    <a:pt x="1247" y="2168"/>
                    <a:pt x="1581" y="2252"/>
                    <a:pt x="1992" y="2252"/>
                  </a:cubicBezTo>
                  <a:close/>
                </a:path>
              </a:pathLst>
            </a:custGeom>
            <a:solidFill>
              <a:srgbClr val="4B649F">
                <a:alpha val="100000"/>
              </a:srgbClr>
            </a:solidFill>
            <a:ln w="9525">
              <a:noFill/>
            </a:ln>
          </p:spPr>
          <p:txBody>
            <a:bodyPr/>
            <a:lstStyle/>
            <a:p>
              <a:endParaRPr lang="zh-CN" altLang="en-US" sz="1800"/>
            </a:p>
          </p:txBody>
        </p:sp>
      </p:grpSp>
      <p:sp>
        <p:nvSpPr>
          <p:cNvPr id="2" name="文本框 1"/>
          <p:cNvSpPr txBox="1"/>
          <p:nvPr/>
        </p:nvSpPr>
        <p:spPr>
          <a:xfrm>
            <a:off x="377825" y="1329055"/>
            <a:ext cx="11436350" cy="3688080"/>
          </a:xfrm>
          <a:prstGeom prst="rect">
            <a:avLst/>
          </a:prstGeom>
          <a:noFill/>
        </p:spPr>
        <p:txBody>
          <a:bodyPr wrap="square" rtlCol="0" anchor="t">
            <a:noAutofit/>
          </a:bodyPr>
          <a:p>
            <a:pPr marL="285750" indent="-285750">
              <a:buFont typeface="Wingdings" panose="05000000000000000000" charset="0"/>
              <a:buChar char="Ø"/>
            </a:pPr>
            <a:r>
              <a:rPr lang="zh-CN" altLang="en-US" b="1">
                <a:latin typeface="宋体" panose="02010600030101010101" pitchFamily="2" charset="-122"/>
                <a:ea typeface="宋体" panose="02010600030101010101" pitchFamily="2" charset="-122"/>
                <a:cs typeface="宋体" panose="02010600030101010101" pitchFamily="2" charset="-122"/>
              </a:rPr>
              <a:t>未来展望</a:t>
            </a:r>
            <a:endParaRPr lang="zh-CN" altLang="en-US" b="1">
              <a:latin typeface="宋体" panose="02010600030101010101" pitchFamily="2" charset="-122"/>
              <a:ea typeface="宋体" panose="02010600030101010101" pitchFamily="2" charset="-122"/>
              <a:cs typeface="宋体" panose="02010600030101010101" pitchFamily="2" charset="-122"/>
            </a:endParaRPr>
          </a:p>
          <a:p>
            <a:r>
              <a:rPr lang="zh-CN" altLang="en-US">
                <a:latin typeface="宋体" panose="02010600030101010101" pitchFamily="2" charset="-122"/>
                <a:ea typeface="宋体" panose="02010600030101010101" pitchFamily="2" charset="-122"/>
                <a:cs typeface="宋体" panose="02010600030101010101" pitchFamily="2" charset="-122"/>
              </a:rPr>
              <a:t>个体对认知努力的内隐 / 外显成本收益计算，不仅由认知加工资源上限决定，也受内在思考动机这类人格特质约束；斯特鲁普任务（侧重认知稳定性维持）与任务转换任务（侧重认知灵活调整）依赖不同认知控制子成分，多巴胺、奖励对二者的影响存在分化，未来可进一步探究动机、认知能力、奖励三者的交互神经机制。</a:t>
            </a:r>
            <a:endParaRPr lang="zh-CN" altLang="en-US">
              <a:latin typeface="宋体" panose="02010600030101010101" pitchFamily="2" charset="-122"/>
              <a:ea typeface="宋体" panose="02010600030101010101" pitchFamily="2" charset="-122"/>
              <a:cs typeface="宋体" panose="02010600030101010101" pitchFamily="2" charset="-122"/>
            </a:endParaRPr>
          </a:p>
          <a:p>
            <a:endParaRPr lang="zh-CN" altLang="en-US">
              <a:latin typeface="宋体" panose="02010600030101010101" pitchFamily="2" charset="-122"/>
              <a:ea typeface="宋体" panose="02010600030101010101" pitchFamily="2" charset="-122"/>
              <a:cs typeface="宋体" panose="02010600030101010101" pitchFamily="2" charset="-122"/>
            </a:endParaRPr>
          </a:p>
          <a:p>
            <a:pPr marL="285750" indent="-285750">
              <a:buFont typeface="Wingdings" panose="05000000000000000000" charset="0"/>
              <a:buChar char="Ø"/>
            </a:pPr>
            <a:r>
              <a:rPr lang="zh-CN" altLang="en-US" b="1">
                <a:latin typeface="宋体" panose="02010600030101010101" pitchFamily="2" charset="-122"/>
                <a:ea typeface="宋体" panose="02010600030101010101" pitchFamily="2" charset="-122"/>
                <a:cs typeface="宋体" panose="02010600030101010101" pitchFamily="2" charset="-122"/>
              </a:rPr>
              <a:t>研究局限与展望</a:t>
            </a:r>
            <a:endParaRPr lang="zh-CN" altLang="en-US" b="1">
              <a:latin typeface="宋体" panose="02010600030101010101" pitchFamily="2" charset="-122"/>
              <a:ea typeface="宋体" panose="02010600030101010101" pitchFamily="2" charset="-122"/>
              <a:cs typeface="宋体" panose="02010600030101010101" pitchFamily="2" charset="-122"/>
            </a:endParaRPr>
          </a:p>
          <a:p>
            <a:r>
              <a:rPr lang="zh-CN" altLang="en-US">
                <a:latin typeface="宋体" panose="02010600030101010101" pitchFamily="2" charset="-122"/>
                <a:ea typeface="宋体" panose="02010600030101010101" pitchFamily="2" charset="-122"/>
                <a:cs typeface="宋体" panose="02010600030101010101" pitchFamily="2" charset="-122"/>
              </a:rPr>
              <a:t>本实验高低奖励金额差距偏小，仅能凸显个体差异，难以单独改变整体认知投入；未来可采用跨度更大的奖励梯度、更多元认知任务，进一步厘清认知容量、内在动机、外部激励如何共同调控人们是否愿意付出认知努力。</a:t>
            </a:r>
            <a:endParaRPr lang="zh-CN" altLang="en-US">
              <a:latin typeface="宋体" panose="02010600030101010101" pitchFamily="2" charset="-122"/>
              <a:ea typeface="宋体" panose="02010600030101010101" pitchFamily="2" charset="-122"/>
              <a:cs typeface="宋体" panose="02010600030101010101" pitchFamily="2" charset="-122"/>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602" name="图片 6"/>
          <p:cNvPicPr>
            <a:picLocks noChangeAspect="1"/>
          </p:cNvPicPr>
          <p:nvPr/>
        </p:nvPicPr>
        <p:blipFill>
          <a:blip r:embed="rId1"/>
          <a:stretch>
            <a:fillRect/>
          </a:stretch>
        </p:blipFill>
        <p:spPr>
          <a:xfrm>
            <a:off x="6326188" y="5200650"/>
            <a:ext cx="5865812" cy="1657350"/>
          </a:xfrm>
          <a:prstGeom prst="rect">
            <a:avLst/>
          </a:prstGeom>
          <a:noFill/>
          <a:ln w="9525">
            <a:noFill/>
          </a:ln>
        </p:spPr>
      </p:pic>
      <p:sp>
        <p:nvSpPr>
          <p:cNvPr id="25606" name="文本框 62"/>
          <p:cNvSpPr txBox="1"/>
          <p:nvPr/>
        </p:nvSpPr>
        <p:spPr>
          <a:xfrm>
            <a:off x="4327083" y="2659637"/>
            <a:ext cx="4373880" cy="1106805"/>
          </a:xfrm>
          <a:prstGeom prst="rect">
            <a:avLst/>
          </a:prstGeom>
          <a:noFill/>
          <a:ln w="9525">
            <a:noFill/>
          </a:ln>
        </p:spPr>
        <p:txBody>
          <a:bodyPr wrap="none">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FontTx/>
              <a:buNone/>
            </a:pPr>
            <a:r>
              <a:rPr lang="zh-CN" altLang="en-US" sz="6600" b="1">
                <a:solidFill>
                  <a:srgbClr val="4B649F"/>
                </a:solidFill>
              </a:rPr>
              <a:t>谢谢</a:t>
            </a:r>
            <a:r>
              <a:rPr lang="zh-CN" altLang="en-US" sz="6600" b="1">
                <a:solidFill>
                  <a:srgbClr val="4B649F"/>
                </a:solidFill>
              </a:rPr>
              <a:t>大家！</a:t>
            </a:r>
            <a:endParaRPr lang="en-US" altLang="zh-CN" sz="6600" b="1" dirty="0">
              <a:solidFill>
                <a:srgbClr val="4B649F"/>
              </a:solidFill>
            </a:endParaRPr>
          </a:p>
        </p:txBody>
      </p:sp>
      <p:sp>
        <p:nvSpPr>
          <p:cNvPr id="25611" name="文本框 1066"/>
          <p:cNvSpPr txBox="1"/>
          <p:nvPr/>
        </p:nvSpPr>
        <p:spPr>
          <a:xfrm>
            <a:off x="1766888" y="598488"/>
            <a:ext cx="2214880" cy="583565"/>
          </a:xfrm>
          <a:prstGeom prst="rect">
            <a:avLst/>
          </a:prstGeom>
          <a:noFill/>
          <a:ln w="9525">
            <a:noFill/>
          </a:ln>
        </p:spPr>
        <p:txBody>
          <a:bodyPr wrap="none">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FontTx/>
              <a:buNone/>
            </a:pPr>
            <a:r>
              <a:rPr lang="zh-CN" altLang="en-US" sz="3200" b="1" dirty="0">
                <a:solidFill>
                  <a:schemeClr val="bg1"/>
                </a:solidFill>
              </a:rPr>
              <a:t>辽宁师大学</a:t>
            </a:r>
            <a:endParaRPr lang="zh-CN" altLang="en-US" sz="3200" b="1" dirty="0">
              <a:solidFill>
                <a:schemeClr val="bg1"/>
              </a:solidFill>
            </a:endParaRPr>
          </a:p>
        </p:txBody>
      </p:sp>
      <p:sp>
        <p:nvSpPr>
          <p:cNvPr id="1068" name="矩形 1067"/>
          <p:cNvSpPr/>
          <p:nvPr/>
        </p:nvSpPr>
        <p:spPr>
          <a:xfrm>
            <a:off x="1222411" y="2414130"/>
            <a:ext cx="10028555" cy="1565275"/>
          </a:xfrm>
          <a:prstGeom prst="rect">
            <a:avLst/>
          </a:prstGeom>
          <a:noFill/>
          <a:ln w="25400">
            <a:solidFill>
              <a:srgbClr val="4B649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1">
              <a:ln>
                <a:noFill/>
              </a:ln>
              <a:solidFill>
                <a:schemeClr val="lt1"/>
              </a:solidFill>
              <a:effectLst/>
              <a:uLnTx/>
              <a:uFillTx/>
              <a:latin typeface="+mn-lt"/>
              <a:ea typeface="+mn-ea"/>
              <a:cs typeface="+mn-cs"/>
            </a:endParaRPr>
          </a:p>
        </p:txBody>
      </p:sp>
      <p:sp>
        <p:nvSpPr>
          <p:cNvPr id="1069" name="矩形 1068"/>
          <p:cNvSpPr/>
          <p:nvPr/>
        </p:nvSpPr>
        <p:spPr>
          <a:xfrm>
            <a:off x="10868061" y="3767633"/>
            <a:ext cx="476250" cy="476250"/>
          </a:xfrm>
          <a:prstGeom prst="rect">
            <a:avLst/>
          </a:prstGeom>
          <a:solidFill>
            <a:srgbClr val="4B649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1">
              <a:ln>
                <a:noFill/>
              </a:ln>
              <a:solidFill>
                <a:schemeClr val="lt1"/>
              </a:solidFill>
              <a:effectLst/>
              <a:uLnTx/>
              <a:uFillTx/>
              <a:latin typeface="+mn-lt"/>
              <a:ea typeface="+mn-ea"/>
              <a:cs typeface="+mn-cs"/>
            </a:endParaRPr>
          </a:p>
        </p:txBody>
      </p:sp>
      <p:sp>
        <p:nvSpPr>
          <p:cNvPr id="117" name="矩形 116"/>
          <p:cNvSpPr/>
          <p:nvPr/>
        </p:nvSpPr>
        <p:spPr>
          <a:xfrm>
            <a:off x="10591519" y="3979088"/>
            <a:ext cx="474663" cy="474663"/>
          </a:xfrm>
          <a:prstGeom prst="rect">
            <a:avLst/>
          </a:prstGeom>
          <a:solidFill>
            <a:srgbClr val="4B649F">
              <a:alpha val="6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1">
              <a:ln>
                <a:noFill/>
              </a:ln>
              <a:solidFill>
                <a:schemeClr val="lt1"/>
              </a:solidFill>
              <a:effectLst/>
              <a:uLnTx/>
              <a:uFillTx/>
              <a:latin typeface="+mn-lt"/>
              <a:ea typeface="+mn-ea"/>
              <a:cs typeface="+mn-cs"/>
            </a:endParaRPr>
          </a:p>
        </p:txBody>
      </p:sp>
      <p:sp>
        <p:nvSpPr>
          <p:cNvPr id="118" name="矩形 117"/>
          <p:cNvSpPr/>
          <p:nvPr/>
        </p:nvSpPr>
        <p:spPr>
          <a:xfrm>
            <a:off x="1063661" y="2260778"/>
            <a:ext cx="474663" cy="474663"/>
          </a:xfrm>
          <a:prstGeom prst="rect">
            <a:avLst/>
          </a:prstGeom>
          <a:solidFill>
            <a:srgbClr val="4B649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1">
              <a:ln>
                <a:noFill/>
              </a:ln>
              <a:solidFill>
                <a:schemeClr val="lt1"/>
              </a:solidFill>
              <a:effectLst/>
              <a:uLnTx/>
              <a:uFillTx/>
              <a:latin typeface="+mn-lt"/>
              <a:ea typeface="+mn-ea"/>
              <a:cs typeface="+mn-cs"/>
            </a:endParaRPr>
          </a:p>
        </p:txBody>
      </p:sp>
      <p:sp>
        <p:nvSpPr>
          <p:cNvPr id="119" name="矩形 118"/>
          <p:cNvSpPr/>
          <p:nvPr/>
        </p:nvSpPr>
        <p:spPr>
          <a:xfrm>
            <a:off x="1216061" y="2413178"/>
            <a:ext cx="474663" cy="474663"/>
          </a:xfrm>
          <a:prstGeom prst="rect">
            <a:avLst/>
          </a:prstGeom>
          <a:solidFill>
            <a:srgbClr val="4B649F">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1">
              <a:ln>
                <a:noFill/>
              </a:ln>
              <a:solidFill>
                <a:schemeClr val="lt1"/>
              </a:solidFill>
              <a:effectLst/>
              <a:uLnTx/>
              <a:uFillTx/>
              <a:latin typeface="+mn-lt"/>
              <a:ea typeface="+mn-ea"/>
              <a:cs typeface="+mn-cs"/>
            </a:endParaRPr>
          </a:p>
        </p:txBody>
      </p:sp>
    </p:spTree>
  </p:cSld>
  <p:clrMapOvr>
    <a:masterClrMapping/>
  </p:clrMapOvr>
</p:sld>
</file>

<file path=ppt/tags/tag1.xml><?xml version="1.0" encoding="utf-8"?>
<p:tagLst xmlns:p="http://schemas.openxmlformats.org/presentationml/2006/main">
  <p:tag name="COMMONDATA" val="eyJoZGlkIjoiODlhYjljMDMwYjNhNDdiYWQxNGY5ZTQyMDYwMDYwOTYifQ=="/>
</p:tagLst>
</file>

<file path=ppt/theme/theme1.xml><?xml version="1.0" encoding="utf-8"?>
<a:theme xmlns:a="http://schemas.openxmlformats.org/drawingml/2006/main" name="Office 主题">
  <a:themeElements>
    <a:clrScheme name="自定义 3">
      <a:dk1>
        <a:sysClr val="windowText" lastClr="000000"/>
      </a:dk1>
      <a:lt1>
        <a:sysClr val="window" lastClr="FFFFFF"/>
      </a:lt1>
      <a:dk2>
        <a:srgbClr val="212745"/>
      </a:dk2>
      <a:lt2>
        <a:srgbClr val="B4DCFA"/>
      </a:lt2>
      <a:accent1>
        <a:srgbClr val="4E67C8"/>
      </a:accent1>
      <a:accent2>
        <a:srgbClr val="5ECCF3"/>
      </a:accent2>
      <a:accent3>
        <a:srgbClr val="A7EA52"/>
      </a:accent3>
      <a:accent4>
        <a:srgbClr val="5DCEAF"/>
      </a:accent4>
      <a:accent5>
        <a:srgbClr val="FF8021"/>
      </a:accent5>
      <a:accent6>
        <a:srgbClr val="4E67C8"/>
      </a:accent6>
      <a:hlink>
        <a:srgbClr val="56C7AA"/>
      </a:hlink>
      <a:folHlink>
        <a:srgbClr val="59A8D1"/>
      </a:folHlink>
    </a:clrScheme>
    <a:fontScheme name="自定义 3">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3583</Words>
  <Application>WPS 演示</Application>
  <PresentationFormat>宽屏</PresentationFormat>
  <Paragraphs>172</Paragraphs>
  <Slides>28</Slides>
  <Notes>21</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28</vt:i4>
      </vt:variant>
    </vt:vector>
  </HeadingPairs>
  <TitlesOfParts>
    <vt:vector size="40" baseType="lpstr">
      <vt:lpstr>Arial</vt:lpstr>
      <vt:lpstr>宋体</vt:lpstr>
      <vt:lpstr>Wingdings</vt:lpstr>
      <vt:lpstr>微软雅黑</vt:lpstr>
      <vt:lpstr>Calibri</vt:lpstr>
      <vt:lpstr>Times New Roman</vt:lpstr>
      <vt:lpstr>Wingdings</vt:lpstr>
      <vt:lpstr>Arial Unicode MS</vt:lpstr>
      <vt:lpstr>Lucida Console</vt:lpstr>
      <vt:lpstr>Lucida Console</vt:lpstr>
      <vt:lpstr>MS PGothic</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Microsoft</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PC</dc:creator>
  <cp:lastModifiedBy>WPS_1630156712</cp:lastModifiedBy>
  <cp:revision>371</cp:revision>
  <dcterms:created xsi:type="dcterms:W3CDTF">2016-01-15T03:19:00Z</dcterms:created>
  <dcterms:modified xsi:type="dcterms:W3CDTF">2026-06-18T08:04:51Z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2052-12.1.0.26895</vt:lpwstr>
  </property>
  <property fmtid="{D5CDD505-2E9C-101B-9397-08002B2CF9AE}" pid="3" name="ICV">
    <vt:lpwstr>1D196842612A4B10BC4E3A014FFAEA49_13</vt:lpwstr>
  </property>
  <property fmtid="{D5CDD505-2E9C-101B-9397-08002B2CF9AE}" pid="4" name="commondata">
    <vt:lpwstr>eyJoZGlkIjoiM2FkOWEyY2QwNGMzZjdlMGNjZGE4NWZiMmQwOTE2NDkifQ==</vt:lpwstr>
  </property>
</Properties>
</file>